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drawingml.chart+xml" PartName="/ppt/charts/chart1.xml"/>
  <Override ContentType="application/vnd.openxmlformats-officedocument.presentationml.notesSlide+xml" PartName="/ppt/notesSlides/notesSlide7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8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drawingml.chart+xml" PartName="/ppt/charts/chart8.xml"/>
  <Override ContentType="application/vnd.openxmlformats-officedocument.presentationml.notesSlide+xml" PartName="/ppt/notesSlides/notesSlide12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cs typeface="+mn-cs"/>
        <a:ea typeface="+mn-ea"/>
        <a:latin typeface="+mn-lt"/>
        <a:solidFill>
          <a:schemeClr val="tx1"/>
        </a:solidFill>
      </a:defRPr>
    </a:lvl1pPr>
    <a:lvl2pPr algn="l" defTabSz="914400" eaLnBrk="1" hangingPunct="1" latinLnBrk="0" marL="457200" rtl="0">
      <a:defRPr kern="1200" sz="1800">
        <a:cs typeface="+mn-cs"/>
        <a:ea typeface="+mn-ea"/>
        <a:latin typeface="+mn-lt"/>
        <a:solidFill>
          <a:schemeClr val="tx1"/>
        </a:solidFill>
      </a:defRPr>
    </a:lvl2pPr>
    <a:lvl3pPr algn="l" defTabSz="914400" eaLnBrk="1" hangingPunct="1" latinLnBrk="0" marL="914400" rtl="0">
      <a:defRPr kern="1200" sz="1800">
        <a:cs typeface="+mn-cs"/>
        <a:ea typeface="+mn-ea"/>
        <a:latin typeface="+mn-lt"/>
        <a:solidFill>
          <a:schemeClr val="tx1"/>
        </a:solidFill>
      </a:defRPr>
    </a:lvl3pPr>
    <a:lvl4pPr algn="l" defTabSz="914400" eaLnBrk="1" hangingPunct="1" latinLnBrk="0" marL="1371600" rtl="0">
      <a:defRPr kern="1200" sz="1800">
        <a:cs typeface="+mn-cs"/>
        <a:ea typeface="+mn-ea"/>
        <a:latin typeface="+mn-lt"/>
        <a:solidFill>
          <a:schemeClr val="tx1"/>
        </a:solidFill>
      </a:defRPr>
    </a:lvl4pPr>
    <a:lvl5pPr algn="l" defTabSz="914400" eaLnBrk="1" hangingPunct="1" latinLnBrk="0" marL="1828800" rtl="0">
      <a:defRPr kern="1200" sz="1800">
        <a:cs typeface="+mn-cs"/>
        <a:ea typeface="+mn-ea"/>
        <a:latin typeface="+mn-lt"/>
        <a:solidFill>
          <a:schemeClr val="tx1"/>
        </a:solidFill>
      </a:defRPr>
    </a:lvl5pPr>
    <a:lvl6pPr algn="l" defTabSz="914400" eaLnBrk="1" hangingPunct="1" latinLnBrk="0" marL="2286000" rtl="0">
      <a:defRPr kern="1200" sz="1800">
        <a:cs typeface="+mn-cs"/>
        <a:ea typeface="+mn-ea"/>
        <a:latin typeface="+mn-lt"/>
        <a:solidFill>
          <a:schemeClr val="tx1"/>
        </a:solidFill>
      </a:defRPr>
    </a:lvl6pPr>
    <a:lvl7pPr algn="l" defTabSz="914400" eaLnBrk="1" hangingPunct="1" latinLnBrk="0" marL="2743200" rtl="0">
      <a:defRPr kern="1200" sz="1800">
        <a:cs typeface="+mn-cs"/>
        <a:ea typeface="+mn-ea"/>
        <a:latin typeface="+mn-lt"/>
        <a:solidFill>
          <a:schemeClr val="tx1"/>
        </a:solidFill>
      </a:defRPr>
    </a:lvl7pPr>
    <a:lvl8pPr algn="l" defTabSz="914400" eaLnBrk="1" hangingPunct="1" latinLnBrk="0" marL="3200400" rtl="0">
      <a:defRPr kern="1200" sz="1800">
        <a:cs typeface="+mn-cs"/>
        <a:ea typeface="+mn-ea"/>
        <a:latin typeface="+mn-lt"/>
        <a:solidFill>
          <a:schemeClr val="tx1"/>
        </a:solidFill>
      </a:defRPr>
    </a:lvl8pPr>
    <a:lvl9pPr algn="l" defTabSz="914400" eaLnBrk="1" hangingPunct="1" latinLnBrk="0" marL="3657600" rtl="0">
      <a:defRPr kern="1200" sz="1800">
        <a:cs typeface="+mn-cs"/>
        <a:ea typeface="+mn-ea"/>
        <a:latin typeface="+mn-lt"/>
        <a:solidFill>
          <a:schemeClr val="tx1"/>
        </a:solidFill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slides/slide15.xml" Type="http://schemas.openxmlformats.org/officeDocument/2006/relationships/slide"/><Relationship Id="rId17" Target="slides/slide16.xml" Type="http://schemas.openxmlformats.org/officeDocument/2006/relationships/slide"/><Relationship Id="rId18" Target="notesMasters/notesMaster1.xml" Type="http://schemas.openxmlformats.org/officeDocument/2006/relationships/notesMaster"/><Relationship Id="rId19" Target="presProps.xml" Type="http://schemas.openxmlformats.org/officeDocument/2006/relationships/presProps"/><Relationship Id="rId20" Target="viewProps.xml" Type="http://schemas.openxmlformats.org/officeDocument/2006/relationships/viewProps"/><Relationship Id="rId21" Target="theme/theme1.xml" Type="http://schemas.openxmlformats.org/officeDocument/2006/relationships/theme"/><Relationship Id="rId22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6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marL="342900" indent="-3429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marL="342900" indent="-3429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u="sng">
                <a:latin typeface="+mn-lt"/>
                <a:cs typeface="+mn-lt"/>
              </a:rPr>
              <a:t>Presenter Notes — Multi-Level Hierarchy &amp; PowerPoint Parity: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Shift+Enter behavior: serialized as &lt;a:br&gt; within same &lt;a:p&gt;, preserving bullet alignment on multi-line text.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Tab / Shift+Tab levels (0-3): hierarchical indentation matching PowerPoint desktop behavior.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0: root indent (0" margin)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1: 0.25" margin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2: 0.50" margin</a:t>
            </a:r>
          </a:p>
          <a:p>
            <a:pPr lvl="3" marL="16573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3: 0.75" margin</a:t>
            </a:r>
          </a:p>
          <a:p>
            <a:pPr marL="342900" indent="-342900">
              <a:buAutoNum type="arabicPeriod"/>
            </a:pPr>
            <a:r>
              <a:rPr>
                <a:latin typeface="+mn-lt"/>
                <a:cs typeface="+mn-lt"/>
              </a:rPr>
              <a:t>Clean slide master inheritance: when bullet is not overridden, marL/indent are not auto-injected, allowing theme inheritance.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u="sng">
                <a:latin typeface="+mn-lt"/>
                <a:cs typeface="+mn-lt"/>
              </a:rPr>
              <a:t>Presenter Notes — Native Content Placeholder: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This element is serialized as &lt;p:nvPr&gt;&lt;p:ph idx="1"/&gt;&lt;/p:nvPr&gt; — a real PowerPoint Content Placeholder.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Unlike a normal shape or floating textbox, PowerPoint desktop recognizes this as the primary content box.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Shift+Enter breaks (&lt;a:br&gt;) allow multiple sentences per bullet point with perfect visual alignment.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Levels 0 through 3 cleanly follow Master &lt;p:bodyStyle&gt; formatting.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u="sng">
                <a:latin typeface="+mn-lt"/>
                <a:cs typeface="+mn-lt"/>
              </a:rPr>
              <a:t>Presenter Notes — Non-Bulleted Hierarchical Indentation: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Demonstrates { level: N, bullet: false } which emits &lt;a:buNone/&gt; with &lt;a:pPr lvl="N"&gt;.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Enables block quotes, explanatory notes, and code blocks that indent hierarchically under bullets without rendering a dot.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Tab and Shift+Tab continue to promote and demote indentation depth seamlessly.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8.xml" Type="http://schemas.openxmlformats.org/officeDocument/2006/relationships/slide"/><Relationship Id="rId4" Target="slide11.xml" Type="http://schemas.openxmlformats.org/officeDocument/2006/relationships/slide"/><Relationship Id="rId5" Target="slide16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10.xml" Type="http://schemas.openxmlformats.org/officeDocument/2006/relationships/notesSlide"/></Relationships>
</file>

<file path=ppt/slides/_rels/slide1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4.xml" Type="http://schemas.openxmlformats.org/officeDocument/2006/relationships/slide"/><Relationship Id="rId3" Target="slide16.xml" Type="http://schemas.openxmlformats.org/officeDocument/2006/relationships/slide"/><Relationship Id="rId4" Target="../notesSlides/notesSlide11.xml" Type="http://schemas.openxmlformats.org/officeDocument/2006/relationships/notesSlide"/></Relationships>
</file>

<file path=ppt/slides/_rels/slide1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4.xml" Type="http://schemas.openxmlformats.org/officeDocument/2006/relationships/slide"/><Relationship Id="rId4" Target="../notesSlides/notesSlide1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 txBox="1"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endParaRPr/>
          </a:p>
          <a:p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endParaRPr/>
          </a:p>
          <a:p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endParaRPr/>
          </a:p>
          <a:p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/>
          <a:lstStyle/>
          <a:p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/>
          <a:lstStyle/>
          <a:p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 txBox="1"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/>
          <a:lstStyle/>
          <a:p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 txBox="1"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 txBox="1"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PowerPoint Parity Matrix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Demonstrating Shift + Enter soft breaks (&lt;a:br&gt;), Tab / Shift + Tab hierarchical levels (0-3), and master styling inheritance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PowerPoint Parity: Shift+Enter &amp; Tab Levels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Shift+Enter: soft break continuation under same bullet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Tab indent: sub-ms global route resolution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TLS 1.3 Security Envelope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Tab Tab: 0-RTT session resumption</a:t>
            </a:r>
          </a:p>
          <a:p>
            <a:pPr lvl="3" marL="16573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DDoS heuristic anomaly mitigation filter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Shift+Tab: returns to level 0 root bullet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D1 SQLite Replicas + KV Cache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Lifecycle with Soft Breaks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/>
          <a:lstStyle/>
          <a:p>
            <a:pPr marL="342900" indent="-3429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Decompresses container with fflate &amp; streams XML parts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Extract theme, slideMaster, and layout hierarchies</a:t>
            </a:r>
          </a:p>
          <a:p>
            <a:pPr marL="342900" indent="-3429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Applies shapes, tables, shadows, gradients, and formulas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Computes nominal dimensional types (EMU, pt, in)</a:t>
            </a:r>
          </a:p>
          <a:p>
            <a:pPr marL="342900" indent="-3429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Emits deterministic OpenXML parts and compiles binary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Generates zero-copy Uint8Array presentation buffer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:title"/>
          <p:cNvSpPr/>
          <p:nvPr>
            <p:ph type="title"/>
          </p:nvPr>
        </p:nvSpPr>
        <p:spPr>
          <a:xfrm>
            <a:off x="914400" y="731520"/>
            <a:ext cx="10360152" cy="73152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Content Placeholder (&lt;p:ph idx="1"/&gt;) &amp; Master Inheritance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This slide demonstrates a genuine OpenXML Content Placeholder box bound to the Slide Master body styles (&lt;p:bodyStyle&gt;) with native multi-level indentation and Shift+Enter line breaks</a:t>
            </a:r>
          </a:p>
        </p:txBody>
      </p:sp>
      <p:sp>
        <p:nvSpPr>
          <p:cNvPr id="4" name="placeholder:1"/>
          <p:cNvSpPr/>
          <p:nvPr/>
        </p:nvSpPr>
        <p:spPr>
          <a:xfrm>
            <a:off x="914400" y="1920240"/>
            <a:ext cx="10360152" cy="438912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A1: High Availability &amp; Multi-Region Fleet (Level 0 Root Bullet)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Shift+Enter: multi-line statement cleanly indented beneath the same bullet point without spawning an extra glyph.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B1: Anycast Edge Routing Layer with 300+ Global PoPs (Level 1 / 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Automatically inherits level 1 margin and hanging indent directly from the Slide Master without inline overrides.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C1: Zero-RTT TLS 1.3 Handshake &amp; Heuristic DDoS Protection (Level 2 / Tab 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P99 latency SLA: &lt; 1.2ms across all geographic regions with zero cold starts.</a:t>
            </a:r>
          </a:p>
          <a:p>
            <a:pPr lvl="3" marL="16573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D1: Kernel-level eBPF packet inspection and anomaly heuristics (Level 3 / Tab Tab Tab)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A2: Automated State &amp; Cache Synchronization (Level 0 / Shift+Tab)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Shift+Tab returns seamlessly to the root bullet level, matching PowerPoint desktop editing behavior.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B2: D1 Relational SQLite Replicas + Globally Distributed KV Cache Layer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73152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Hierarchical Block Indentation (bullet: false) &amp; Code Outlines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Demonstrating { level: N, bullet: false } (&lt;a:buNone/&gt;) — suppresses bullet glyphs while preserving precise margin indentation, soft breaks, and Tab / Shift+Tab cycling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4572000" cy="365760"/>
          </a:xfrm>
          <a:prstGeom prst="rect">
            <a:avLst/>
          </a:prstGeom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📋 Architectural Block Outlining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097280" y="2423160"/>
            <a:ext cx="4572000" cy="374904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E2E8F0"/>
                </a:solidFill>
                <a:latin typeface="+mn-lt"/>
                <a:cs typeface="+mn-lt"/>
              </a:rPr>
              <a:t>1. Primary Storage Engine (Raft Consensus)</a:t>
            </a:r>
          </a:p>
          <a:p>
            <a:pPr lvl="1">
              <a:buNone/>
            </a:pP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level: 1, bullet: false — Block explanation indented under Level 0</a:t>
            </a:r>
            <a:br>
              <a:rPr sz="105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Maintains strict linearizable consistency across all state machine nodes.</a:t>
            </a:r>
          </a:p>
          <a:p>
            <a:pPr lvl="2">
              <a:buNone/>
            </a:pPr>
            <a:r>
              <a:rPr sz="1050">
                <a:solidFill>
                  <a:srgbClr val="38BDF8"/>
                </a:solidFill>
                <a:latin typeface="+mn-lt"/>
                <a:cs typeface="+mn-lt"/>
              </a:rPr>
              <a:t>• Technical SLA: </a:t>
            </a: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P99 commit latency &lt; 0.85ms over NVMe WAL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E2E8F0"/>
                </a:solidFill>
                <a:latin typeface="+mn-lt"/>
                <a:cs typeface="+mn-lt"/>
              </a:rPr>
              <a:t>2. Multi-Region Active Replication</a:t>
            </a:r>
          </a:p>
          <a:p>
            <a:pPr lvl="1">
              <a:buNone/>
            </a:pP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level: 1, bullet: false — Block commentary (no bullet glyph)</a:t>
            </a:r>
            <a:br>
              <a:rPr sz="105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Automatic failover orchestration with zero operational downtime.</a:t>
            </a:r>
          </a:p>
          <a:p>
            <a:pPr lvl="2">
              <a:buNone/>
            </a:pPr>
            <a:r>
              <a:rPr sz="1050">
                <a:solidFill>
                  <a:srgbClr val="10B981"/>
                </a:solidFill>
                <a:latin typeface="+mn-lt"/>
                <a:cs typeface="+mn-lt"/>
              </a:rPr>
              <a:t>• Health Heartbeat: </a:t>
            </a: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Sub-50ms peer gossip discovery with eBPF probes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493776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400800" y="2011680"/>
            <a:ext cx="4572000" cy="365760"/>
          </a:xfrm>
          <a:prstGeom prst="rect">
            <a:avLst/>
          </a:prstGeom>
        </p:spPr>
        <p:txBody>
          <a:bodyPr/>
          <a:lstStyle/>
          <a:p>
            <a:r>
              <a:rPr b="1" sz="1400">
                <a:solidFill>
                  <a:srgbClr val="818CF8"/>
                </a:solidFill>
                <a:latin typeface="+mn-lt"/>
                <a:cs typeface="+mn-lt"/>
              </a:rPr>
              <a:t>💻 Code &amp; Config Indentation Simulation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400800" y="2423160"/>
            <a:ext cx="4572000" cy="374904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rPr sz="1100">
                <a:solidFill>
                  <a:srgbClr val="F43F5E"/>
                </a:solidFill>
                <a:latin typeface="Courier New"/>
                <a:cs typeface="Courier New"/>
              </a:rPr>
              <a:t>export interface </a:t>
            </a:r>
            <a:r>
              <a:rPr b="1" sz="1100">
                <a:solidFill>
                  <a:srgbClr val="38BDF8"/>
                </a:solidFill>
                <a:latin typeface="Courier New"/>
                <a:cs typeface="Courier New"/>
              </a:rPr>
              <a:t>PresentationConfig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author: </a:t>
            </a:r>
            <a:r>
              <a:rPr sz="1100">
                <a:solidFill>
                  <a:srgbClr val="10B981"/>
                </a:solidFill>
                <a:latin typeface="Courier New"/>
                <a:cs typeface="Courier New"/>
              </a:rPr>
              <a:t>'Hokkyss Core Team'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dimensions: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width: </a:t>
            </a:r>
            <a:r>
              <a:rPr sz="1100">
                <a:solidFill>
                  <a:srgbClr val="F59E0B"/>
                </a:solidFill>
                <a:latin typeface="Courier New"/>
                <a:cs typeface="Courier New"/>
              </a:rPr>
              <a:t>inches(13.33)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height: </a:t>
            </a:r>
            <a:r>
              <a:rPr sz="1100">
                <a:solidFill>
                  <a:srgbClr val="F59E0B"/>
                </a:solidFill>
                <a:latin typeface="Courier New"/>
                <a:cs typeface="Courier New"/>
              </a:rPr>
              <a:t>inches(7.5)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lvl="1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};</a:t>
            </a:r>
          </a:p>
          <a:p>
            <a:pPr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bulletFormatting: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type: </a:t>
            </a:r>
            <a:r>
              <a:rPr sz="1100">
                <a:solidFill>
                  <a:srgbClr val="10B981"/>
                </a:solidFill>
                <a:latin typeface="Courier New"/>
                <a:cs typeface="Courier New"/>
              </a:rPr>
              <a:t>'none'</a:t>
            </a:r>
            <a:r>
              <a:rPr i="1" sz="1100">
                <a:solidFill>
                  <a:srgbClr val="64748B"/>
                </a:solidFill>
                <a:latin typeface="Courier New"/>
                <a:cs typeface="Courier New"/>
              </a:rPr>
              <a:t> // &lt;a:buNone/&gt; suppresses glyph</a:t>
            </a:r>
          </a:p>
          <a:p>
            <a:pPr lvl="1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};</a:t>
            </a:r>
          </a:p>
          <a:p>
            <a:pPr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18"/>
          <p:cNvSpPr txBox="1"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5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6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9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10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13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14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15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16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</p:spTree>
  </p:cSld>
  <p:clrMapOvr>
    <a:masterClrMapping/>
  </p:clrMapOvr>
  <p:transition spd="fast">
    <p:pull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/>
          <a:lstStyle/>
          <a:p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/>
          <a:lstStyle/>
          <a:p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/>
          <a:lstStyle/>
          <a:p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/>
          <a:lstStyle/>
          <a:p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/>
          <a:lstStyle/>
          <a:p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8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F0FDF4"/>
          </a:solidFill>
          <a:ln w="13716">
            <a:solidFill>
              <a:srgbClr val="22C55E"/>
            </a:solidFill>
          </a:ln>
        </p:spPr>
        <p:txBody>
          <a:bodyPr/>
          <a:lstStyle/>
          <a:p>
            <a:r>
              <a:rPr b="1" sz="1100">
                <a:solidFill>
                  <a:srgbClr val="15803D"/>
                </a:solidFill>
                <a:latin typeface="+mn-lt"/>
                <a:cs typeface="+mn-lt"/>
              </a:rPr>
              <a:t>📑 Slide 8: Content Placeholder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Native &lt;p:ph idx="1"/&gt; &amp; Shift+Enter breaks</a:t>
            </a:r>
          </a:p>
        </p:txBody>
      </p:sp>
      <p:sp>
        <p:nvSpPr>
          <p:cNvPr id="9" name="roundRect 8">
            <a:hlinkClick r:id="rId4" tooltip="Jump directly to Slide 11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/>
          <a:lstStyle/>
          <a:p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11: OpenXML Charts &amp; Graphs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10" name="roundRect 9">
            <a:hlinkClick r:id="rId5" tooltip="Jump directly to Slide 16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/>
          <a:lstStyle/>
          <a:p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16: Engine Benchmark Matrix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/>
          <a:lstStyle/>
          <a:p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 txBox="1"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3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5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4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6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/>
          <a:lstStyle/>
          <a:p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/>
          <a:lstStyle/>
          <a:p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/>
          <a:lstStyle/>
          <a:p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 txBox="1"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/>
          <a:lstStyle/>
          <a:p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/>
          <a:lstStyle/>
          <a:p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4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16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2026-08-31T12:00:11.839Z</dcterms:created>
  <dcterms:modified xsi:type="dcterms:W3CDTF">2026-08-31T12:00:11.839Z</dcterms:modified>
</cp:coreProperties>
</file>