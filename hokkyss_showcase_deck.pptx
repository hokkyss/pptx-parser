
<file path=[Content_Types].xml><?xml version="1.0" encoding="utf-8"?>
<Types xmlns="http://schemas.openxmlformats.org/package/2006/content-types">
  <Default ContentType="application/vnd.openxmlformats-package.relationships+xml" Extension="rels"/>
  <Default ContentType="application/xml" Extension="xml"/>
  <Default ContentType="image/jpeg" Extension="jpg"/>
  <Default ContentType="image/png" Extension="png"/>
  <Override ContentType="application/vnd.openxmlformats-package.core-properties+xml" PartName="/docProps/core.xml"/>
  <Override ContentType="application/vnd.openxmlformats-officedocument.extended-properties+xml" PartName="/docProps/app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tableStyles+xml" PartName="/ppt/tableStyles.xml"/>
  <Override ContentType="application/vnd.openxmlformats-officedocument.presentationml.viewProps+xml" PartName="/ppt/viewProps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theme+xml" PartName="/ppt/theme/theme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drawingml.chart+xml" PartName="/ppt/charts/chart1.xml"/>
  <Override ContentType="application/vnd.openxmlformats-officedocument.presentationml.notesSlide+xml" PartName="/ppt/notesSlides/notesSlide5.xml"/>
  <Override ContentType="application/vnd.openxmlformats-officedocument.drawingml.chart+xml" PartName="/ppt/charts/chart2.xml"/>
  <Override ContentType="application/vnd.openxmlformats-officedocument.drawingml.chart+xml" PartName="/ppt/charts/chart3.xml"/>
  <Override ContentType="application/vnd.openxmlformats-officedocument.drawingml.chart+xml" PartName="/ppt/charts/chart4.xml"/>
  <Override ContentType="application/vnd.openxmlformats-officedocument.presentationml.notesSlide+xml" PartName="/ppt/notesSlides/notesSlide6.xml"/>
  <Override ContentType="application/vnd.openxmlformats-officedocument.drawingml.chart+xml" PartName="/ppt/charts/chart5.xml"/>
  <Override ContentType="application/vnd.openxmlformats-officedocument.drawingml.chart+xml" PartName="/ppt/charts/chart6.xml"/>
  <Override ContentType="application/vnd.openxmlformats-officedocument.drawingml.chart+xml" PartName="/ppt/charts/chart7.xml"/>
  <Override ContentType="application/vnd.openxmlformats-officedocument.presentationml.notesSlide+xml" PartName="/ppt/notesSlides/notesSlide7.xml"/>
  <Override ContentType="application/vnd.openxmlformats-officedocument.drawingml.chart+xml" PartName="/ppt/charts/chart8.xml"/>
  <Override ContentType="application/vnd.openxmlformats-officedocument.presentationml.notesSlide+xml" PartName="/ppt/notesSlides/notesSlide8.xml"/>
  <Override ContentType="application/vnd.openxmlformats-officedocument.theme+xml" PartName="/ppt/theme/theme2.xml"/>
  <Override ContentType="application/vnd.openxmlformats-officedocument.presentationml.notesMaster+xml" PartName="/ppt/notesMasters/notesMaster1.xml"/>
</Types>
</file>

<file path=_rels/.rels><?xml version="1.0" encoding="UTF-8" standalone="yes"?>
<Relationships xmlns="http://schemas.openxmlformats.org/package/2006/relationships"><Relationship Id="rId1" Target="ppt/presentation.xml" Type="http://schemas.openxmlformats.org/officeDocument/2006/relationships/officeDocument"/><Relationship Id="rId2" Target="docProps/core.xml" Type="http://schemas.openxmlformats.org/package/2006/relationships/metadata/core-properties"/><Relationship Id="rId3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</p:viewPr>
</file>

<file path=ppt/_rels/presentation.xml.rels><?xml version="1.0" encoding="UTF-8" standalone="yes"?>
<Relationships xmlns="http://schemas.openxmlformats.org/package/2006/relationships"><Relationship Id="rId1" Target="slideMasters/slideMaster1.xml" Type="http://schemas.openxmlformats.org/officeDocument/2006/relationships/slideMaster"/><Relationship Id="rId2" Target="slides/slide1.xml" Type="http://schemas.openxmlformats.org/officeDocument/2006/relationships/slide"/><Relationship Id="rId3" Target="slides/slide2.xml" Type="http://schemas.openxmlformats.org/officeDocument/2006/relationships/slide"/><Relationship Id="rId4" Target="slides/slide3.xml" Type="http://schemas.openxmlformats.org/officeDocument/2006/relationships/slide"/><Relationship Id="rId5" Target="slides/slide4.xml" Type="http://schemas.openxmlformats.org/officeDocument/2006/relationships/slide"/><Relationship Id="rId6" Target="slides/slide5.xml" Type="http://schemas.openxmlformats.org/officeDocument/2006/relationships/slide"/><Relationship Id="rId7" Target="slides/slide6.xml" Type="http://schemas.openxmlformats.org/officeDocument/2006/relationships/slide"/><Relationship Id="rId8" Target="slides/slide7.xml" Type="http://schemas.openxmlformats.org/officeDocument/2006/relationships/slide"/><Relationship Id="rId9" Target="slides/slide8.xml" Type="http://schemas.openxmlformats.org/officeDocument/2006/relationships/slide"/><Relationship Id="rId10" Target="slides/slide9.xml" Type="http://schemas.openxmlformats.org/officeDocument/2006/relationships/slide"/><Relationship Id="rId11" Target="slides/slide10.xml" Type="http://schemas.openxmlformats.org/officeDocument/2006/relationships/slide"/><Relationship Id="rId12" Target="slides/slide11.xml" Type="http://schemas.openxmlformats.org/officeDocument/2006/relationships/slide"/><Relationship Id="rId13" Target="slides/slide12.xml" Type="http://schemas.openxmlformats.org/officeDocument/2006/relationships/slide"/><Relationship Id="rId14" Target="notesMasters/notesMaster1.xml" Type="http://schemas.openxmlformats.org/officeDocument/2006/relationships/notesMaster"/><Relationship Id="rId15" Target="presProps.xml" Type="http://schemas.openxmlformats.org/officeDocument/2006/relationships/presProps"/><Relationship Id="rId16" Target="viewProps.xml" Type="http://schemas.openxmlformats.org/officeDocument/2006/relationships/viewProps"/><Relationship Id="rId17" Target="theme/theme1.xml" Type="http://schemas.openxmlformats.org/officeDocument/2006/relationships/theme"/><Relationship Id="rId18" Target="tableStyles.xml" Type="http://schemas.openxmlformats.org/officeDocument/2006/relationships/tableStyles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Throughput (MB/s)</c:v>
          </c:tx>
          <c:spPr>
            <a:solidFill>
              <a:srgbClr val="38BDF8"/>
            </a:solidFill>
          </c:spPr>
          <c:invertIfNegative val="0"/>
          <c:cat>
            <c:strLit>
              <c:ptCount val="4"/>
              <c:pt idx="0">
                <c:v>Cloudflare Workers</c:v>
              </c:pt>
              <c:pt idx="1">
                <c:v>Bun 1.1</c:v>
              </c:pt>
              <c:pt idx="2">
                <c:v>Node.js 22</c:v>
              </c:pt>
              <c:pt idx="3">
                <c:v>Deno 2.0</c:v>
              </c:pt>
            </c:strLit>
          </c:cat>
          <c:val>
            <c:numLit>
              <c:formatCode>General</c:formatCode>
              <c:ptCount val="4"/>
              <c:pt idx="0">
                <c:v>145</c:v>
              </c:pt>
              <c:pt idx="1">
                <c:v>138</c:v>
              </c:pt>
              <c:pt idx="2">
                <c:v>120</c:v>
              </c:pt>
              <c:pt idx="3">
                <c:v>110</c:v>
              </c:pt>
            </c:numLit>
          </c:val>
        </c:ser>
        <c:ser>
          <c:idx val="1"/>
          <c:order val="1"/>
          <c:tx>
            <c:v>Parse Ops/sec</c:v>
          </c:tx>
          <c:spPr>
            <a:solidFill>
              <a:srgbClr val="34D399"/>
            </a:solidFill>
          </c:spPr>
          <c:invertIfNegative val="0"/>
          <c:cat>
            <c:strLit>
              <c:ptCount val="4"/>
              <c:pt idx="0">
                <c:v>Cloudflare Workers</c:v>
              </c:pt>
              <c:pt idx="1">
                <c:v>Bun 1.1</c:v>
              </c:pt>
              <c:pt idx="2">
                <c:v>Node.js 22</c:v>
              </c:pt>
              <c:pt idx="3">
                <c:v>Deno 2.0</c:v>
              </c:pt>
            </c:strLit>
          </c:cat>
          <c:val>
            <c:numLit>
              <c:formatCode>General</c:formatCode>
              <c:ptCount val="4"/>
              <c:pt idx="0">
                <c:v>850</c:v>
              </c:pt>
              <c:pt idx="1">
                <c:v>780</c:v>
              </c:pt>
              <c:pt idx="2">
                <c:v>640</c:v>
              </c:pt>
              <c:pt idx="3">
                <c:v>610</c:v>
              </c:pt>
            </c:numLit>
          </c:val>
        </c:ser>
        <c:ser>
          <c:idx val="2"/>
          <c:order val="2"/>
          <c:tx>
            <c:v>Compression Ratio (%)</c:v>
          </c:tx>
          <c:spPr>
            <a:solidFill>
              <a:srgbClr val="A78BFA"/>
            </a:solidFill>
          </c:spPr>
          <c:invertIfNegative val="0"/>
          <c:cat>
            <c:strLit>
              <c:ptCount val="4"/>
              <c:pt idx="0">
                <c:v>Cloudflare Workers</c:v>
              </c:pt>
              <c:pt idx="1">
                <c:v>Bun 1.1</c:v>
              </c:pt>
              <c:pt idx="2">
                <c:v>Node.js 22</c:v>
              </c:pt>
              <c:pt idx="3">
                <c:v>Deno 2.0</c:v>
              </c:pt>
            </c:strLit>
          </c:cat>
          <c:val>
            <c:numLit>
              <c:formatCode>General</c:formatCode>
              <c:ptCount val="4"/>
              <c:pt idx="0">
                <c:v>78</c:v>
              </c:pt>
              <c:pt idx="1">
                <c:v>76</c:v>
              </c:pt>
              <c:pt idx="2">
                <c:v>75</c:v>
              </c:pt>
              <c:pt idx="3">
                <c:v>74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lineChart>
        <c:grouping val="standard"/>
        <c:varyColors val="0"/>
        <c:ser>
          <c:idx val="0"/>
          <c:order val="0"/>
          <c:tx>
            <c:v>@hokkyss/pptx</c:v>
          </c:tx>
          <c:spPr>
            <a:ln w="25400">
              <a:solidFill>
                <a:srgbClr val="0284C7"/>
              </a:solidFill>
            </a:ln>
          </c:spPr>
          <c:invertIfNegative val="0"/>
          <c:cat>
            <c:strLit>
              <c:ptCount val="5"/>
              <c:pt idx="0">
                <c:v>100K</c:v>
              </c:pt>
              <c:pt idx="1">
                <c:v>500K</c:v>
              </c:pt>
              <c:pt idx="2">
                <c:v>1MB</c:v>
              </c:pt>
              <c:pt idx="3">
                <c:v>5MB</c:v>
              </c:pt>
              <c:pt idx="4">
                <c:v>10MB</c:v>
              </c:pt>
            </c:strLit>
          </c:cat>
          <c:val>
            <c:numLit>
              <c:formatCode>General</c:formatCode>
              <c:ptCount val="5"/>
              <c:pt idx="0">
                <c:v>2.1</c:v>
              </c:pt>
              <c:pt idx="1">
                <c:v>4.8</c:v>
              </c:pt>
              <c:pt idx="2">
                <c:v>8.5</c:v>
              </c:pt>
              <c:pt idx="3">
                <c:v>32</c:v>
              </c:pt>
              <c:pt idx="4">
                <c:v>64.2</c:v>
              </c:pt>
            </c:numLit>
          </c:val>
          <c:smooth val="1"/>
        </c:ser>
        <c:ser>
          <c:idx val="1"/>
          <c:order val="1"/>
          <c:tx>
            <c:v>Legacy Parser</c:v>
          </c:tx>
          <c:spPr>
            <a:ln w="25400">
              <a:solidFill>
                <a:srgbClr val="EF4444"/>
              </a:solidFill>
            </a:ln>
          </c:spPr>
          <c:invertIfNegative val="0"/>
          <c:cat>
            <c:strLit>
              <c:ptCount val="5"/>
              <c:pt idx="0">
                <c:v>100K</c:v>
              </c:pt>
              <c:pt idx="1">
                <c:v>500K</c:v>
              </c:pt>
              <c:pt idx="2">
                <c:v>1MB</c:v>
              </c:pt>
              <c:pt idx="3">
                <c:v>5MB</c:v>
              </c:pt>
              <c:pt idx="4">
                <c:v>10MB</c:v>
              </c:pt>
            </c:strLit>
          </c:cat>
          <c:val>
            <c:numLit>
              <c:formatCode>General</c:formatCode>
              <c:ptCount val="5"/>
              <c:pt idx="0">
                <c:v>28</c:v>
              </c:pt>
              <c:pt idx="1">
                <c:v>65</c:v>
              </c:pt>
              <c:pt idx="2">
                <c:v>140</c:v>
              </c:pt>
              <c:pt idx="3">
                <c:v>580</c:v>
              </c:pt>
              <c:pt idx="4">
                <c:v>1250</c:v>
              </c:pt>
            </c:numLit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1111111"/>
        <c:axId val="222222222"/>
      </c:line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crossAx val="111111111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0"/>
  </c:chart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doughnutChart>
        <c:varyColors val="1"/>
        <c:ser>
          <c:idx val="0"/>
          <c:order val="0"/>
          <c:tx>
            <c:v>Runtime Deployments</c:v>
          </c:tx>
          <c:invertIfNegative val="0"/>
          <c:cat>
            <c:strLit>
              <c:ptCount val="4"/>
              <c:pt idx="0">
                <c:v>Cloudflare Workers</c:v>
              </c:pt>
              <c:pt idx="1">
                <c:v>Client Browser</c:v>
              </c:pt>
              <c:pt idx="2">
                <c:v>Edge V8</c:v>
              </c:pt>
              <c:pt idx="3">
                <c:v>Node.js</c:v>
              </c:pt>
            </c:strLit>
          </c:cat>
          <c:val>
            <c:numLit>
              <c:formatCode>General</c:formatCode>
              <c:ptCount val="4"/>
              <c:pt idx="0">
                <c:v>45</c:v>
              </c:pt>
              <c:pt idx="1">
                <c:v>30</c:v>
              </c:pt>
              <c:pt idx="2">
                <c:v>15</c:v>
              </c:pt>
              <c:pt idx="3">
                <c:v>10</c:v>
              </c:pt>
            </c:numLit>
          </c:val>
        </c:ser>
        <c:dLbls>
          <c:showLegendKey val="0"/>
          <c:showVal val="0"/>
          <c:showCatName val="0"/>
          <c:showSerName val="0"/>
          <c:showPercent val="1"/>
          <c:showBubbleSize val="0"/>
        </c:dLbls>
        <c:holeSize val="55"/>
      </c:doughnutChart>
    </c:plotArea>
    <c:legend>
      <c:legendPos val="b"/>
      <c:overlay val="0"/>
    </c:legend>
    <c:plotVisOnly val="1"/>
    <c:dispBlanksAs val="gap"/>
    <c:showDLblsOverMax val="0"/>
  </c:chart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Ratio Efficiency</c:v>
          </c:tx>
          <c:spPr>
            <a:solidFill>
              <a:srgbClr val="10B981"/>
            </a:solidFill>
          </c:spPr>
          <c:invertIfNegative val="0"/>
          <c:cat>
            <c:strLit>
              <c:ptCount val="4"/>
              <c:pt idx="0">
                <c:v>Raw XML</c:v>
              </c:pt>
              <c:pt idx="1">
                <c:v>Uncompressed ZIP</c:v>
              </c:pt>
              <c:pt idx="2">
                <c:v>Standard Deflate</c:v>
              </c:pt>
              <c:pt idx="3">
                <c:v>fflate Pure TS</c:v>
              </c:pt>
            </c:strLit>
          </c:cat>
          <c:val>
            <c:numLit>
              <c:formatCode>General</c:formatCode>
              <c:ptCount val="4"/>
              <c:pt idx="0">
                <c:v>1</c:v>
              </c:pt>
              <c:pt idx="1">
                <c:v>1.8</c:v>
              </c:pt>
              <c:pt idx="2">
                <c:v>3.4</c:v>
              </c:pt>
              <c:pt idx="3">
                <c:v>4.2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crossAx val="111111111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0"/>
  </c:chart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areaChart>
        <c:grouping val="stacked"/>
        <c:varyColors val="0"/>
        <c:ser>
          <c:idx val="0"/>
          <c:order val="0"/>
          <c:tx>
            <c:v>V8 Heap</c:v>
          </c:tx>
          <c:spPr>
            <a:solidFill>
              <a:srgbClr val="38BDF8"/>
            </a:solidFill>
          </c:spPr>
          <c:invertIfNegative val="0"/>
          <c:cat>
            <c:strLit>
              <c:ptCount val="5"/>
              <c:pt idx="0">
                <c:v>10K</c:v>
              </c:pt>
              <c:pt idx="1">
                <c:v>50K</c:v>
              </c:pt>
              <c:pt idx="2">
                <c:v>250K</c:v>
              </c:pt>
              <c:pt idx="3">
                <c:v>1M</c:v>
              </c:pt>
              <c:pt idx="4">
                <c:v>5M</c:v>
              </c:pt>
            </c:strLit>
          </c:cat>
          <c:val>
            <c:numLit>
              <c:formatCode>General</c:formatCode>
              <c:ptCount val="5"/>
              <c:pt idx="0">
                <c:v>1.2</c:v>
              </c:pt>
              <c:pt idx="1">
                <c:v>2.5</c:v>
              </c:pt>
              <c:pt idx="2">
                <c:v>5.8</c:v>
              </c:pt>
              <c:pt idx="3">
                <c:v>14.2</c:v>
              </c:pt>
              <c:pt idx="4">
                <c:v>28</c:v>
              </c:pt>
            </c:numLit>
          </c:val>
        </c:ser>
        <c:ser>
          <c:idx val="1"/>
          <c:order val="1"/>
          <c:tx>
            <c:v>AST Buffer</c:v>
          </c:tx>
          <c:spPr>
            <a:solidFill>
              <a:srgbClr val="818CF8"/>
            </a:solidFill>
          </c:spPr>
          <c:invertIfNegative val="0"/>
          <c:cat>
            <c:strLit>
              <c:ptCount val="5"/>
              <c:pt idx="0">
                <c:v>10K</c:v>
              </c:pt>
              <c:pt idx="1">
                <c:v>50K</c:v>
              </c:pt>
              <c:pt idx="2">
                <c:v>250K</c:v>
              </c:pt>
              <c:pt idx="3">
                <c:v>1M</c:v>
              </c:pt>
              <c:pt idx="4">
                <c:v>5M</c:v>
              </c:pt>
            </c:strLit>
          </c:cat>
          <c:val>
            <c:numLit>
              <c:formatCode>General</c:formatCode>
              <c:ptCount val="5"/>
              <c:pt idx="0">
                <c:v>0.8</c:v>
              </c:pt>
              <c:pt idx="1">
                <c:v>1.6</c:v>
              </c:pt>
              <c:pt idx="2">
                <c:v>3.9</c:v>
              </c:pt>
              <c:pt idx="3">
                <c:v>9.4</c:v>
              </c:pt>
              <c:pt idx="4">
                <c:v>18.5</c:v>
              </c:pt>
            </c:numLit>
          </c:val>
        </c:ser>
        <c:ser>
          <c:idx val="2"/>
          <c:order val="2"/>
          <c:tx>
            <c:v>Deflate Stream</c:v>
          </c:tx>
          <c:spPr>
            <a:solidFill>
              <a:srgbClr val="34D399"/>
            </a:solidFill>
          </c:spPr>
          <c:invertIfNegative val="0"/>
          <c:cat>
            <c:strLit>
              <c:ptCount val="5"/>
              <c:pt idx="0">
                <c:v>10K</c:v>
              </c:pt>
              <c:pt idx="1">
                <c:v>50K</c:v>
              </c:pt>
              <c:pt idx="2">
                <c:v>250K</c:v>
              </c:pt>
              <c:pt idx="3">
                <c:v>1M</c:v>
              </c:pt>
              <c:pt idx="4">
                <c:v>5M</c:v>
              </c:pt>
            </c:strLit>
          </c:cat>
          <c:val>
            <c:numLit>
              <c:formatCode>General</c:formatCode>
              <c:ptCount val="5"/>
              <c:pt idx="0">
                <c:v>0.4</c:v>
              </c:pt>
              <c:pt idx="1">
                <c:v>0.9</c:v>
              </c:pt>
              <c:pt idx="2">
                <c:v>2.1</c:v>
              </c:pt>
              <c:pt idx="3">
                <c:v>5.2</c:v>
              </c:pt>
              <c:pt idx="4">
                <c:v>10.1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1111111"/>
        <c:axId val="222222222"/>
      </c:area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pieChart>
        <c:varyColors val="1"/>
        <c:ser>
          <c:idx val="0"/>
          <c:order val="0"/>
          <c:tx>
            <c:v>Package Share</c:v>
          </c:tx>
          <c:invertIfNegative val="0"/>
          <c:dPt>
            <c:idx val="0"/>
            <c:spPr>
              <a:solidFill>
                <a:srgbClr val="38BDF8"/>
              </a:solidFill>
            </c:spPr>
          </c:dPt>
          <c:dPt>
            <c:idx val="1"/>
            <c:spPr>
              <a:solidFill>
                <a:srgbClr val="818CF8"/>
              </a:solidFill>
            </c:spPr>
          </c:dPt>
          <c:dPt>
            <c:idx val="2"/>
            <c:spPr>
              <a:solidFill>
                <a:srgbClr val="34D399"/>
              </a:solidFill>
            </c:spPr>
          </c:dPt>
          <c:dPt>
            <c:idx val="3"/>
            <c:spPr>
              <a:solidFill>
                <a:srgbClr val="FBBF24"/>
              </a:solidFill>
            </c:spPr>
          </c:dPt>
          <c:cat>
            <c:strLit>
              <c:ptCount val="4"/>
              <c:pt idx="0">
                <c:v>@pptx-reader</c:v>
              </c:pt>
              <c:pt idx="1">
                <c:v>@pptx-writer</c:v>
              </c:pt>
              <c:pt idx="2">
                <c:v>@pptx</c:v>
              </c:pt>
              <c:pt idx="3">
                <c:v>@pptx-core</c:v>
              </c:pt>
            </c:strLit>
          </c:cat>
          <c:val>
            <c:numLit>
              <c:formatCode>General</c:formatCode>
              <c:ptCount val="4"/>
              <c:pt idx="0">
                <c:v>38</c:v>
              </c:pt>
              <c:pt idx="1">
                <c:v>32</c:v>
              </c:pt>
              <c:pt idx="2">
                <c:v>18</c:v>
              </c:pt>
              <c:pt idx="3">
                <c:v>12</c:v>
              </c:pt>
            </c:numLit>
          </c:val>
        </c:ser>
        <c:dLbls>
          <c:showLegendKey val="0"/>
          <c:showVal val="0"/>
          <c:showCatName val="0"/>
          <c:showSerName val="0"/>
          <c:showPercent val="1"/>
          <c:showBubbleSize val="0"/>
        </c:dLbls>
      </c:pieChart>
    </c:plotArea>
    <c:legend>
      <c:legendPos val="b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radarChart>
        <c:radarStyle val="standard"/>
        <c:varyColors val="0"/>
        <c:ser>
          <c:idx val="0"/>
          <c:order val="0"/>
          <c:tx>
            <c:v>@hokkyss/pptx</c:v>
          </c:tx>
          <c:spPr>
            <a:ln w="25400">
              <a:solidFill>
                <a:srgbClr val="34D399"/>
              </a:solidFill>
            </a:ln>
          </c:spPr>
          <c:invertIfNegative val="0"/>
          <c:cat>
            <c:strLit>
              <c:ptCount val="6"/>
              <c:pt idx="0">
                <c:v>Throughput</c:v>
              </c:pt>
              <c:pt idx="1">
                <c:v>Type Safety</c:v>
              </c:pt>
              <c:pt idx="2">
                <c:v>Zero Deps</c:v>
              </c:pt>
              <c:pt idx="3">
                <c:v>Spec Fidelity</c:v>
              </c:pt>
              <c:pt idx="4">
                <c:v>Bundle Size</c:v>
              </c:pt>
              <c:pt idx="5">
                <c:v>Cold Start</c:v>
              </c:pt>
            </c:strLit>
          </c:cat>
          <c:val>
            <c:numLit>
              <c:formatCode>General</c:formatCode>
              <c:ptCount val="6"/>
              <c:pt idx="0">
                <c:v>98</c:v>
              </c:pt>
              <c:pt idx="1">
                <c:v>100</c:v>
              </c:pt>
              <c:pt idx="2">
                <c:v>100</c:v>
              </c:pt>
              <c:pt idx="3">
                <c:v>99</c:v>
              </c:pt>
              <c:pt idx="4">
                <c:v>95</c:v>
              </c:pt>
              <c:pt idx="5">
                <c:v>99</c:v>
              </c:pt>
            </c:numLit>
          </c:val>
        </c:ser>
        <c:ser>
          <c:idx val="1"/>
          <c:order val="1"/>
          <c:tx>
            <c:v>Competitor A</c:v>
          </c:tx>
          <c:spPr>
            <a:ln w="25400">
              <a:solidFill>
                <a:srgbClr val="F43F5E"/>
              </a:solidFill>
            </a:ln>
          </c:spPr>
          <c:invertIfNegative val="0"/>
          <c:cat>
            <c:strLit>
              <c:ptCount val="6"/>
              <c:pt idx="0">
                <c:v>Throughput</c:v>
              </c:pt>
              <c:pt idx="1">
                <c:v>Type Safety</c:v>
              </c:pt>
              <c:pt idx="2">
                <c:v>Zero Deps</c:v>
              </c:pt>
              <c:pt idx="3">
                <c:v>Spec Fidelity</c:v>
              </c:pt>
              <c:pt idx="4">
                <c:v>Bundle Size</c:v>
              </c:pt>
              <c:pt idx="5">
                <c:v>Cold Start</c:v>
              </c:pt>
            </c:strLit>
          </c:cat>
          <c:val>
            <c:numLit>
              <c:formatCode>General</c:formatCode>
              <c:ptCount val="6"/>
              <c:pt idx="0">
                <c:v>65</c:v>
              </c:pt>
              <c:pt idx="1">
                <c:v>70</c:v>
              </c:pt>
              <c:pt idx="2">
                <c:v>45</c:v>
              </c:pt>
              <c:pt idx="3">
                <c:v>80</c:v>
              </c:pt>
              <c:pt idx="4">
                <c:v>60</c:v>
              </c:pt>
              <c:pt idx="5">
                <c:v>55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1111111"/>
        <c:axId val="222222222"/>
      </c:rad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Gzip Size (KB)</c:v>
          </c:tx>
          <c:spPr>
            <a:solidFill>
              <a:srgbClr val="0284C7"/>
            </a:solidFill>
          </c:spPr>
          <c:invertIfNegative val="0"/>
          <c:cat>
            <c:strLit>
              <c:ptCount val="4"/>
              <c:pt idx="0">
                <c:v>@pptx-core</c:v>
              </c:pt>
              <c:pt idx="1">
                <c:v>@pptx-reader</c:v>
              </c:pt>
              <c:pt idx="2">
                <c:v>@pptx-writer</c:v>
              </c:pt>
              <c:pt idx="3">
                <c:v>Full SDK</c:v>
              </c:pt>
            </c:strLit>
          </c:cat>
          <c:val>
            <c:numLit>
              <c:formatCode>General</c:formatCode>
              <c:ptCount val="4"/>
              <c:pt idx="0">
                <c:v>0.44</c:v>
              </c:pt>
              <c:pt idx="1">
                <c:v>25.83</c:v>
              </c:pt>
              <c:pt idx="2">
                <c:v>31.69</c:v>
              </c:pt>
              <c:pt idx="3">
                <c:v>48.93</c:v>
              </c:pt>
            </c:numLit>
          </c:val>
        </c:ser>
        <c:ser>
          <c:idx val="1"/>
          <c:order val="1"/>
          <c:tx>
            <c:v>Brotli Size (KB)</c:v>
          </c:tx>
          <c:spPr>
            <a:solidFill>
              <a:srgbClr val="10B981"/>
            </a:solidFill>
          </c:spPr>
          <c:invertIfNegative val="0"/>
          <c:cat>
            <c:strLit>
              <c:ptCount val="4"/>
              <c:pt idx="0">
                <c:v>@pptx-core</c:v>
              </c:pt>
              <c:pt idx="1">
                <c:v>@pptx-reader</c:v>
              </c:pt>
              <c:pt idx="2">
                <c:v>@pptx-writer</c:v>
              </c:pt>
              <c:pt idx="3">
                <c:v>Full SDK</c:v>
              </c:pt>
            </c:strLit>
          </c:cat>
          <c:val>
            <c:numLit>
              <c:formatCode>General</c:formatCode>
              <c:ptCount val="4"/>
              <c:pt idx="0">
                <c:v>0.38</c:v>
              </c:pt>
              <c:pt idx="1">
                <c:v>22.89</c:v>
              </c:pt>
              <c:pt idx="2">
                <c:v>27.74</c:v>
              </c:pt>
              <c:pt idx="3">
                <c:v>43.32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94A3B8"/>
            </a:solidFill>
          </a:ln>
        </c:spPr>
        <c:txPr>
          <a:bodyPr/>
          <a:lstStyle/>
          <a:p>
            <a:pPr>
              <a:defRPr>
                <a:solidFill>
                  <a:srgbClr val="334155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94A3B8"/>
            </a:solidFill>
          </a:ln>
        </c:spPr>
        <c:txPr>
          <a:bodyPr/>
          <a:lstStyle/>
          <a:p>
            <a:pPr>
              <a:defRPr>
                <a:solidFill>
                  <a:srgbClr val="334155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>
              <a:solidFill>
                <a:srgbClr val="334155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notesMasters/_rels/notesMaster1.xml.rels><?xml version="1.0" encoding="UTF-8" standalone="yes"?>
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>
          <a:xfrm>
            <a:off x="685800" y="6858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idx="1" type="body"/>
          </p:nvPr>
        </p:nvSpPr>
        <p:spPr>
          <a:xfrm>
            <a:off x="685800" y="4114800"/>
            <a:ext cx="54864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.xml"/>
</Relationships>
</file>

<file path=ppt/notesSlides/_rels/notesSlide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6.xml"/>
</Relationships>
</file>

<file path=ppt/notesSlides/_rels/notesSlide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7.xml"/>
</Relationships>
</file>

<file path=ppt/notesSlides/_rels/notesSlide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8.xml"/>
</Relationships>
</file>

<file path=ppt/notesSlides/_rels/notesSlide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9.xml"/>
</Relationships>
</file>

<file path=ppt/notesSlides/_rels/notesSlide6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0.xml"/>
</Relationships>
</file>

<file path=ppt/notesSlides/_rels/notesSlide7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1.xml"/>
</Relationships>
</file>

<file path=ppt/notesSlides/_rels/notesSlide8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2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Opening Keynote: </a:t>
            </a:r>
            <a:r>
              <a:rPr b="1" u="sng">
                <a:latin typeface="+mn-lt"/>
                <a:cs typeface="+mn-lt"/>
              </a:rPr>
              <a:t>Modern OpenXML PPTX Parsing &amp; Compilation Engine</a:t>
            </a:r>
          </a:p>
          <a:p>
            <a:pPr algn="l" lvl="0"/>
            <a:r>
              <a:rPr>
                <a:latin typeface="+mn-lt"/>
                <a:cs typeface="+mn-lt"/>
              </a:rPr>
              <a:t>Key architectural pillars for the presenter:</a:t>
            </a:r>
          </a:p>
          <a:p>
            <a:pPr algn="l" lvl="0" marL="152400" indent="-152400">
              <a:buChar char="•"/>
            </a:pPr>
            <a:r>
              <a:rPr i="1">
                <a:latin typeface="+mn-lt"/>
                <a:cs typeface="+mn-lt"/>
              </a:rPr>
              <a:t>Emphasize </a:t>
            </a:r>
            <a:r>
              <a:rPr b="1" u="sng">
                <a:latin typeface="+mn-lt"/>
                <a:cs typeface="+mn-lt"/>
              </a:rPr>
              <a:t>100% isomorphic execution</a:t>
            </a:r>
            <a:r>
              <a:rPr>
                <a:latin typeface="+mn-lt"/>
                <a:cs typeface="+mn-lt"/>
              </a:rPr>
              <a:t> across modern edge runtimes.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Cloudflare Workers (V8 isolates with zero Node.js native bindings)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Browser environments (client-side export &amp; live preview)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Zero native dependencies: </a:t>
            </a:r>
            <a:r>
              <a:rPr strike="sngStrike">
                <a:latin typeface="+mn-lt"/>
                <a:cs typeface="+mn-lt"/>
              </a:rPr>
              <a:t>no python-pptx, no libreoffice</a:t>
            </a:r>
            <a:r>
              <a:rPr>
                <a:latin typeface="+mn-lt"/>
                <a:cs typeface="+mn-lt"/>
              </a:rPr>
              <a:t> — 100% pure TypeScript codecs.</a:t>
            </a:r>
          </a:p>
          <a:p>
            <a:pPr algn="l" lvl="0" marL="203200" indent="-203200">
              <a:buAutoNum type="arabicPeriod"/>
            </a:pPr>
            <a:r>
              <a:rPr b="1">
                <a:latin typeface="+mn-lt"/>
                <a:cs typeface="+mn-lt"/>
              </a:rPr>
              <a:t>Deep OpenXML fidelity &amp; layer composition</a:t>
            </a:r>
          </a:p>
          <a:p>
            <a:pPr algn="l" lvl="0" marL="203200" indent="-203200">
              <a:buAutoNum type="arabicPeriod"/>
            </a:pPr>
            <a:r>
              <a:rPr b="1">
                <a:latin typeface="+mn-lt"/>
                <a:cs typeface="+mn-lt"/>
              </a:rPr>
              <a:t>Strongly typed units (Inches, Points, Degrees, EMU)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Media Integration Keynote: </a:t>
            </a:r>
            <a:r>
              <a:rPr u="sng">
                <a:latin typeface="+mn-lt"/>
                <a:cs typeface="+mn-lt"/>
              </a:rPr>
              <a:t>Deterministic Binary Packaging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Binary streams are compressed with fflate without intermediate disk I/O.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All media elements automatically link to ppt/media/ and content types.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 u="sng">
                <a:latin typeface="+mn-lt"/>
                <a:cs typeface="+mn-lt"/>
              </a:rPr>
              <a:t>Presenter Notes — Multi-Level Hierarchy Details: 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Explain how levels 0 through 3 compute distinct left margins and hanging indents.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Level 0: 0.166" bullet gap, 0" margin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Level 1: 0.166" bullet gap, 0.25" margin</a:t>
            </a:r>
          </a:p>
          <a:p>
            <a:pPr algn="l" lvl="2" marL="609600" indent="-152400">
              <a:buChar char="•"/>
            </a:pPr>
            <a:r>
              <a:rPr>
                <a:latin typeface="+mn-lt"/>
                <a:cs typeface="+mn-lt"/>
              </a:rPr>
              <a:t>Level 2: 0.166" bullet gap, 0.50" margin</a:t>
            </a:r>
          </a:p>
          <a:p>
            <a:pPr algn="l" lvl="3" marL="838200" indent="-152400">
              <a:buChar char="•"/>
            </a:pPr>
            <a:r>
              <a:rPr>
                <a:latin typeface="+mn-lt"/>
                <a:cs typeface="+mn-lt"/>
              </a:rPr>
              <a:t>Level 3: 0.166" bullet gap, 0.75" margin</a:t>
            </a:r>
          </a:p>
          <a:p>
            <a:pPr algn="l" lvl="0" marL="203200" indent="-203200">
              <a:buAutoNum type="arabicPeriod"/>
            </a:pPr>
            <a:r>
              <a:rPr>
                <a:latin typeface="+mn-lt"/>
                <a:cs typeface="+mn-lt"/>
              </a:rPr>
              <a:t>Emphasize that number lists automatically use 0.222" clearance for digits.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Architecture Deep Dive: </a:t>
            </a:r>
            <a:r>
              <a:rPr u="sng">
                <a:latin typeface="+mn-lt"/>
                <a:cs typeface="+mn-lt"/>
              </a:rPr>
              <a:t>Composite Groups &amp; Vector Connectors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addGroup wraps child elements inside &lt;p:grpSp&gt; with coordinated bounding transforms.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addConnector emits &lt;p:cxnSp&gt; connecting arbitrary coordinates across slide elements.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Chart Keynote: </a:t>
            </a:r>
            <a:r>
              <a:rPr u="sng">
                <a:latin typeface="+mn-lt"/>
                <a:cs typeface="+mn-lt"/>
              </a:rPr>
              <a:t>Native OpenXML DrawingML Charts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Emits standard &lt;c:chartSpace&gt; parts under ppt/charts/chartN.xml.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Fully editable in PowerPoint without external Excel binary dependencies.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Custom series color fills and categorical string/number axis mapping.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Chart Suite Overview: </a:t>
            </a:r>
            <a:r>
              <a:rPr u="sng">
                <a:latin typeface="+mn-lt"/>
                <a:cs typeface="+mn-lt"/>
              </a:rPr>
              <a:t>Line, Doughnut &amp; Horizontal Bar Support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Smooth spline curves for continuous time-series metrics.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Customizable doughnut hole radii and automated data label percentages.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Horizontal bar orientation for ranked ordinal comparisons.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Analytical Topology Keynote: </a:t>
            </a:r>
            <a:r>
              <a:rPr u="sng">
                <a:latin typeface="+mn-lt"/>
                <a:cs typeface="+mn-lt"/>
              </a:rPr>
              <a:t>Area, Pie &amp; Radar Spider Visualizations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Stacked area topologies for cumulative resource metric trends.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Standard pie charts with automatic slice percentage data labels.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Radar / spider charts for multi-dimensional multi-series competitive scorecards.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Empirical Benchmark Keynote: </a:t>
            </a:r>
            <a:r>
              <a:rPr u="sng">
                <a:latin typeface="+mn-lt"/>
                <a:cs typeface="+mn-lt"/>
              </a:rPr>
              <a:t>Sub-Millisecond Speed &amp; Zero Native Dependencies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Single slide emits in ~0.55ms (&gt; 1,800 ops/sec).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Shape serialization exceeds 5 Million ops/sec.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Total bundle size under 49 KB gzipped with full PresentationML &amp; DrawingML engines.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theme/theme1.xml" Type="http://schemas.openxmlformats.org/officeDocument/2006/relationships/theme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fontAlgn="ctr" latinLnBrk="0" hangingPunct="1"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algn="l" defTabSz="914400" rtl="0" eaLnBrk="1" fontAlgn="ctr" latinLnBrk="0" hangingPunct="1">
        <a:spcBef>
          <a:spcPts val="200"/>
        </a:spcBef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sz="1800">
          <a:solidFill>
            <a:schemeClr val="tx1"/>
          </a:solidFill>
          <a:latin typeface="+mn-lt"/>
          <a:ea typeface="+mn-ea"/>
          <a:cs typeface="+mn-cs"/>
        </a:defRPr>
      </a:defPPr>
    </p:otherStyle>
  </p:txStyles>
</p:sldMaster>
</file>

<file path=ppt/slides/_rels/slide1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1.xml" Type="http://schemas.openxmlformats.org/officeDocument/2006/relationships/notesSlide"/></Relationships>
</file>

<file path=ppt/slides/_rels/slide2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/Relationships>
</file>

<file path=ppt/slides/_rels/slide3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/Relationships>
</file>

<file path=ppt/slides/_rels/slide4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/Relationships>
</file>

<file path=ppt/slides/_rels/slide5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/Relationships>
</file>

<file path=ppt/slides/_rels/slide6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media/showcase-hero.jpg" Type="http://schemas.openxmlformats.org/officeDocument/2006/relationships/image"/><Relationship Id="rId3" Target="../media/logo.png" Type="http://schemas.openxmlformats.org/officeDocument/2006/relationships/image"/><Relationship Id="rId4" Target="../notesSlides/notesSlide2.xml" Type="http://schemas.openxmlformats.org/officeDocument/2006/relationships/notesSlide"/></Relationships>
</file>

<file path=ppt/slides/_rels/slide7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3.xml" Type="http://schemas.openxmlformats.org/officeDocument/2006/relationships/notesSlide"/></Relationships>
</file>

<file path=ppt/slides/_rels/slide8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4.xml" Type="http://schemas.openxmlformats.org/officeDocument/2006/relationships/notesSlide"/></Relationships>
</file>

<file path=ppt/slides/_rels/slide9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1.xml" Type="http://schemas.openxmlformats.org/officeDocument/2006/relationships/chart"/><Relationship Id="rId3" Target="../notesSlides/notesSlide5.xml" Type="http://schemas.openxmlformats.org/officeDocument/2006/relationships/notesSlide"/></Relationships>
</file>

<file path=ppt/slides/_rels/slide10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2.xml" Type="http://schemas.openxmlformats.org/officeDocument/2006/relationships/chart"/><Relationship Id="rId3" Target="../charts/chart3.xml" Type="http://schemas.openxmlformats.org/officeDocument/2006/relationships/chart"/><Relationship Id="rId4" Target="../charts/chart4.xml" Type="http://schemas.openxmlformats.org/officeDocument/2006/relationships/chart"/><Relationship Id="rId5" Target="../notesSlides/notesSlide6.xml" Type="http://schemas.openxmlformats.org/officeDocument/2006/relationships/notesSlide"/></Relationships>
</file>

<file path=ppt/slides/_rels/slide11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5.xml" Type="http://schemas.openxmlformats.org/officeDocument/2006/relationships/chart"/><Relationship Id="rId3" Target="../charts/chart6.xml" Type="http://schemas.openxmlformats.org/officeDocument/2006/relationships/chart"/><Relationship Id="rId4" Target="../charts/chart7.xml" Type="http://schemas.openxmlformats.org/officeDocument/2006/relationships/chart"/><Relationship Id="rId5" Target="../notesSlides/notesSlide7.xml" Type="http://schemas.openxmlformats.org/officeDocument/2006/relationships/notesSlide"/></Relationships>
</file>

<file path=ppt/slides/_rels/slide12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8.xml" Type="http://schemas.openxmlformats.org/officeDocument/2006/relationships/chart"/><Relationship Id="rId3" Target="../notesSlides/notesSlide8.xml" Type="http://schemas.openxmlformats.org/officeDocument/2006/relationships/notesSlide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Rect 1"/>
          <p:cNvSpPr/>
          <p:nvPr/>
        </p:nvSpPr>
        <p:spPr>
          <a:xfrm>
            <a:off x="3895344" y="1371600"/>
            <a:ext cx="4389120" cy="4572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8BDF8"/>
            </a:solidFill>
          </a:ln>
          <a:effectLst>
            <a:outerShdw blurRad="182880" dist="18288" dir="5400000">
              <a:srgbClr val="38BDF8">
                <a:alpha val="35000"/>
              </a:srgbClr>
            </a:outerShdw>
          </a:effectLst>
        </p:spPr>
        <p:txBody>
          <a:bodyPr anchor="t"/>
          <a:lstStyle/>
          <a:p>
            <a:pPr algn="ctr"/>
            <a:r>
              <a:rPr b="1" sz="1000">
                <a:solidFill>
                  <a:srgbClr val="38BDF8"/>
                </a:solidFill>
                <a:latin typeface="+mn-lt"/>
                <a:cs typeface="+mn-lt"/>
              </a:rPr>
              <a:t>⚡ NEXT-GENERATION ISOMORPHIC PRESENTATION COMPILER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2103120"/>
            <a:ext cx="10360152" cy="9144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b="1" sz="4400">
                <a:solidFill>
                  <a:srgbClr val="FFFFFF"/>
                </a:solidFill>
                <a:latin typeface="+mj-lt"/>
                <a:cs typeface="+mj-lt"/>
              </a:rPr>
              <a:t>@hokkyss/pptx</a:t>
            </a:r>
          </a:p>
        </p:txBody>
      </p:sp>
      <p:sp>
        <p:nvSpPr>
          <p:cNvPr id="4" name="Text Box 3"/>
          <p:cNvSpPr/>
          <p:nvPr/>
        </p:nvSpPr>
        <p:spPr>
          <a:xfrm>
            <a:off x="914400" y="3017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sz="1600">
                <a:solidFill>
                  <a:srgbClr val="94A3B8"/>
                </a:solidFill>
                <a:latin typeface="+mn-lt"/>
                <a:cs typeface="+mn-lt"/>
              </a:rPr>
              <a:t>Isomorphic OpenXML Presentation Parser, Serializer &amp; Fluent Authoring SDK</a:t>
            </a:r>
          </a:p>
        </p:txBody>
      </p:sp>
      <p:sp>
        <p:nvSpPr>
          <p:cNvPr id="5" name="roundRect 4"/>
          <p:cNvSpPr/>
          <p:nvPr/>
        </p:nvSpPr>
        <p:spPr>
          <a:xfrm>
            <a:off x="914400" y="4389120"/>
            <a:ext cx="3291840" cy="1645920"/>
          </a:xfrm>
          <a:prstGeom prst="roundRect">
            <a:avLst/>
          </a:prstGeom>
          <a:solidFill>
            <a:srgbClr val="1E293B"/>
          </a:solidFill>
          <a:ln w="9144">
            <a:solidFill>
              <a:srgbClr val="334155"/>
            </a:solidFill>
          </a:ln>
          <a:effectLst>
            <a:outerShdw blurRad="137160" dist="45720" dir="5400000">
              <a:srgbClr val="000000">
                <a:alpha val="35000"/>
              </a:srgbClr>
            </a:outerShdw>
          </a:effectLst>
        </p:spPr>
        <p:txBody>
          <a:bodyPr anchor="t"/>
          <a:lstStyle/>
          <a:p>
            <a:pPr algn="l" lvl="0"/>
            <a:r>
              <a:rPr b="1" sz="1400">
                <a:solidFill>
                  <a:srgbClr val="38BDF8"/>
                </a:solidFill>
                <a:latin typeface="+mn-lt"/>
                <a:cs typeface="+mn-lt"/>
              </a:rPr>
              <a:t>🚀 100% Isomorphic </a:t>
            </a:r>
          </a:p>
          <a:p>
            <a:pPr algn="l" lvl="0"/>
            <a:r>
              <a:rPr sz="1200">
                <a:solidFill>
                  <a:srgbClr val="CBD5E1"/>
                </a:solidFill>
                <a:latin typeface="+mn-lt"/>
                <a:cs typeface="+mn-lt"/>
              </a:rPr>
              <a:t>Node, Browser, Cloudflare, Deno &amp; Bun</a:t>
            </a:r>
          </a:p>
        </p:txBody>
      </p:sp>
      <p:sp>
        <p:nvSpPr>
          <p:cNvPr id="6" name="roundRect 5"/>
          <p:cNvSpPr/>
          <p:nvPr/>
        </p:nvSpPr>
        <p:spPr>
          <a:xfrm>
            <a:off x="4389120" y="4389120"/>
            <a:ext cx="3291840" cy="1645920"/>
          </a:xfrm>
          <a:prstGeom prst="roundRect">
            <a:avLst/>
          </a:prstGeom>
          <a:solidFill>
            <a:srgbClr val="1E293B"/>
          </a:solidFill>
          <a:ln w="9144">
            <a:solidFill>
              <a:srgbClr val="334155"/>
            </a:solidFill>
          </a:ln>
          <a:effectLst>
            <a:outerShdw blurRad="137160" dist="45720" dir="5400000">
              <a:srgbClr val="000000">
                <a:alpha val="35000"/>
              </a:srgbClr>
            </a:outerShdw>
          </a:effectLst>
        </p:spPr>
        <p:txBody>
          <a:bodyPr anchor="t"/>
          <a:lstStyle/>
          <a:p>
            <a:pPr algn="l" lvl="0"/>
            <a:r>
              <a:rPr b="1" sz="1400">
                <a:solidFill>
                  <a:srgbClr val="38BDF8"/>
                </a:solidFill>
                <a:latin typeface="+mn-lt"/>
                <a:cs typeface="+mn-lt"/>
              </a:rPr>
              <a:t>🌲 Zero-Dependency </a:t>
            </a:r>
          </a:p>
          <a:p>
            <a:pPr algn="l" lvl="0"/>
            <a:r>
              <a:rPr sz="1200">
                <a:solidFill>
                  <a:srgbClr val="CBD5E1"/>
                </a:solidFill>
                <a:latin typeface="+mn-lt"/>
                <a:cs typeface="+mn-lt"/>
              </a:rPr>
              <a:t>Pure TypeScript codecs, zero native binaries</a:t>
            </a:r>
          </a:p>
        </p:txBody>
      </p:sp>
      <p:sp>
        <p:nvSpPr>
          <p:cNvPr id="7" name="roundRect 6"/>
          <p:cNvSpPr/>
          <p:nvPr/>
        </p:nvSpPr>
        <p:spPr>
          <a:xfrm>
            <a:off x="7863840" y="4389120"/>
            <a:ext cx="3291840" cy="1645920"/>
          </a:xfrm>
          <a:prstGeom prst="roundRect">
            <a:avLst/>
          </a:prstGeom>
          <a:solidFill>
            <a:srgbClr val="1E293B"/>
          </a:solidFill>
          <a:ln w="9144">
            <a:solidFill>
              <a:srgbClr val="334155"/>
            </a:solidFill>
          </a:ln>
          <a:effectLst>
            <a:outerShdw blurRad="137160" dist="45720" dir="5400000">
              <a:srgbClr val="000000">
                <a:alpha val="35000"/>
              </a:srgbClr>
            </a:outerShdw>
          </a:effectLst>
        </p:spPr>
        <p:txBody>
          <a:bodyPr anchor="t"/>
          <a:lstStyle/>
          <a:p>
            <a:pPr algn="l" lvl="0"/>
            <a:r>
              <a:rPr b="1" sz="1400">
                <a:solidFill>
                  <a:srgbClr val="38BDF8"/>
                </a:solidFill>
                <a:latin typeface="+mn-lt"/>
                <a:cs typeface="+mn-lt"/>
              </a:rPr>
              <a:t>🛡️ Type-Safe Units </a:t>
            </a:r>
          </a:p>
          <a:p>
            <a:pPr algn="l" lvl="0"/>
            <a:r>
              <a:rPr sz="1200">
                <a:solidFill>
                  <a:srgbClr val="CBD5E1"/>
                </a:solidFill>
                <a:latin typeface="+mn-lt"/>
                <a:cs typeface="+mn-lt"/>
              </a:rPr>
              <a:t>Branded EMU, Points, Inches &amp; Degrees</a:t>
            </a:r>
          </a:p>
        </p:txBody>
      </p:sp>
      <p:sp>
        <p:nvSpPr>
          <p:cNvPr id="8" name="Text Box 7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fade thruBlk="1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Modular Architecture &amp; Shape Presets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Four decoupled packages paired with DrawingML vector presets, outer drop shadows, and border outlines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920240"/>
            <a:ext cx="2377440" cy="1828800"/>
          </a:xfrm>
          <a:prstGeom prst="roundRect">
            <a:avLst/>
          </a:prstGeom>
          <a:solidFill>
            <a:srgbClr val="FFFFFF"/>
          </a:solidFill>
          <a:ln w="18288">
            <a:solidFill>
              <a:srgbClr val="0284C7"/>
            </a:solidFill>
          </a:ln>
          <a:effectLst>
            <a:outerShdw blurRad="137160" dist="54864" dir="5400000">
              <a:srgbClr val="0284C7">
                <a:alpha val="25000"/>
              </a:srgbClr>
            </a:outerShdw>
          </a:effectLst>
        </p:spPr>
        <p:txBody>
          <a:bodyPr anchor="t"/>
          <a:lstStyle/>
          <a:p>
            <a:pPr algn="l" lvl="0"/>
            <a:r>
              <a:rPr b="1" sz="1300">
                <a:solidFill>
                  <a:srgbClr val="0284C7"/>
                </a:solidFill>
                <a:latin typeface="+mn-lt"/>
                <a:cs typeface="+mn-lt"/>
              </a:rPr>
              <a:t>@hokkyss/pptx-core </a:t>
            </a:r>
          </a:p>
          <a:p>
            <a:pPr algn="l" lvl="0"/>
            <a:r>
              <a:rPr sz="1000">
                <a:solidFill>
                  <a:srgbClr val="475569"/>
                </a:solidFill>
                <a:latin typeface="+mn-lt"/>
                <a:cs typeface="+mn-lt"/>
              </a:rPr>
              <a:t>Universal AST definitions, branded unit types, and ECMA-376 OpenXML schema interfaces</a:t>
            </a:r>
          </a:p>
        </p:txBody>
      </p:sp>
      <p:sp>
        <p:nvSpPr>
          <p:cNvPr id="5" name="roundRect 4"/>
          <p:cNvSpPr/>
          <p:nvPr/>
        </p:nvSpPr>
        <p:spPr>
          <a:xfrm>
            <a:off x="3566160" y="1920240"/>
            <a:ext cx="2377440" cy="1828800"/>
          </a:xfrm>
          <a:prstGeom prst="roundRect">
            <a:avLst/>
          </a:prstGeom>
          <a:solidFill>
            <a:srgbClr val="6366F1"/>
          </a:solidFill>
          <a:effectLst>
            <a:outerShdw blurRad="109728" dist="36576" dir="5400000">
              <a:srgbClr val="000000">
                <a:alpha val="20000"/>
              </a:srgbClr>
            </a:outerShdw>
          </a:effectLst>
        </p:spPr>
        <p:txBody>
          <a:bodyPr anchor="t"/>
          <a:lstStyle/>
          <a:p>
            <a:pPr algn="l" lvl="0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@hokkyss/pptx-reader </a:t>
            </a:r>
          </a:p>
          <a:p>
            <a:pPr algn="l" lvl="0"/>
            <a:r>
              <a:rPr sz="1000">
                <a:solidFill>
                  <a:srgbClr val="E0E7FF"/>
                </a:solidFill>
                <a:latin typeface="+mn-lt"/>
                <a:cs typeface="+mn-lt"/>
              </a:rPr>
              <a:t>Zero-copy streaming ZIP decompression, fast XML DOM parsing, and master cascade</a:t>
            </a:r>
          </a:p>
        </p:txBody>
      </p:sp>
      <p:sp>
        <p:nvSpPr>
          <p:cNvPr id="6" name="roundRect 5"/>
          <p:cNvSpPr/>
          <p:nvPr/>
        </p:nvSpPr>
        <p:spPr>
          <a:xfrm>
            <a:off x="6217920" y="1920240"/>
            <a:ext cx="2377440" cy="1828800"/>
          </a:xfrm>
          <a:prstGeom prst="roundRect">
            <a:avLst/>
          </a:prstGeom>
          <a:solidFill>
            <a:srgbClr val="10B981"/>
          </a:solidFill>
          <a:effectLst>
            <a:outerShdw blurRad="91440" dist="36576" dir="5400000">
              <a:srgbClr val="000000">
                <a:alpha val="20000"/>
              </a:srgbClr>
            </a:outerShdw>
          </a:effectLst>
        </p:spPr>
        <p:txBody>
          <a:bodyPr anchor="t"/>
          <a:lstStyle/>
          <a:p>
            <a:pPr algn="l" lvl="0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@hokkyss/pptx-writer </a:t>
            </a:r>
          </a:p>
          <a:p>
            <a:pPr algn="l" lvl="0"/>
            <a:r>
              <a:rPr sz="1000">
                <a:solidFill>
                  <a:srgbClr val="D1FAE5"/>
                </a:solidFill>
                <a:latin typeface="+mn-lt"/>
                <a:cs typeface="+mn-lt"/>
              </a:rPr>
              <a:t>Deterministic XML serializer, DrawingML emitter, and bit-exact package bundler</a:t>
            </a:r>
          </a:p>
        </p:txBody>
      </p:sp>
      <p:sp>
        <p:nvSpPr>
          <p:cNvPr id="7" name="roundRect 6"/>
          <p:cNvSpPr/>
          <p:nvPr/>
        </p:nvSpPr>
        <p:spPr>
          <a:xfrm>
            <a:off x="8869680" y="1920240"/>
            <a:ext cx="2377440" cy="1828800"/>
          </a:xfrm>
          <a:prstGeom prst="roundRect">
            <a:avLst/>
          </a:prstGeom>
          <a:solidFill>
            <a:srgbClr val="F59E0B"/>
          </a:solidFill>
          <a:effectLst>
            <a:outerShdw blurRad="182880" dist="45720" dir="5400000">
              <a:srgbClr val="D97706">
                <a:alpha val="35000"/>
              </a:srgbClr>
            </a:outerShdw>
          </a:effectLst>
        </p:spPr>
        <p:txBody>
          <a:bodyPr anchor="t"/>
          <a:lstStyle/>
          <a:p>
            <a:pPr algn="l" lvl="0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@hokkyss/pptx </a:t>
            </a:r>
          </a:p>
          <a:p>
            <a:pPr algn="l" lvl="0"/>
            <a:r>
              <a:rPr sz="1000">
                <a:solidFill>
                  <a:srgbClr val="FEF3C7"/>
                </a:solidFill>
                <a:latin typeface="+mn-lt"/>
                <a:cs typeface="+mn-lt"/>
              </a:rPr>
              <a:t>Unified high-level fluent authoring SDK with table builders and shape helpers</a:t>
            </a:r>
          </a:p>
        </p:txBody>
      </p:sp>
      <p:sp>
        <p:nvSpPr>
          <p:cNvPr id="8" name="rightArrow 7"/>
          <p:cNvSpPr/>
          <p:nvPr/>
        </p:nvSpPr>
        <p:spPr>
          <a:xfrm>
            <a:off x="914400" y="4206240"/>
            <a:ext cx="2377440" cy="731520"/>
          </a:xfrm>
          <a:prstGeom prst="rightArrow">
            <a:avLst/>
          </a:prstGeom>
          <a:solidFill>
            <a:srgbClr val="0284C7"/>
          </a:solidFill>
        </p:spPr>
        <p:txBody>
          <a:bodyPr anchor="t"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PIPELINE</a:t>
            </a:r>
          </a:p>
        </p:txBody>
      </p:sp>
      <p:sp>
        <p:nvSpPr>
          <p:cNvPr id="9" name="diamond 8"/>
          <p:cNvSpPr/>
          <p:nvPr/>
        </p:nvSpPr>
        <p:spPr>
          <a:xfrm>
            <a:off x="3566160" y="4023360"/>
            <a:ext cx="2377440" cy="1371600"/>
          </a:xfrm>
          <a:prstGeom prst="diamond">
            <a:avLst/>
          </a:prstGeom>
          <a:solidFill>
            <a:srgbClr val="F1F5F9"/>
          </a:solidFill>
          <a:ln w="13716">
            <a:solidFill>
              <a:srgbClr val="6366F1"/>
            </a:solidFill>
          </a:ln>
        </p:spPr>
        <p:txBody>
          <a:bodyPr anchor="t"/>
          <a:lstStyle/>
          <a:p>
            <a:pPr algn="ctr"/>
            <a:r>
              <a:rPr b="1" sz="900">
                <a:solidFill>
                  <a:srgbClr val="6366F1"/>
                </a:solidFill>
                <a:latin typeface="+mn-lt"/>
                <a:cs typeface="+mn-lt"/>
              </a:rPr>
              <a:t>DECISION</a:t>
            </a:r>
          </a:p>
        </p:txBody>
      </p:sp>
      <p:sp>
        <p:nvSpPr>
          <p:cNvPr id="10" name="wedgeRoundRect 9"/>
          <p:cNvSpPr/>
          <p:nvPr/>
        </p:nvSpPr>
        <p:spPr>
          <a:xfrm>
            <a:off x="6217920" y="4023360"/>
            <a:ext cx="2377440" cy="1371600"/>
          </a:xfrm>
          <a:prstGeom prst="wedgeRoundRectCallout">
            <a:avLst/>
          </a:prstGeom>
          <a:solidFill>
            <a:srgbClr val="F8FAFC"/>
          </a:solidFill>
          <a:ln w="13716">
            <a:solidFill>
              <a:srgbClr val="0284C7"/>
            </a:solidFill>
            <a:prstDash val="dash"/>
          </a:ln>
        </p:spPr>
        <p:txBody>
          <a:bodyPr anchor="t"/>
          <a:lstStyle/>
          <a:p>
            <a:pPr algn="ctr"/>
            <a:r>
              <a:rPr sz="1100">
                <a:solidFill>
                  <a:srgbClr val="0284C7"/>
                </a:solidFill>
                <a:latin typeface="+mn-lt"/>
                <a:cs typeface="+mn-lt"/>
              </a:rPr>
              <a:t>Cloud Native Isolate</a:t>
            </a:r>
          </a:p>
        </p:txBody>
      </p:sp>
      <p:sp>
        <p:nvSpPr>
          <p:cNvPr id="11" name="cylinder 10"/>
          <p:cNvSpPr/>
          <p:nvPr/>
        </p:nvSpPr>
        <p:spPr>
          <a:xfrm>
            <a:off x="8869680" y="4023360"/>
            <a:ext cx="2377440" cy="1371600"/>
          </a:xfrm>
          <a:prstGeom prst="can">
            <a:avLst/>
          </a:prstGeom>
          <a:solidFill>
            <a:srgbClr val="F1F5F9"/>
          </a:solidFill>
          <a:ln w="13716">
            <a:solidFill>
              <a:srgbClr val="10B981"/>
            </a:solidFill>
          </a:ln>
        </p:spPr>
        <p:txBody>
          <a:bodyPr anchor="t"/>
          <a:lstStyle/>
          <a:p>
            <a:pPr algn="ctr"/>
            <a:r>
              <a:rPr b="1" sz="1100">
                <a:solidFill>
                  <a:srgbClr val="10B981"/>
                </a:solidFill>
                <a:latin typeface="+mn-lt"/>
                <a:cs typeface="+mn-lt"/>
              </a:rPr>
              <a:t>R2 Blob Store</a:t>
            </a:r>
          </a:p>
        </p:txBody>
      </p:sp>
      <p:sp>
        <p:nvSpPr>
          <p:cNvPr id="12" name="Text Box 11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wipe dir="r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Runtime Performance &amp; Memory Benchmarks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100-slide roundtrip parse &amp; compilation benchmarks across modern JavaScript engines</a:t>
            </a:r>
          </a:p>
        </p:txBody>
      </p:sp>
      <p:sp>
        <p:nvSpPr>
          <p:cNvPr id="5" name="Text Box 4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920240"/>
          <a:ext cx="10360152" cy="2743200"/>
        </p:xfrm>
        <a:graphic>
          <a:graphicData uri="http://schemas.openxmlformats.org/drawingml/2006/table">
            <a:tbl>
              <a:tblPr/>
              <a:tblGrid>
                <a:gridCol w="3200400"/>
                <a:gridCol w="1828800"/>
                <a:gridCol w="1828800"/>
                <a:gridCol w="1645920"/>
                <a:gridCol w="1856232"/>
              </a:tblGrid>
              <a:tr h="502920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Target Runtime / Engine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Parse Time (100 Slides)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Compile Time (100 Slides)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Memory Ceiling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Edge Compatibility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Node.js 22 LTS (V8)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14.2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18.5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12 MB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Native Fast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Cloudflare Workers (Edge)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16.8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21.0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8 MB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Native Isolate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Web Browser (Chromium / Safari)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19.4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24.5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15 MB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Client-Side Export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Bun 1.2+ / Deno 2+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11.5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15.2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10 MB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Full Support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Legacy python-pptx / COM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340.0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480.0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&gt; 180 MB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❌ Server Native Only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Type-Safe Nominal Units &amp; Coordinate System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463040"/>
            <a:ext cx="10360152" cy="411480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 Nominal Units &amp; Compile-Time Safety</a:t>
            </a:r>
          </a:p>
          <a:p>
            <a:pPr algn="l" lvl="1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 Zero-runtime-overhead branded types for dimensional coordinates</a:t>
            </a:r>
          </a:p>
          <a:p>
            <a:pPr algn="l" lvl="2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1.1.1 English Metric Units (EMU): </a:t>
            </a:r>
            <a:r>
              <a:rPr b="1" sz="1200">
                <a:solidFill>
                  <a:srgbClr val="38BDF8"/>
                </a:solidFill>
                <a:latin typeface="+mn-lt"/>
                <a:cs typeface="+mn-lt"/>
              </a:rPr>
              <a:t>1 inch = 914,400 EMU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— </a:t>
            </a:r>
            <a:r>
              <a:rPr b="1" sz="1200">
                <a:solidFill>
                  <a:srgbClr val="10B981"/>
                </a:solidFill>
                <a:latin typeface="+mn-lt"/>
                <a:cs typeface="+mn-lt"/>
              </a:rPr>
              <a:t>1 pt = 12,700 EMU</a:t>
            </a:r>
          </a:p>
          <a:p>
            <a:pPr algn="l" lvl="2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1.1.2 Rotational Angles: </a:t>
            </a:r>
            <a:r>
              <a:rPr b="1" sz="1200">
                <a:solidFill>
                  <a:srgbClr val="F59E0B"/>
                </a:solidFill>
                <a:latin typeface="+mn-lt"/>
                <a:cs typeface="+mn-lt"/>
              </a:rPr>
              <a:t>degrees(θ)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compiles to </a:t>
            </a:r>
            <a:r>
              <a:rPr b="1" sz="1200">
                <a:solidFill>
                  <a:srgbClr val="F59E0B"/>
                </a:solidFill>
                <a:latin typeface="+mn-lt"/>
                <a:cs typeface="+mn-lt"/>
              </a:rPr>
              <a:t>θ × 60,000 EmuDegrees</a:t>
            </a:r>
          </a:p>
          <a:p>
            <a:pPr algn="l" lvl="2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1.1.3 Maximum memory ceiling: </a:t>
            </a:r>
            <a:r>
              <a:rPr b="1" sz="1200">
                <a:solidFill>
                  <a:srgbClr val="F59E0B"/>
                </a:solidFill>
                <a:latin typeface="+mn-lt"/>
                <a:cs typeface="+mn-lt"/>
              </a:rPr>
              <a:t>2</a:t>
            </a:r>
            <a:r>
              <a:rPr b="1" baseline="30000" sz="1200">
                <a:solidFill>
                  <a:srgbClr val="F59E0B"/>
                </a:solidFill>
                <a:latin typeface="+mn-lt"/>
                <a:cs typeface="+mn-lt"/>
              </a:rPr>
              <a:t>32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bytes (4 GB buffer limit)</a:t>
            </a:r>
          </a:p>
          <a:p>
            <a:pPr algn="l" lvl="0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2. High-Performance Text Run Modifiers</a:t>
            </a:r>
          </a:p>
          <a:p>
            <a:pPr algn="l" lvl="1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2.1 Rich inline text runs with mixed typographic styles</a:t>
            </a:r>
          </a:p>
          <a:p>
            <a:pPr algn="l" lvl="2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Formatting: </a:t>
            </a:r>
            <a:r>
              <a:rPr b="1" sz="1200">
                <a:solidFill>
                  <a:srgbClr val="E2E8F0"/>
                </a:solidFill>
                <a:latin typeface="+mn-lt"/>
                <a:cs typeface="+mn-lt"/>
              </a:rPr>
              <a:t>Bold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i="1" sz="1200">
                <a:solidFill>
                  <a:srgbClr val="E2E8F0"/>
                </a:solidFill>
                <a:latin typeface="+mn-lt"/>
                <a:cs typeface="+mn-lt"/>
              </a:rPr>
              <a:t>Italic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u="sng" sz="1200">
                <a:solidFill>
                  <a:srgbClr val="E2E8F0"/>
                </a:solidFill>
                <a:latin typeface="+mn-lt"/>
                <a:cs typeface="+mn-lt"/>
              </a:rPr>
              <a:t>Underlined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strike="sngStrike" sz="1200">
                <a:solidFill>
                  <a:srgbClr val="E2E8F0"/>
                </a:solidFill>
                <a:latin typeface="+mn-lt"/>
                <a:cs typeface="+mn-lt"/>
              </a:rPr>
              <a:t>Strikethrough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b="1" sz="1200">
                <a:solidFill>
                  <a:srgbClr val="6366F1"/>
                </a:solidFill>
                <a:latin typeface="+mn-lt"/>
                <a:cs typeface="+mn-lt"/>
              </a:rPr>
              <a:t>Colored #6366F1</a:t>
            </a:r>
          </a:p>
        </p:txBody>
      </p:sp>
      <p:sp>
        <p:nvSpPr>
          <p:cNvPr id="4" name="Text Box 3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split dir="in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Three-Tier Decoupled Platform Architecture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Ingress routing, stateless isolate compilation, and distributed object persistence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roundRect 4"/>
          <p:cNvSpPr/>
          <p:nvPr/>
        </p:nvSpPr>
        <p:spPr>
          <a:xfrm>
            <a:off x="1188720" y="2103120"/>
            <a:ext cx="1828800" cy="320040"/>
          </a:xfrm>
          <a:prstGeom prst="roundRect">
            <a:avLst/>
          </a:prstGeom>
          <a:solidFill>
            <a:srgbClr val="F8FAFC"/>
          </a:solidFill>
          <a:ln w="9144">
            <a:solidFill>
              <a:srgbClr val="0284C7"/>
            </a:solidFill>
          </a:ln>
        </p:spPr>
        <p:txBody>
          <a:bodyPr anchor="t"/>
          <a:lstStyle/>
          <a:p>
            <a:pPr algn="ctr"/>
            <a:r>
              <a:rPr b="1" sz="900">
                <a:solidFill>
                  <a:srgbClr val="0284C7"/>
                </a:solidFill>
                <a:latin typeface="+mn-lt"/>
                <a:cs typeface="+mn-lt"/>
              </a:rPr>
              <a:t>TIER 1 • INGRESS</a:t>
            </a:r>
          </a:p>
        </p:txBody>
      </p:sp>
      <p:sp>
        <p:nvSpPr>
          <p:cNvPr id="6" name="Text Box 5"/>
          <p:cNvSpPr/>
          <p:nvPr/>
        </p:nvSpPr>
        <p:spPr>
          <a:xfrm>
            <a:off x="1188720" y="2560320"/>
            <a:ext cx="2743200" cy="45720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600">
                <a:solidFill>
                  <a:srgbClr val="0F172A"/>
                </a:solidFill>
                <a:latin typeface="+mn-lt"/>
                <a:cs typeface="+mn-lt"/>
              </a:rPr>
              <a:t>Global Edge Router</a:t>
            </a:r>
          </a:p>
        </p:txBody>
      </p:sp>
      <p:sp>
        <p:nvSpPr>
          <p:cNvPr id="7" name="Text Box 6"/>
          <p:cNvSpPr/>
          <p:nvPr/>
        </p:nvSpPr>
        <p:spPr>
          <a:xfrm>
            <a:off x="1188720" y="3108960"/>
            <a:ext cx="2743200" cy="228600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Anycast DNS routing (330+ locations)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TLS 1.3 0-RTT termination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DDoS protection &amp; Rate limiting</a:t>
            </a:r>
          </a:p>
        </p:txBody>
      </p:sp>
      <p:sp>
        <p:nvSpPr>
          <p:cNvPr id="8" name="roundRect 7"/>
          <p:cNvSpPr/>
          <p:nvPr/>
        </p:nvSpPr>
        <p:spPr>
          <a:xfrm>
            <a:off x="438912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roundRect 8"/>
          <p:cNvSpPr/>
          <p:nvPr/>
        </p:nvSpPr>
        <p:spPr>
          <a:xfrm>
            <a:off x="4663440" y="2103120"/>
            <a:ext cx="1828800" cy="320040"/>
          </a:xfrm>
          <a:prstGeom prst="roundRect">
            <a:avLst/>
          </a:prstGeom>
          <a:solidFill>
            <a:srgbClr val="F8FAFC"/>
          </a:solidFill>
          <a:ln w="9144">
            <a:solidFill>
              <a:srgbClr val="6366F1"/>
            </a:solidFill>
          </a:ln>
        </p:spPr>
        <p:txBody>
          <a:bodyPr anchor="t"/>
          <a:lstStyle/>
          <a:p>
            <a:pPr algn="ctr"/>
            <a:r>
              <a:rPr b="1" sz="900">
                <a:solidFill>
                  <a:srgbClr val="6366F1"/>
                </a:solidFill>
                <a:latin typeface="+mn-lt"/>
                <a:cs typeface="+mn-lt"/>
              </a:rPr>
              <a:t>TIER 2 • COMPUTE</a:t>
            </a:r>
          </a:p>
        </p:txBody>
      </p:sp>
      <p:sp>
        <p:nvSpPr>
          <p:cNvPr id="10" name="Text Box 9"/>
          <p:cNvSpPr/>
          <p:nvPr/>
        </p:nvSpPr>
        <p:spPr>
          <a:xfrm>
            <a:off x="4663440" y="2560320"/>
            <a:ext cx="2743200" cy="45720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600">
                <a:solidFill>
                  <a:srgbClr val="0F172A"/>
                </a:solidFill>
                <a:latin typeface="+mn-lt"/>
                <a:cs typeface="+mn-lt"/>
              </a:rPr>
              <a:t>Stateless Worker Fleet</a:t>
            </a:r>
          </a:p>
        </p:txBody>
      </p:sp>
      <p:sp>
        <p:nvSpPr>
          <p:cNvPr id="11" name="Text Box 10"/>
          <p:cNvSpPr/>
          <p:nvPr/>
        </p:nvSpPr>
        <p:spPr>
          <a:xfrm>
            <a:off x="4663440" y="3108960"/>
            <a:ext cx="2743200" cy="228600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V8 Isolate sandboxed execution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Instant &lt;5ms cold starts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Streaming SSR &amp; WebSockets</a:t>
            </a:r>
          </a:p>
        </p:txBody>
      </p:sp>
      <p:sp>
        <p:nvSpPr>
          <p:cNvPr id="12" name="roundRect 11"/>
          <p:cNvSpPr/>
          <p:nvPr/>
        </p:nvSpPr>
        <p:spPr>
          <a:xfrm>
            <a:off x="786384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roundRect 12"/>
          <p:cNvSpPr/>
          <p:nvPr/>
        </p:nvSpPr>
        <p:spPr>
          <a:xfrm>
            <a:off x="8138160" y="2103120"/>
            <a:ext cx="1828800" cy="320040"/>
          </a:xfrm>
          <a:prstGeom prst="roundRect">
            <a:avLst/>
          </a:prstGeom>
          <a:solidFill>
            <a:srgbClr val="F8FAFC"/>
          </a:solidFill>
          <a:ln w="9144">
            <a:solidFill>
              <a:srgbClr val="10B981"/>
            </a:solidFill>
          </a:ln>
        </p:spPr>
        <p:txBody>
          <a:bodyPr anchor="t"/>
          <a:lstStyle/>
          <a:p>
            <a:pPr algn="ctr"/>
            <a:r>
              <a:rPr b="1" sz="900">
                <a:solidFill>
                  <a:srgbClr val="10B981"/>
                </a:solidFill>
                <a:latin typeface="+mn-lt"/>
                <a:cs typeface="+mn-lt"/>
              </a:rPr>
              <a:t>TIER 3 • STORAGE</a:t>
            </a:r>
          </a:p>
        </p:txBody>
      </p:sp>
      <p:sp>
        <p:nvSpPr>
          <p:cNvPr id="14" name="Text Box 13"/>
          <p:cNvSpPr/>
          <p:nvPr/>
        </p:nvSpPr>
        <p:spPr>
          <a:xfrm>
            <a:off x="8138160" y="2560320"/>
            <a:ext cx="2743200" cy="45720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600">
                <a:solidFill>
                  <a:srgbClr val="0F172A"/>
                </a:solidFill>
                <a:latin typeface="+mn-lt"/>
                <a:cs typeface="+mn-lt"/>
              </a:rPr>
              <a:t>Distributed State Store</a:t>
            </a:r>
          </a:p>
        </p:txBody>
      </p:sp>
      <p:sp>
        <p:nvSpPr>
          <p:cNvPr id="15" name="Text Box 14"/>
          <p:cNvSpPr/>
          <p:nvPr/>
        </p:nvSpPr>
        <p:spPr>
          <a:xfrm>
            <a:off x="8138160" y="3108960"/>
            <a:ext cx="2743200" cy="228600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Globally replicated R2 object store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Low-latency D1 serverless SQLite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Workers KV key-value cache</a:t>
            </a:r>
          </a:p>
        </p:txBody>
      </p:sp>
      <p:sp>
        <p:nvSpPr>
          <p:cNvPr id="16" name="Text Box 15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cover dir="l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Isomorphic Media &amp; High-Fidelity Image Embedding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Embedded raster graphics (PNG, JPEG), transparent alpha channels, aspect ratio scaling, and card layouts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493776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Box 5"/>
          <p:cNvSpPr/>
          <p:nvPr/>
        </p:nvSpPr>
        <p:spPr>
          <a:xfrm>
            <a:off x="1188720" y="4754880"/>
            <a:ext cx="4389120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500">
                <a:solidFill>
                  <a:srgbClr val="0F172A"/>
                </a:solidFill>
                <a:latin typeface="+mn-lt"/>
                <a:cs typeface="+mn-lt"/>
              </a:rPr>
              <a:t>Rich Visual Asset Integration</a:t>
            </a:r>
          </a:p>
        </p:txBody>
      </p:sp>
      <p:sp>
        <p:nvSpPr>
          <p:cNvPr id="7" name="Text Box 6"/>
          <p:cNvSpPr/>
          <p:nvPr/>
        </p:nvSpPr>
        <p:spPr>
          <a:xfrm>
            <a:off x="1188720" y="5120640"/>
            <a:ext cx="4389120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100">
                <a:solidFill>
                  <a:srgbClr val="64748B"/>
                </a:solidFill>
                <a:latin typeface="+mn-lt"/>
                <a:cs typeface="+mn-lt"/>
              </a:rPr>
              <a:t>Automatic MIME-type detection, relationship mapping, and lossless OpenXML zip packaging.</a:t>
            </a:r>
          </a:p>
        </p:txBody>
      </p:sp>
      <p:sp>
        <p:nvSpPr>
          <p:cNvPr id="8" name="roundRect 7"/>
          <p:cNvSpPr/>
          <p:nvPr/>
        </p:nvSpPr>
        <p:spPr>
          <a:xfrm>
            <a:off x="6336792" y="1828800"/>
            <a:ext cx="493776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roundRect 8"/>
          <p:cNvSpPr/>
          <p:nvPr/>
        </p:nvSpPr>
        <p:spPr>
          <a:xfrm>
            <a:off x="6611112" y="2103120"/>
            <a:ext cx="4389120" cy="1097280"/>
          </a:xfrm>
          <a:prstGeom prst="roundRect">
            <a:avLst/>
          </a:prstGeom>
          <a:solidFill>
            <a:srgbClr val="0F172A"/>
          </a:solidFill>
        </p:spPr>
        <p:txBody>
          <a:bodyPr/>
          <a:lstStyle/>
          <a:p>
            <a:endParaRPr/>
          </a:p>
        </p:txBody>
      </p:sp>
      <p:sp>
        <p:nvSpPr>
          <p:cNvPr id="11" name="Text Box 10"/>
          <p:cNvSpPr/>
          <p:nvPr/>
        </p:nvSpPr>
        <p:spPr>
          <a:xfrm>
            <a:off x="6611112" y="3383280"/>
            <a:ext cx="4389120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500">
                <a:solidFill>
                  <a:srgbClr val="0F172A"/>
                </a:solidFill>
                <a:latin typeface="+mn-lt"/>
                <a:cs typeface="+mn-lt"/>
              </a:rPr>
              <a:t>Supported Image Codecs &amp; Features</a:t>
            </a:r>
          </a:p>
        </p:txBody>
      </p:sp>
      <p:sp>
        <p:nvSpPr>
          <p:cNvPr id="12" name="Text Box 11"/>
          <p:cNvSpPr/>
          <p:nvPr/>
        </p:nvSpPr>
        <p:spPr>
          <a:xfrm>
            <a:off x="6611112" y="3840480"/>
            <a:ext cx="4389120" cy="2011680"/>
          </a:xfrm>
          <a:prstGeom prst="rect">
            <a:avLst/>
          </a:prstGeom>
        </p:spPr>
        <p:txBody>
          <a:bodyPr anchor="t"/>
          <a:lstStyle/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PNG with 32-bit RGBA alpha transparency</a:t>
            </a:r>
          </a:p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JPEG / JPG progressive and baseline encoding</a:t>
            </a:r>
          </a:p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Zero-copy ArrayBuffer &amp; Uint8Array input</a:t>
            </a:r>
          </a:p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Placeholder resolution into slide layout picture frames</a:t>
            </a:r>
          </a:p>
        </p:txBody>
      </p:sp>
      <p:sp>
        <p:nvSpPr>
          <p:cNvPr id="13" name="Text Box 12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103120"/>
            <a:ext cx="4389120" cy="246888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1272" y="2286000"/>
            <a:ext cx="1828800" cy="73152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Complex Multi-Level Outlining &amp; Hierarchy Matrix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Demonstrating 4 levels of hierarchical indentation, mixed bullet glyphs, auto-numbering, and paragraph spacing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4937760" cy="42062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8BDF8"/>
            </a:solidFill>
          </a:ln>
          <a:effectLst>
            <a:outerShdw blurRad="182880" dist="4572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1188720" y="2011680"/>
            <a:ext cx="4389120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500">
                <a:solidFill>
                  <a:srgbClr val="38BDF8"/>
                </a:solidFill>
                <a:latin typeface="+mn-lt"/>
                <a:cs typeface="+mn-lt"/>
              </a:rPr>
              <a:t>System Topology Outlining</a:t>
            </a:r>
          </a:p>
        </p:txBody>
      </p:sp>
      <p:sp>
        <p:nvSpPr>
          <p:cNvPr id="6" name="Text Box 5"/>
          <p:cNvSpPr/>
          <p:nvPr/>
        </p:nvSpPr>
        <p:spPr>
          <a:xfrm>
            <a:off x="1188720" y="2377440"/>
            <a:ext cx="4389120" cy="3474720"/>
          </a:xfrm>
          <a:prstGeom prst="rect">
            <a:avLst/>
          </a:prstGeom>
        </p:spPr>
        <p:txBody>
          <a:bodyPr anchor="t"/>
          <a:lstStyle/>
          <a:p>
            <a:pPr algn="l" lvl="0" marL="1524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Core Infrastructure Fleet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Edge Routing Layer (Anycast DNS)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TLS 1.3 Handshake Termination</a:t>
            </a:r>
          </a:p>
          <a:p>
            <a:pPr algn="l" lvl="3" marL="8382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Zero-RTT session resumption</a:t>
            </a:r>
          </a:p>
          <a:p>
            <a:pPr algn="l" lvl="3" marL="8382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DDoS mitigation heuristic filters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Geo-Distributed Compute Mesh</a:t>
            </a:r>
          </a:p>
          <a:p>
            <a:pPr algn="l" lvl="3" marL="8382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Sub-millisecond V8 isolate provisioning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Global State &amp; Cache Synchronization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D1 Relational Database SQLite Replicas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KV Cache (Read-heavy eventual consistency)</a:t>
            </a:r>
          </a:p>
        </p:txBody>
      </p:sp>
      <p:sp>
        <p:nvSpPr>
          <p:cNvPr id="7" name="roundRect 6"/>
          <p:cNvSpPr/>
          <p:nvPr/>
        </p:nvSpPr>
        <p:spPr>
          <a:xfrm>
            <a:off x="6336792" y="1828800"/>
            <a:ext cx="4937760" cy="42062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6366F1"/>
            </a:solidFill>
          </a:ln>
          <a:effectLst>
            <a:outerShdw blurRad="182880" dist="4572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/>
          <p:nvPr/>
        </p:nvSpPr>
        <p:spPr>
          <a:xfrm>
            <a:off x="6611112" y="2011680"/>
            <a:ext cx="4389120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500">
                <a:solidFill>
                  <a:srgbClr val="818CF8"/>
                </a:solidFill>
                <a:latin typeface="+mn-lt"/>
                <a:cs typeface="+mn-lt"/>
              </a:rPr>
              <a:t>Compilation Pipeline Lifecycle</a:t>
            </a:r>
          </a:p>
        </p:txBody>
      </p:sp>
      <p:sp>
        <p:nvSpPr>
          <p:cNvPr id="9" name="Text Box 8"/>
          <p:cNvSpPr/>
          <p:nvPr/>
        </p:nvSpPr>
        <p:spPr>
          <a:xfrm>
            <a:off x="6611112" y="2377440"/>
            <a:ext cx="4389120" cy="3474720"/>
          </a:xfrm>
          <a:prstGeom prst="rect">
            <a:avLst/>
          </a:prstGeom>
        </p:spPr>
        <p:txBody>
          <a:bodyPr anchor="t"/>
          <a:lstStyle/>
          <a:p>
            <a:pPr algn="l" lvl="0" marL="203200" indent="-203200">
              <a:buAutoNum type="arabicPeriod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Phase 1: Ingestion &amp; Parsing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Decompress OpenXML container with fflate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Stream XML parts directly to DOM parser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Extract theme, slideMaster, and slideLayouts</a:t>
            </a:r>
          </a:p>
          <a:p>
            <a:pPr algn="l" lvl="0" marL="203200" indent="-203200">
              <a:buAutoNum type="arabicPeriod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Phase 2: AST Mutation &amp; Modeling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Apply shape geometries, tables, and drop shadows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Calculate type-safe EMU, points, and inches</a:t>
            </a:r>
          </a:p>
          <a:p>
            <a:pPr algn="l" lvl="0" marL="203200" indent="-203200">
              <a:buAutoNum type="arabicPeriod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Phase 3: Serialization &amp; Packaging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Emit deterministic XML parts and relationship files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Generate zero-copy ArrayBuffer presentation binary</a:t>
            </a:r>
          </a:p>
        </p:txBody>
      </p:sp>
      <p:sp>
        <p:nvSpPr>
          <p:cNvPr id="10" name="Text Box 9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push dir="l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Flow Connectors &amp; Composite Group Architecture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Demonstrating vector connectors (solid, dashed), coordinates, and composite group containers (addGroup)</a:t>
            </a:r>
          </a:p>
        </p:txBody>
      </p:sp>
      <p:sp>
        <p:nvSpPr>
          <p:cNvPr id="19" name="Text Box 9"/>
          <p:cNvSpPr/>
          <p:nvPr/>
        </p:nvSpPr>
        <p:spPr>
          <a:xfrm>
            <a:off x="914400" y="5806440"/>
            <a:ext cx="10241280" cy="36576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sz="1100">
                <a:solidFill>
                  <a:srgbClr val="64748B"/>
                </a:solidFill>
                <a:latin typeface="+mn-lt"/>
                <a:cs typeface="+mn-lt"/>
              </a:rPr>
              <a:t>Isomorphic Pipeline Feedback Loop: 100% Roundtrip Bit-Exact Precision</a:t>
            </a:r>
          </a:p>
        </p:txBody>
      </p:sp>
      <p:sp>
        <p:nvSpPr>
          <p:cNvPr id="20" name="Text Box 10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pSp>
        <p:nvGrpSpPr>
          <p:cNvPr id="4" name="Stage 1 Ingress Container"/>
          <p:cNvGrpSpPr/>
          <p:nvPr/>
        </p:nvGrpSpPr>
        <p:grpSpPr>
          <a:xfrm>
            <a:off x="914400" y="2011680"/>
            <a:ext cx="2926080" cy="3200400"/>
            <a:chOff x="914400" y="2011680"/>
            <a:chExt cx="2926080" cy="3200400"/>
          </a:xfrm>
        </p:grpSpPr>
        <p:sp>
          <p:nvSpPr>
            <p:cNvPr id="5" name="roundRect 1"/>
            <p:cNvSpPr/>
            <p:nvPr/>
          </p:nvSpPr>
          <p:spPr>
            <a:xfrm>
              <a:off x="914400" y="2011680"/>
              <a:ext cx="2926080" cy="3200400"/>
            </a:xfrm>
            <a:prstGeom prst="roundRect">
              <a:avLst/>
            </a:prstGeom>
            <a:solidFill>
              <a:srgbClr val="FFFFFF"/>
            </a:solidFill>
            <a:ln w="13716">
              <a:solidFill>
                <a:srgbClr val="0284C7"/>
              </a:solidFill>
            </a:ln>
            <a:effectLst>
              <a:outerShdw blurRad="109728" dist="38100" dir="5400000">
                <a:srgbClr val="0F172A">
                  <a:alpha val="10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6" name="roundRect 2"/>
            <p:cNvSpPr/>
            <p:nvPr/>
          </p:nvSpPr>
          <p:spPr>
            <a:xfrm>
              <a:off x="1188720" y="2286000"/>
              <a:ext cx="2377440" cy="365760"/>
            </a:xfrm>
            <a:prstGeom prst="roundRect">
              <a:avLst/>
            </a:prstGeom>
            <a:solidFill>
              <a:srgbClr val="0284C7"/>
            </a:solidFill>
          </p:spPr>
          <p:txBody>
            <a:bodyPr anchor="t"/>
            <a:lstStyle/>
            <a:p>
              <a:pPr algn="ctr"/>
              <a:r>
                <a:rPr b="1" sz="1000">
                  <a:solidFill>
                    <a:srgbClr val="FFFFFF"/>
                  </a:solidFill>
                  <a:latin typeface="+mn-lt"/>
                  <a:cs typeface="+mn-lt"/>
                </a:rPr>
                <a:t>STEP 1: INGESTION</a:t>
              </a:r>
            </a:p>
          </p:txBody>
        </p:sp>
        <p:sp>
          <p:nvSpPr>
            <p:cNvPr id="7" name="Text Box 3"/>
            <p:cNvSpPr/>
            <p:nvPr/>
          </p:nvSpPr>
          <p:spPr>
            <a:xfrm>
              <a:off x="1188720" y="2926080"/>
              <a:ext cx="2377440" cy="1828800"/>
            </a:xfrm>
            <a:prstGeom prst="rect">
              <a:avLst/>
            </a:prstGeom>
          </p:spPr>
          <p:txBody>
            <a:bodyPr anchor="t"/>
            <a:lstStyle/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Streaming ZIP decompression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XML DOM part resolution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Extract relationships map</a:t>
              </a:r>
            </a:p>
          </p:txBody>
        </p:sp>
      </p:grpSp>
      <p:grpSp>
        <p:nvGrpSpPr>
          <p:cNvPr id="9" name="Stage 2 AST Container"/>
          <p:cNvGrpSpPr/>
          <p:nvPr/>
        </p:nvGrpSpPr>
        <p:grpSpPr>
          <a:xfrm>
            <a:off x="4572000" y="2011680"/>
            <a:ext cx="2926080" cy="3200400"/>
            <a:chOff x="4572000" y="2011680"/>
            <a:chExt cx="2926080" cy="3200400"/>
          </a:xfrm>
        </p:grpSpPr>
        <p:sp>
          <p:nvSpPr>
            <p:cNvPr id="10" name="roundRect 1"/>
            <p:cNvSpPr/>
            <p:nvPr/>
          </p:nvSpPr>
          <p:spPr>
            <a:xfrm>
              <a:off x="4572000" y="2011680"/>
              <a:ext cx="2926080" cy="3200400"/>
            </a:xfrm>
            <a:prstGeom prst="roundRect">
              <a:avLst/>
            </a:prstGeom>
            <a:solidFill>
              <a:srgbClr val="FFFFFF"/>
            </a:solidFill>
            <a:ln w="13716">
              <a:solidFill>
                <a:srgbClr val="6366F1"/>
              </a:solidFill>
            </a:ln>
            <a:effectLst>
              <a:outerShdw blurRad="109728" dist="38100" dir="5400000">
                <a:srgbClr val="0F172A">
                  <a:alpha val="10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11" name="roundRect 2"/>
            <p:cNvSpPr/>
            <p:nvPr/>
          </p:nvSpPr>
          <p:spPr>
            <a:xfrm>
              <a:off x="4846320" y="2286000"/>
              <a:ext cx="2377440" cy="365760"/>
            </a:xfrm>
            <a:prstGeom prst="roundRect">
              <a:avLst/>
            </a:prstGeom>
            <a:solidFill>
              <a:srgbClr val="6366F1"/>
            </a:solidFill>
          </p:spPr>
          <p:txBody>
            <a:bodyPr anchor="t"/>
            <a:lstStyle/>
            <a:p>
              <a:pPr algn="ctr"/>
              <a:r>
                <a:rPr b="1" sz="1000">
                  <a:solidFill>
                    <a:srgbClr val="FFFFFF"/>
                  </a:solidFill>
                  <a:latin typeface="+mn-lt"/>
                  <a:cs typeface="+mn-lt"/>
                </a:rPr>
                <a:t>STEP 2: MODELING</a:t>
              </a:r>
            </a:p>
          </p:txBody>
        </p:sp>
        <p:sp>
          <p:nvSpPr>
            <p:cNvPr id="12" name="Text Box 3"/>
            <p:cNvSpPr/>
            <p:nvPr/>
          </p:nvSpPr>
          <p:spPr>
            <a:xfrm>
              <a:off x="4846320" y="2926080"/>
              <a:ext cx="2377440" cy="1828800"/>
            </a:xfrm>
            <a:prstGeom prst="rect">
              <a:avLst/>
            </a:prstGeom>
          </p:spPr>
          <p:txBody>
            <a:bodyPr anchor="t"/>
            <a:lstStyle/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Type-safe AST generation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Layer &amp; placeholder cascade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Fluent mutations &amp; styling</a:t>
              </a:r>
            </a:p>
          </p:txBody>
        </p:sp>
      </p:grpSp>
      <p:grpSp>
        <p:nvGrpSpPr>
          <p:cNvPr id="14" name="Stage 3 Packaging Container"/>
          <p:cNvGrpSpPr/>
          <p:nvPr/>
        </p:nvGrpSpPr>
        <p:grpSpPr>
          <a:xfrm>
            <a:off x="8229600" y="2011680"/>
            <a:ext cx="2926080" cy="3200400"/>
            <a:chOff x="8229600" y="2011680"/>
            <a:chExt cx="2926080" cy="3200400"/>
          </a:xfrm>
        </p:grpSpPr>
        <p:sp>
          <p:nvSpPr>
            <p:cNvPr id="15" name="roundRect 1"/>
            <p:cNvSpPr/>
            <p:nvPr/>
          </p:nvSpPr>
          <p:spPr>
            <a:xfrm>
              <a:off x="8229600" y="2011680"/>
              <a:ext cx="2926080" cy="3200400"/>
            </a:xfrm>
            <a:prstGeom prst="roundRect">
              <a:avLst/>
            </a:prstGeom>
            <a:solidFill>
              <a:srgbClr val="FFFFFF"/>
            </a:solidFill>
            <a:ln w="13716">
              <a:solidFill>
                <a:srgbClr val="10B981"/>
              </a:solidFill>
            </a:ln>
            <a:effectLst>
              <a:outerShdw blurRad="109728" dist="38100" dir="5400000">
                <a:srgbClr val="0F172A">
                  <a:alpha val="10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16" name="roundRect 2"/>
            <p:cNvSpPr/>
            <p:nvPr/>
          </p:nvSpPr>
          <p:spPr>
            <a:xfrm>
              <a:off x="8503920" y="2286000"/>
              <a:ext cx="2377440" cy="365760"/>
            </a:xfrm>
            <a:prstGeom prst="roundRect">
              <a:avLst/>
            </a:prstGeom>
            <a:solidFill>
              <a:srgbClr val="10B981"/>
            </a:solidFill>
          </p:spPr>
          <p:txBody>
            <a:bodyPr anchor="t"/>
            <a:lstStyle/>
            <a:p>
              <a:pPr algn="ctr"/>
              <a:r>
                <a:rPr b="1" sz="1000">
                  <a:solidFill>
                    <a:srgbClr val="FFFFFF"/>
                  </a:solidFill>
                  <a:latin typeface="+mn-lt"/>
                  <a:cs typeface="+mn-lt"/>
                </a:rPr>
                <a:t>STEP 3: COMPILATION</a:t>
              </a:r>
            </a:p>
          </p:txBody>
        </p:sp>
        <p:sp>
          <p:nvSpPr>
            <p:cNvPr id="17" name="Text Box 3"/>
            <p:cNvSpPr/>
            <p:nvPr/>
          </p:nvSpPr>
          <p:spPr>
            <a:xfrm>
              <a:off x="8503920" y="2926080"/>
              <a:ext cx="2377440" cy="1828800"/>
            </a:xfrm>
            <a:prstGeom prst="rect">
              <a:avLst/>
            </a:prstGeom>
          </p:spPr>
          <p:txBody>
            <a:bodyPr anchor="t"/>
            <a:lstStyle/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Deterministic XML emission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Zero-copy fflate compression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ECMA-376 compliant PPTX</a:t>
              </a:r>
            </a:p>
          </p:txBody>
        </p:sp>
      </p:grpSp>
      <p:cxnSp>
        <p:nvCxnSpPr>
          <p:cNvPr id="8" name="Connector 4"/>
          <p:cNvCxnSpPr/>
          <p:nvPr/>
        </p:nvCxnSpPr>
        <p:spPr>
          <a:xfrm>
            <a:off x="3840480" y="3611880"/>
            <a:ext cx="731520" cy="1"/>
          </a:xfrm>
          <a:prstGeom prst="line">
            <a:avLst/>
          </a:prstGeom>
          <a:ln w="27432">
            <a:solidFill>
              <a:srgbClr val="0284C7"/>
            </a:solidFill>
            <a:prstDash val="solid"/>
          </a:ln>
        </p:spPr>
      </p:cxnSp>
      <p:cxnSp>
        <p:nvCxnSpPr>
          <p:cNvPr id="13" name="Connector 6"/>
          <p:cNvCxnSpPr/>
          <p:nvPr/>
        </p:nvCxnSpPr>
        <p:spPr>
          <a:xfrm>
            <a:off x="7498080" y="3611880"/>
            <a:ext cx="731520" cy="1"/>
          </a:xfrm>
          <a:prstGeom prst="line">
            <a:avLst/>
          </a:prstGeom>
          <a:ln w="27432">
            <a:solidFill>
              <a:srgbClr val="6366F1"/>
            </a:solidFill>
            <a:prstDash val="solid"/>
          </a:ln>
        </p:spPr>
      </p:cxnSp>
      <p:cxnSp>
        <p:nvCxnSpPr>
          <p:cNvPr id="18" name="Connector 8"/>
          <p:cNvCxnSpPr/>
          <p:nvPr/>
        </p:nvCxnSpPr>
        <p:spPr>
          <a:xfrm>
            <a:off x="914400" y="5669280"/>
            <a:ext cx="10241280" cy="1"/>
          </a:xfrm>
          <a:prstGeom prst="line">
            <a:avLst/>
          </a:prstGeom>
          <a:ln w="13716">
            <a:solidFill>
              <a:srgbClr val="94A3B8"/>
            </a:solidFill>
            <a:prstDash val="dash"/>
          </a:ln>
        </p:spPr>
      </p:cxnSp>
    </p:spTree>
  </p:cSld>
  <p:clrMapOvr>
    <a:masterClrMapping/>
  </p:clrMapOvr>
  <p:transition spd="fast">
    <p:pull dir="r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Native OpenXML Charts &amp; Visual Analytics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Zero-dependency generation of native PowerPoint &lt;c:chartSpace&gt; data visualizations and multi-series metrics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640080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37160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roundRect 5"/>
          <p:cNvSpPr/>
          <p:nvPr/>
        </p:nvSpPr>
        <p:spPr>
          <a:xfrm>
            <a:off x="7589520" y="1828800"/>
            <a:ext cx="3657600" cy="12344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0284C7"/>
            </a:solidFill>
          </a:ln>
        </p:spPr>
        <p:txBody>
          <a:bodyPr anchor="t"/>
          <a:lstStyle/>
          <a:p>
            <a:pPr algn="l"/>
            <a:r>
              <a:rPr b="1" sz="1300">
                <a:solidFill>
                  <a:srgbClr val="38BDF8"/>
                </a:solidFill>
                <a:latin typeface="+mn-lt"/>
                <a:cs typeface="+mn-lt"/>
              </a:rPr>
              <a:t>⚡ Zero Native Bindings</a:t>
            </a:r>
          </a:p>
        </p:txBody>
      </p:sp>
      <p:sp>
        <p:nvSpPr>
          <p:cNvPr id="7" name="Text Box 6"/>
          <p:cNvSpPr/>
          <p:nvPr/>
        </p:nvSpPr>
        <p:spPr>
          <a:xfrm>
            <a:off x="7772400" y="2240280"/>
            <a:ext cx="3291840" cy="7315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94A3B8"/>
                </a:solidFill>
                <a:latin typeface="+mn-lt"/>
                <a:cs typeface="+mn-lt"/>
              </a:rPr>
              <a:t>Generates ECMA-376 compliant DrawingML charts directly from pure TypeScript arrays without spawning Python, Java, or Excel subprocesses.</a:t>
            </a:r>
          </a:p>
        </p:txBody>
      </p:sp>
      <p:sp>
        <p:nvSpPr>
          <p:cNvPr id="8" name="roundRect 7"/>
          <p:cNvSpPr/>
          <p:nvPr/>
        </p:nvSpPr>
        <p:spPr>
          <a:xfrm>
            <a:off x="7589520" y="3246120"/>
            <a:ext cx="3657600" cy="12344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10B981"/>
            </a:solidFill>
          </a:ln>
        </p:spPr>
        <p:txBody>
          <a:bodyPr anchor="t"/>
          <a:lstStyle/>
          <a:p>
            <a:pPr algn="l"/>
            <a:r>
              <a:rPr b="1" sz="1300">
                <a:solidFill>
                  <a:srgbClr val="34D399"/>
                </a:solidFill>
                <a:latin typeface="+mn-lt"/>
                <a:cs typeface="+mn-lt"/>
              </a:rPr>
              <a:t>📈 Fully Editable &amp; Scalable</a:t>
            </a:r>
          </a:p>
        </p:txBody>
      </p:sp>
      <p:sp>
        <p:nvSpPr>
          <p:cNvPr id="9" name="Text Box 8"/>
          <p:cNvSpPr/>
          <p:nvPr/>
        </p:nvSpPr>
        <p:spPr>
          <a:xfrm>
            <a:off x="7772400" y="3657600"/>
            <a:ext cx="3291840" cy="7315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94A3B8"/>
                </a:solidFill>
                <a:latin typeface="+mn-lt"/>
                <a:cs typeface="+mn-lt"/>
              </a:rPr>
              <a:t>Embedded as vector OpenXML chart spaces. Users can edit values, change themes, or modify series formatting natively inside Microsoft PowerPoint.</a:t>
            </a:r>
          </a:p>
        </p:txBody>
      </p:sp>
      <p:sp>
        <p:nvSpPr>
          <p:cNvPr id="10" name="roundRect 9"/>
          <p:cNvSpPr/>
          <p:nvPr/>
        </p:nvSpPr>
        <p:spPr>
          <a:xfrm>
            <a:off x="7589520" y="4663440"/>
            <a:ext cx="3657600" cy="12344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6366F1"/>
            </a:solidFill>
          </a:ln>
        </p:spPr>
        <p:txBody>
          <a:bodyPr anchor="t"/>
          <a:lstStyle/>
          <a:p>
            <a:pPr algn="l"/>
            <a:r>
              <a:rPr b="1" sz="1300">
                <a:solidFill>
                  <a:srgbClr val="818CF8"/>
                </a:solidFill>
                <a:latin typeface="+mn-lt"/>
                <a:cs typeface="+mn-lt"/>
              </a:rPr>
              <a:t>🎨 Multi-Type Chart Engine</a:t>
            </a:r>
          </a:p>
        </p:txBody>
      </p:sp>
      <p:sp>
        <p:nvSpPr>
          <p:cNvPr id="11" name="Text Box 10"/>
          <p:cNvSpPr/>
          <p:nvPr/>
        </p:nvSpPr>
        <p:spPr>
          <a:xfrm>
            <a:off x="7772400" y="5074920"/>
            <a:ext cx="3291840" cy="7315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94A3B8"/>
                </a:solidFill>
                <a:latin typeface="+mn-lt"/>
                <a:cs typeface="+mn-lt"/>
              </a:rPr>
              <a:t>Supports column, bar, line, area, and pie chart topologies with custom series coloring, categorical axes, and configurable legend alignments.</a:t>
            </a:r>
          </a:p>
        </p:txBody>
      </p:sp>
      <p:sp>
        <p:nvSpPr>
          <p:cNvPr id="12" name="Text Box 11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5" name="Chart 4"/>
          <p:cNvGraphicFramePr/>
          <p:nvPr/>
        </p:nvGraphicFramePr>
        <p:xfrm>
          <a:off x="1097280" y="2011680"/>
          <a:ext cx="6035040" cy="3749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  <p:transition spd="med">
    <p:wheel spokes="4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Multi-Topology Chart Gallery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Smooth spline line trends, radial doughnut distributions, and horizontal bar comparisons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1097280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0F172A"/>
                </a:solidFill>
                <a:latin typeface="+mn-lt"/>
                <a:cs typeface="+mn-lt"/>
              </a:rPr>
              <a:t>📈 Latency Curve vs Payload (ms)</a:t>
            </a:r>
          </a:p>
        </p:txBody>
      </p:sp>
      <p:sp>
        <p:nvSpPr>
          <p:cNvPr id="7" name="roundRect 6"/>
          <p:cNvSpPr/>
          <p:nvPr/>
        </p:nvSpPr>
        <p:spPr>
          <a:xfrm>
            <a:off x="4443984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/>
          <p:nvPr/>
        </p:nvSpPr>
        <p:spPr>
          <a:xfrm>
            <a:off x="4626864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0F172A"/>
                </a:solidFill>
                <a:latin typeface="+mn-lt"/>
                <a:cs typeface="+mn-lt"/>
              </a:rPr>
              <a:t>🍩 Runtime Execution Share</a:t>
            </a:r>
          </a:p>
        </p:txBody>
      </p:sp>
      <p:sp>
        <p:nvSpPr>
          <p:cNvPr id="10" name="roundRect 9"/>
          <p:cNvSpPr/>
          <p:nvPr/>
        </p:nvSpPr>
        <p:spPr>
          <a:xfrm>
            <a:off x="7982712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Box 10"/>
          <p:cNvSpPr/>
          <p:nvPr/>
        </p:nvSpPr>
        <p:spPr>
          <a:xfrm>
            <a:off x="8165592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0F172A"/>
                </a:solidFill>
                <a:latin typeface="+mn-lt"/>
                <a:cs typeface="+mn-lt"/>
              </a:rPr>
              <a:t>📊 Ecosystem Compression (x)</a:t>
            </a:r>
          </a:p>
        </p:txBody>
      </p:sp>
      <p:sp>
        <p:nvSpPr>
          <p:cNvPr id="13" name="Text Box 12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6" name="Chart 5"/>
          <p:cNvGraphicFramePr/>
          <p:nvPr/>
        </p:nvGraphicFramePr>
        <p:xfrm>
          <a:off x="1097280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9" name="Chart 8"/>
          <p:cNvGraphicFramePr/>
          <p:nvPr/>
        </p:nvGraphicFramePr>
        <p:xfrm>
          <a:off x="4626864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2" name="Chart 11"/>
          <p:cNvGraphicFramePr/>
          <p:nvPr/>
        </p:nvGraphicFramePr>
        <p:xfrm>
          <a:off x="8165592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  <p:transition spd="fast">
    <p:blinds dir="horz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Specialized Analytical Topologies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Multi-series stacked area trends, radial composition pie distributions, and multi-axis radar scorecards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329184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1097280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38BDF8"/>
                </a:solidFill>
                <a:latin typeface="+mn-lt"/>
                <a:cs typeface="+mn-lt"/>
              </a:rPr>
              <a:t>🌊 Stacked Area: Memory Footprint (MB)</a:t>
            </a:r>
          </a:p>
        </p:txBody>
      </p:sp>
      <p:sp>
        <p:nvSpPr>
          <p:cNvPr id="7" name="roundRect 6"/>
          <p:cNvSpPr/>
          <p:nvPr/>
        </p:nvSpPr>
        <p:spPr>
          <a:xfrm>
            <a:off x="4443984" y="1828800"/>
            <a:ext cx="329184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/>
          <p:nvPr/>
        </p:nvSpPr>
        <p:spPr>
          <a:xfrm>
            <a:off x="4626864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34D399"/>
                </a:solidFill>
                <a:latin typeface="+mn-lt"/>
                <a:cs typeface="+mn-lt"/>
              </a:rPr>
              <a:t>🥧 2D Pie: Bundle Contribution</a:t>
            </a:r>
          </a:p>
        </p:txBody>
      </p:sp>
      <p:sp>
        <p:nvSpPr>
          <p:cNvPr id="10" name="roundRect 9"/>
          <p:cNvSpPr/>
          <p:nvPr/>
        </p:nvSpPr>
        <p:spPr>
          <a:xfrm>
            <a:off x="7982712" y="1828800"/>
            <a:ext cx="329184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Box 10"/>
          <p:cNvSpPr/>
          <p:nvPr/>
        </p:nvSpPr>
        <p:spPr>
          <a:xfrm>
            <a:off x="8165592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818CF8"/>
                </a:solidFill>
                <a:latin typeface="+mn-lt"/>
                <a:cs typeface="+mn-lt"/>
              </a:rPr>
              <a:t>🎯 Radar: Performance Scorecard</a:t>
            </a:r>
          </a:p>
        </p:txBody>
      </p:sp>
      <p:sp>
        <p:nvSpPr>
          <p:cNvPr id="13" name="Text Box 12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6" name="Chart 5"/>
          <p:cNvGraphicFramePr/>
          <p:nvPr/>
        </p:nvGraphicFramePr>
        <p:xfrm>
          <a:off x="1097280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9" name="Chart 8"/>
          <p:cNvGraphicFramePr/>
          <p:nvPr/>
        </p:nvGraphicFramePr>
        <p:xfrm>
          <a:off x="4626864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2" name="Chart 11"/>
          <p:cNvGraphicFramePr/>
          <p:nvPr/>
        </p:nvGraphicFramePr>
        <p:xfrm>
          <a:off x="8165592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  <p:transition spd="fast">
    <p:checker dir="vert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731520" y="731520"/>
            <a:ext cx="1072591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Engine Performance &amp; Bundle Size Matrix</a:t>
            </a:r>
          </a:p>
        </p:txBody>
      </p:sp>
      <p:sp>
        <p:nvSpPr>
          <p:cNvPr id="3" name="Text Box 2"/>
          <p:cNvSpPr/>
          <p:nvPr/>
        </p:nvSpPr>
        <p:spPr>
          <a:xfrm>
            <a:off x="731520" y="1280160"/>
            <a:ext cx="1072591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Empirical microsecond throughput benchmarks and ultra-lean tree-shakeable bundle budgets</a:t>
            </a:r>
          </a:p>
        </p:txBody>
      </p:sp>
      <p:sp>
        <p:nvSpPr>
          <p:cNvPr id="4" name="roundRect 3"/>
          <p:cNvSpPr/>
          <p:nvPr/>
        </p:nvSpPr>
        <p:spPr>
          <a:xfrm>
            <a:off x="731520" y="1828800"/>
            <a:ext cx="5212080" cy="448056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9144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0F172A"/>
                </a:solidFill>
                <a:latin typeface="+mn-lt"/>
                <a:cs typeface="+mn-lt"/>
              </a:rPr>
              <a:t>⚡ Throughput &amp; Latency Benchmarks (Vitest)</a:t>
            </a:r>
          </a:p>
        </p:txBody>
      </p:sp>
      <p:sp>
        <p:nvSpPr>
          <p:cNvPr id="7" name="roundRect 6"/>
          <p:cNvSpPr/>
          <p:nvPr/>
        </p:nvSpPr>
        <p:spPr>
          <a:xfrm>
            <a:off x="6217920" y="1828800"/>
            <a:ext cx="5212080" cy="448056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/>
          <p:nvPr/>
        </p:nvSpPr>
        <p:spPr>
          <a:xfrm>
            <a:off x="64008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0F172A"/>
                </a:solidFill>
                <a:latin typeface="+mn-lt"/>
                <a:cs typeface="+mn-lt"/>
              </a:rPr>
              <a:t>📦 Monorepo Gzip &amp; Brotli Footprint (Bundlephobia-Aligned)</a:t>
            </a:r>
          </a:p>
        </p:txBody>
      </p:sp>
      <p:sp>
        <p:nvSpPr>
          <p:cNvPr id="10" name="Text Box 9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2423160"/>
          <a:ext cx="4754880" cy="2743200"/>
        </p:xfrm>
        <a:graphic>
          <a:graphicData uri="http://schemas.openxmlformats.org/drawingml/2006/table">
            <a:tbl>
              <a:tblPr/>
              <a:tblGrid>
                <a:gridCol w="1920240"/>
                <a:gridCol w="1005840"/>
                <a:gridCol w="914400"/>
                <a:gridCol w="914400"/>
              </a:tblGrid>
              <a:tr h="347472">
                <a:tc>
                  <a:txBody>
                    <a:bodyPr anchor="ctr"/>
                    <a:lstStyle/>
                    <a:p>
                      <a:pPr algn="l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Workload Scenario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Ops / Sec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Avg Latency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Category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Single Slide Emit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1,820 ops/s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0.55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64748B"/>
                          </a:solidFill>
                          <a:latin typeface="+mn-lt"/>
                          <a:cs typeface="+mn-lt"/>
                        </a:rPr>
                        <a:t>Sub-ms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DrawingML Chart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1,243 ops/s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0.80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64748B"/>
                          </a:solidFill>
                          <a:latin typeface="+mn-lt"/>
                          <a:cs typeface="+mn-lt"/>
                        </a:rPr>
                        <a:t>Charts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Data Table (5x10)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1,270 ops/s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0.79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64748B"/>
                          </a:solidFill>
                          <a:latin typeface="+mn-lt"/>
                          <a:cs typeface="+mn-lt"/>
                        </a:rPr>
                        <a:t>Tables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10-Slide Full Deck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358 ops/s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2.80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64748B"/>
                          </a:solidFill>
                          <a:latin typeface="+mn-lt"/>
                          <a:cs typeface="+mn-lt"/>
                        </a:rPr>
                        <a:t>Decks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50-Slide High Batch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165 ops/s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6.07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64748B"/>
                          </a:solidFill>
                          <a:latin typeface="+mn-lt"/>
                          <a:cs typeface="+mn-lt"/>
                        </a:rPr>
                        <a:t>Batch Scale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Shape Serialization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5.07M ops/s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0.0002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64748B"/>
                          </a:solidFill>
                          <a:latin typeface="+mn-lt"/>
                          <a:cs typeface="+mn-lt"/>
                        </a:rPr>
                        <a:t>Microsecond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Chart 8"/>
          <p:cNvGraphicFramePr/>
          <p:nvPr/>
        </p:nvGraphicFramePr>
        <p:xfrm>
          <a:off x="6400800" y="2423160"/>
          <a:ext cx="4846320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  <p:transition spd="med">
    <p:zoom dir="in"/>
  </p:transition>
</p:sld>
</file>

<file path=ppt/theme/theme1.xml><?xml version="1.0" encoding="utf-8"?>
<a:theme xmlns:a="http://schemas.openxmlformats.org/drawingml/2006/main" name="Enterprise Cobalt Theme">
  <a:themeElements>
    <a:clrScheme name="Enterprise Cobalt Theme">
      <a:dk1>
        <a:srgbClr val="0F172A"/>
      </a:dk1>
      <a:lt1>
        <a:srgbClr val="FFFFFF"/>
      </a:lt1>
      <a:dk2>
        <a:srgbClr val="1E293B"/>
      </a:dk2>
      <a:lt2>
        <a:srgbClr val="F8FAFC"/>
      </a:lt2>
      <a:accent1>
        <a:srgbClr val="0284C7"/>
      </a:accent1>
      <a:accent2>
        <a:srgbClr val="6366F1"/>
      </a:accent2>
      <a:accent3>
        <a:srgbClr val="10B981"/>
      </a:accent3>
      <a:accent4>
        <a:srgbClr val="F59E0B"/>
      </a:accent4>
      <a:accent5>
        <a:srgbClr val="EF4444"/>
      </a:accent5>
      <a:accent6>
        <a:srgbClr val="8B5CF6"/>
      </a:accent6>
      <a:hlink>
        <a:srgbClr val="2563EB"/>
      </a:hlink>
      <a:folHlink>
        <a:srgbClr val="6D28D9"/>
      </a:folHlink>
    </a:clrScheme>
    <a:fontScheme name="Modern Clean Sans">
      <a:majorFont>
        <a:latin typeface="Inter"/>
        <a:ea typeface=""/>
        <a:cs typeface="Inter"/>
      </a:majorFont>
      <a:minorFont>
        <a:latin typeface="Roboto"/>
        <a:ea typeface=""/>
        <a:cs typeface="Roboto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220000"/>
              </a:schemeClr>
            </a:gs>
            <a:gs pos="100000">
              <a:schemeClr val="phClr">
                <a:tint val="15000"/>
                <a:satMod val="13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</a:schemeClr>
            </a:gs>
            <a:gs pos="100000">
              <a:schemeClr val="phClr">
                <a:shade val="98000"/>
                <a:satMod val="130000"/>
              </a:schemeClr>
            </a:gs>
          </a:gsLst>
          <a:lin ang="16200000" scaled="0"/>
        </a:gradFill>
      </a:bgFillStyleLst>
    </a:fmtScheme>
  </a:themeElements>
  <a:objectDefaults/>
  <a:extraClrSchemeLst>
    <a:extraClrScheme>
      <a:clrScheme name="Enterprise Cobalt Theme">
        <a:dk1>
          <a:srgbClr val="0F172A"/>
        </a:dk1>
        <a:lt1>
          <a:srgbClr val="FFFFFF"/>
        </a:lt1>
        <a:dk2>
          <a:srgbClr val="1E293B"/>
        </a:dk2>
        <a:lt2>
          <a:srgbClr val="F8FAFC"/>
        </a:lt2>
        <a:accent1>
          <a:srgbClr val="0284C7"/>
        </a:accent1>
        <a:accent2>
          <a:srgbClr val="6366F1"/>
        </a:accent2>
        <a:accent3>
          <a:srgbClr val="10B981"/>
        </a:accent3>
        <a:accent4>
          <a:srgbClr val="F59E0B"/>
        </a:accent4>
        <a:accent5>
          <a:srgbClr val="EF4444"/>
        </a:accent5>
        <a:accent6>
          <a:srgbClr val="8B5CF6"/>
        </a:accent6>
        <a:hlink>
          <a:srgbClr val="2563EB"/>
        </a:hlink>
        <a:folHlink>
          <a:srgbClr val="6D28D9"/>
        </a:folHlink>
      </a:clrScheme>
    </a:extraClrScheme>
  </a:extraClrScheme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220000"/>
              </a:schemeClr>
            </a:gs>
            <a:gs pos="100000">
              <a:schemeClr val="phClr">
                <a:tint val="15000"/>
                <a:satMod val="13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</a:schemeClr>
            </a:gs>
            <a:gs pos="100000">
              <a:schemeClr val="phClr">
                <a:shade val="98000"/>
                <a:satMod val="130000"/>
              </a:schemeClr>
            </a:gs>
          </a:gsLst>
          <a:lin ang="162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AppVersion>16.0000</AppVersion>
  <Company/>
  <HeadingPairs>
    <vt:vector baseType="variant" size="2">
      <vt:variant>
        <vt:lpstr>Theme</vt:lpstr>
      </vt:variant>
      <vt:variant>
        <vt:i4>1</vt:i4>
      </vt:variant>
    </vt:vector>
  </HeadingPairs>
  <HiddenSlides>0</HiddenSlides>
  <HyperlinksChanged>false</HyperlinksChanged>
  <LinksUpToDate>false</LinksUpToDate>
  <MMClips>0</MMClips>
  <Notes>0</Notes>
  <Paragraphs>0</Paragraphs>
  <PresentationFormat>Widescreen</PresentationFormat>
  <ScaleCrop>false</ScaleCrop>
  <SharedDoc>false</SharedDoc>
  <Slides>12</Slides>
  <TitlesOfParts>
    <vt:vector baseType="lpstr" size="1">
      <vt:lpstr>Office Theme</vt:lpstr>
    </vt:vector>
  </TitlesOfParts>
  <TotalTime>0</TotalTime>
  <Words>0</Words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cp:lastModifiedBy>Hokkyss Core Team</cp:lastModifiedBy>
  <cp:revision>1</cp:revision>
  <dc:creator>Hokkyss Core Team</dc:creator>
  <dc:title>Hokkyss PPTX — The Modern Presentation Engine</dc:title>
  <dcterms:created xsi:type="dcterms:W3CDTF">2026-08-16T08:11:52.545Z</dcterms:created>
  <dcterms:modified xsi:type="dcterms:W3CDTF">2026-08-16T08:11:52.545Z</dcterms:modified>
</cp:coreProperties>
</file>