
<file path=[Content_Types].xml><?xml version="1.0" encoding="utf-8"?>
<Types xmlns="http://schemas.openxmlformats.org/package/2006/content-types">
  <Default ContentType="application/vnd.openxmlformats-package.relationships+xml" Extension="rels"/>
  <Default ContentType="application/xml" Extension="xml"/>
  <Default ContentType="image/jpeg" Extension="jpg"/>
  <Default ContentType="image/png" Extension="png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tableStyles+xml" PartName="/ppt/tableStyles.xml"/>
  <Override ContentType="application/vnd.openxmlformats-officedocument.presentationml.viewProps+xml" PartName="/ppt/viewProps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theme+xml" PartName="/ppt/theme/theme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drawingml.chart+xml" PartName="/ppt/charts/chart1.xml"/>
  <Override ContentType="application/vnd.openxmlformats-officedocument.presentationml.notesSlide+xml" PartName="/ppt/notesSlides/notesSlide7.xml"/>
  <Override ContentType="application/vnd.openxmlformats-officedocument.drawingml.chart+xml" PartName="/ppt/charts/chart2.xml"/>
  <Override ContentType="application/vnd.openxmlformats-officedocument.drawingml.chart+xml" PartName="/ppt/charts/chart3.xml"/>
  <Override ContentType="application/vnd.openxmlformats-officedocument.drawingml.chart+xml" PartName="/ppt/charts/chart4.xml"/>
  <Override ContentType="application/vnd.openxmlformats-officedocument.presentationml.notesSlide+xml" PartName="/ppt/notesSlides/notesSlide8.xml"/>
  <Override ContentType="application/vnd.openxmlformats-officedocument.drawingml.chart+xml" PartName="/ppt/charts/chart5.xml"/>
  <Override ContentType="application/vnd.openxmlformats-officedocument.drawingml.chart+xml" PartName="/ppt/charts/chart6.xml"/>
  <Override ContentType="application/vnd.openxmlformats-officedocument.drawingml.chart+xml" PartName="/ppt/charts/chart7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drawingml.chart+xml" PartName="/ppt/charts/chart8.xml"/>
  <Override ContentType="application/vnd.openxmlformats-officedocument.presentationml.notesSlide+xml" PartName="/ppt/notesSlides/notesSlide12.xml"/>
  <Override ContentType="application/vnd.openxmlformats-officedocument.theme+xml" PartName="/ppt/theme/theme2.xml"/>
  <Override ContentType="application/vnd.openxmlformats-officedocument.presentationml.notesMaster+xml" PartName="/ppt/notesMasters/notesMaster1.xml"/>
</Types>
</file>

<file path=_rels/.rels><?xml version="1.0" encoding="UTF-8" standalone="yes"?>
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
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slides/slide2.xml" Type="http://schemas.openxmlformats.org/officeDocument/2006/relationships/slide"/><Relationship Id="rId4" Target="slides/slide3.xml" Type="http://schemas.openxmlformats.org/officeDocument/2006/relationships/slide"/><Relationship Id="rId5" Target="slides/slide4.xml" Type="http://schemas.openxmlformats.org/officeDocument/2006/relationships/slide"/><Relationship Id="rId6" Target="slides/slide5.xml" Type="http://schemas.openxmlformats.org/officeDocument/2006/relationships/slide"/><Relationship Id="rId7" Target="slides/slide6.xml" Type="http://schemas.openxmlformats.org/officeDocument/2006/relationships/slide"/><Relationship Id="rId8" Target="slides/slide7.xml" Type="http://schemas.openxmlformats.org/officeDocument/2006/relationships/slide"/><Relationship Id="rId9" Target="slides/slide8.xml" Type="http://schemas.openxmlformats.org/officeDocument/2006/relationships/slide"/><Relationship Id="rId10" Target="slides/slide9.xml" Type="http://schemas.openxmlformats.org/officeDocument/2006/relationships/slide"/><Relationship Id="rId11" Target="slides/slide10.xml" Type="http://schemas.openxmlformats.org/officeDocument/2006/relationships/slide"/><Relationship Id="rId12" Target="slides/slide11.xml" Type="http://schemas.openxmlformats.org/officeDocument/2006/relationships/slide"/><Relationship Id="rId13" Target="slides/slide12.xml" Type="http://schemas.openxmlformats.org/officeDocument/2006/relationships/slide"/><Relationship Id="rId14" Target="slides/slide13.xml" Type="http://schemas.openxmlformats.org/officeDocument/2006/relationships/slide"/><Relationship Id="rId15" Target="slides/slide14.xml" Type="http://schemas.openxmlformats.org/officeDocument/2006/relationships/slide"/><Relationship Id="rId16" Target="slides/slide15.xml" Type="http://schemas.openxmlformats.org/officeDocument/2006/relationships/slide"/><Relationship Id="rId17" Target="slides/slide16.xml" Type="http://schemas.openxmlformats.org/officeDocument/2006/relationships/slide"/><Relationship Id="rId18" Target="notesMasters/notesMaster1.xml" Type="http://schemas.openxmlformats.org/officeDocument/2006/relationships/notesMaster"/><Relationship Id="rId19" Target="presProps.xml" Type="http://schemas.openxmlformats.org/officeDocument/2006/relationships/presProps"/><Relationship Id="rId20" Target="viewProps.xml" Type="http://schemas.openxmlformats.org/officeDocument/2006/relationships/viewProps"/><Relationship Id="rId21" Target="theme/theme1.xml" Type="http://schemas.openxmlformats.org/officeDocument/2006/relationships/theme"/><Relationship Id="rId22" Target="tableStyles.xml" Type="http://schemas.openxmlformats.org/officeDocument/2006/relationships/tableStyles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Throughput (MB/s)</c:v>
          </c:tx>
          <c:spPr>
            <a:solidFill>
              <a:srgbClr val="38BDF8"/>
            </a:solidFill>
          </c:spPr>
          <c:invertIfNegative val="0"/>
          <c:cat>
            <c:strLit>
              <c:ptCount val="4"/>
              <c:pt idx="0">
                <c:v>Cloudflare Workers</c:v>
              </c:pt>
              <c:pt idx="1">
                <c:v>Bun 1.1</c:v>
              </c:pt>
              <c:pt idx="2">
                <c:v>Node.js 22</c:v>
              </c:pt>
              <c:pt idx="3">
                <c:v>Deno 2.0</c:v>
              </c:pt>
            </c:strLit>
          </c:cat>
          <c:val>
            <c:numLit>
              <c:formatCode>General</c:formatCode>
              <c:ptCount val="4"/>
              <c:pt idx="0">
                <c:v>145</c:v>
              </c:pt>
              <c:pt idx="1">
                <c:v>138</c:v>
              </c:pt>
              <c:pt idx="2">
                <c:v>120</c:v>
              </c:pt>
              <c:pt idx="3">
                <c:v>110</c:v>
              </c:pt>
            </c:numLit>
          </c:val>
        </c:ser>
        <c:ser>
          <c:idx val="1"/>
          <c:order val="1"/>
          <c:tx>
            <c:v>Parse Ops/sec</c:v>
          </c:tx>
          <c:spPr>
            <a:solidFill>
              <a:srgbClr val="34D399"/>
            </a:solidFill>
          </c:spPr>
          <c:invertIfNegative val="0"/>
          <c:cat>
            <c:strLit>
              <c:ptCount val="4"/>
              <c:pt idx="0">
                <c:v>Cloudflare Workers</c:v>
              </c:pt>
              <c:pt idx="1">
                <c:v>Bun 1.1</c:v>
              </c:pt>
              <c:pt idx="2">
                <c:v>Node.js 22</c:v>
              </c:pt>
              <c:pt idx="3">
                <c:v>Deno 2.0</c:v>
              </c:pt>
            </c:strLit>
          </c:cat>
          <c:val>
            <c:numLit>
              <c:formatCode>General</c:formatCode>
              <c:ptCount val="4"/>
              <c:pt idx="0">
                <c:v>850</c:v>
              </c:pt>
              <c:pt idx="1">
                <c:v>780</c:v>
              </c:pt>
              <c:pt idx="2">
                <c:v>640</c:v>
              </c:pt>
              <c:pt idx="3">
                <c:v>610</c:v>
              </c:pt>
            </c:numLit>
          </c:val>
        </c:ser>
        <c:ser>
          <c:idx val="2"/>
          <c:order val="2"/>
          <c:tx>
            <c:v>Compression Ratio (%)</c:v>
          </c:tx>
          <c:spPr>
            <a:solidFill>
              <a:srgbClr val="A78BFA"/>
            </a:solidFill>
          </c:spPr>
          <c:invertIfNegative val="0"/>
          <c:cat>
            <c:strLit>
              <c:ptCount val="4"/>
              <c:pt idx="0">
                <c:v>Cloudflare Workers</c:v>
              </c:pt>
              <c:pt idx="1">
                <c:v>Bun 1.1</c:v>
              </c:pt>
              <c:pt idx="2">
                <c:v>Node.js 22</c:v>
              </c:pt>
              <c:pt idx="3">
                <c:v>Deno 2.0</c:v>
              </c:pt>
            </c:strLit>
          </c:cat>
          <c:val>
            <c:numLit>
              <c:formatCode>General</c:formatCode>
              <c:ptCount val="4"/>
              <c:pt idx="0">
                <c:v>78</c:v>
              </c:pt>
              <c:pt idx="1">
                <c:v>76</c:v>
              </c:pt>
              <c:pt idx="2">
                <c:v>75</c:v>
              </c:pt>
              <c:pt idx="3">
                <c:v>74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475569"/>
            </a:solidFill>
          </a:ln>
        </c:spPr>
        <c:txPr>
          <a:bodyPr/>
          <a:lstStyle/>
          <a:p>
            <a:pPr>
              <a:defRPr>
                <a:solidFill>
                  <a:srgbClr val="CBD5E1"/>
                </a:solidFill>
              </a:defRPr>
            </a:pPr>
            <a:endParaRPr/>
          </a:p>
        </c:txPr>
        <c:crossAx val="222222222"/>
        <c:crosses val="autoZero"/>
        <c:auto val="1"/>
        <c:lblAlgn val="ctr"/>
        <c:lblOffset val="100"/>
        <c:noMultiLvlLbl val="1"/>
      </c:catAx>
      <c:valAx>
        <c:axId val="222222222"/>
        <c:scaling>
          <c:orientation val="minMax"/>
        </c:scaling>
        <c:delete val="0"/>
        <c:axPos val="l"/>
        <c:majorGridlines>
          <c:spPr>
            <a:ln w="9525">
              <a:solidFill>
                <a:srgbClr val="334155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475569"/>
            </a:solidFill>
          </a:ln>
        </c:spPr>
        <c:txPr>
          <a:bodyPr/>
          <a:lstStyle/>
          <a:p>
            <a:pPr>
              <a:defRPr>
                <a:solidFill>
                  <a:srgbClr val="CBD5E1"/>
                </a:solidFill>
              </a:defRPr>
            </a:pPr>
            <a:endParaRPr/>
          </a:p>
        </c:txPr>
        <c:crossAx val="11111111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>
              <a:solidFill>
                <a:srgbClr val="F1F5F9"/>
              </a:solidFill>
            </a:defRPr>
          </a:pPr>
          <a:endParaRPr/>
        </a:p>
      </c:txPr>
    </c:legend>
    <c:plotVisOnly val="1"/>
    <c:dispBlanksAs val="gap"/>
    <c:showDLblsOverMax val="0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@hokkyss/pptx</c:v>
          </c:tx>
          <c:spPr>
            <a:ln w="25400">
              <a:solidFill>
                <a:srgbClr val="0284C7"/>
              </a:solidFill>
            </a:ln>
          </c:spPr>
          <c:invertIfNegative val="0"/>
          <c:cat>
            <c:strLit>
              <c:ptCount val="5"/>
              <c:pt idx="0">
                <c:v>100K</c:v>
              </c:pt>
              <c:pt idx="1">
                <c:v>500K</c:v>
              </c:pt>
              <c:pt idx="2">
                <c:v>1MB</c:v>
              </c:pt>
              <c:pt idx="3">
                <c:v>5MB</c:v>
              </c:pt>
              <c:pt idx="4">
                <c:v>10MB</c:v>
              </c:pt>
            </c:strLit>
          </c:cat>
          <c:val>
            <c:numLit>
              <c:formatCode>General</c:formatCode>
              <c:ptCount val="5"/>
              <c:pt idx="0">
                <c:v>2.1</c:v>
              </c:pt>
              <c:pt idx="1">
                <c:v>4.8</c:v>
              </c:pt>
              <c:pt idx="2">
                <c:v>8.5</c:v>
              </c:pt>
              <c:pt idx="3">
                <c:v>32</c:v>
              </c:pt>
              <c:pt idx="4">
                <c:v>64.2</c:v>
              </c:pt>
            </c:numLit>
          </c:val>
          <c:smooth val="1"/>
        </c:ser>
        <c:ser>
          <c:idx val="1"/>
          <c:order val="1"/>
          <c:tx>
            <c:v>Legacy Parser</c:v>
          </c:tx>
          <c:spPr>
            <a:ln w="25400">
              <a:solidFill>
                <a:srgbClr val="EF4444"/>
              </a:solidFill>
            </a:ln>
          </c:spPr>
          <c:invertIfNegative val="0"/>
          <c:cat>
            <c:strLit>
              <c:ptCount val="5"/>
              <c:pt idx="0">
                <c:v>100K</c:v>
              </c:pt>
              <c:pt idx="1">
                <c:v>500K</c:v>
              </c:pt>
              <c:pt idx="2">
                <c:v>1MB</c:v>
              </c:pt>
              <c:pt idx="3">
                <c:v>5MB</c:v>
              </c:pt>
              <c:pt idx="4">
                <c:v>10MB</c:v>
              </c:pt>
            </c:strLit>
          </c:cat>
          <c:val>
            <c:numLit>
              <c:formatCode>General</c:formatCode>
              <c:ptCount val="5"/>
              <c:pt idx="0">
                <c:v>28</c:v>
              </c:pt>
              <c:pt idx="1">
                <c:v>65</c:v>
              </c:pt>
              <c:pt idx="2">
                <c:v>140</c:v>
              </c:pt>
              <c:pt idx="3">
                <c:v>580</c:v>
              </c:pt>
              <c:pt idx="4">
                <c:v>1250</c:v>
              </c:pt>
            </c:numLit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1111111"/>
        <c:axId val="222222222"/>
      </c:lineChart>
      <c:catAx>
        <c:axId val="111111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222222222"/>
        <c:crosses val="autoZero"/>
        <c:auto val="1"/>
        <c:lblAlgn val="ctr"/>
        <c:lblOffset val="100"/>
        <c:noMultiLvlLbl val="1"/>
      </c:catAx>
      <c:valAx>
        <c:axId val="22222222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crossAx val="111111111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doughnutChart>
        <c:varyColors val="1"/>
        <c:ser>
          <c:idx val="0"/>
          <c:order val="0"/>
          <c:tx>
            <c:v>Runtime Deployments</c:v>
          </c:tx>
          <c:invertIfNegative val="0"/>
          <c:cat>
            <c:strLit>
              <c:ptCount val="4"/>
              <c:pt idx="0">
                <c:v>Cloudflare Workers</c:v>
              </c:pt>
              <c:pt idx="1">
                <c:v>Client Browser</c:v>
              </c:pt>
              <c:pt idx="2">
                <c:v>Edge V8</c:v>
              </c:pt>
              <c:pt idx="3">
                <c:v>Node.js</c:v>
              </c:pt>
            </c:strLit>
          </c:cat>
          <c:val>
            <c:numLit>
              <c:formatCode>General</c:formatCode>
              <c:ptCount val="4"/>
              <c:pt idx="0">
                <c:v>45</c:v>
              </c:pt>
              <c:pt idx="1">
                <c:v>30</c:v>
              </c:pt>
              <c:pt idx="2">
                <c:v>15</c:v>
              </c:pt>
              <c:pt idx="3">
                <c:v>10</c:v>
              </c:pt>
            </c:numLit>
          </c:val>
        </c:ser>
        <c:dLbls>
          <c:showLegendKey val="0"/>
          <c:showVal val="0"/>
          <c:showCatName val="0"/>
          <c:showSerName val="0"/>
          <c:showPercent val="1"/>
          <c:showBubbleSize val="0"/>
        </c:dLbls>
        <c:holeSize val="55"/>
      </c:doughnutChart>
    </c:plotArea>
    <c:legend>
      <c:legendPos val="b"/>
      <c:overlay val="0"/>
    </c:legend>
    <c:plotVisOnly val="1"/>
    <c:dispBlanksAs val="gap"/>
    <c:showDLblsOverMax val="0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Ratio Efficiency</c:v>
          </c:tx>
          <c:spPr>
            <a:solidFill>
              <a:srgbClr val="10B981"/>
            </a:solidFill>
          </c:spPr>
          <c:invertIfNegative val="0"/>
          <c:cat>
            <c:strLit>
              <c:ptCount val="4"/>
              <c:pt idx="0">
                <c:v>Raw XML</c:v>
              </c:pt>
              <c:pt idx="1">
                <c:v>Uncompressed ZIP</c:v>
              </c:pt>
              <c:pt idx="2">
                <c:v>Standard Deflate</c:v>
              </c:pt>
              <c:pt idx="3">
                <c:v>fflate Pure TS</c:v>
              </c:pt>
            </c:strLit>
          </c:cat>
          <c:val>
            <c:numLit>
              <c:formatCode>General</c:formatCode>
              <c:ptCount val="4"/>
              <c:pt idx="0">
                <c:v>1</c:v>
              </c:pt>
              <c:pt idx="1">
                <c:v>1.8</c:v>
              </c:pt>
              <c:pt idx="2">
                <c:v>3.4</c:v>
              </c:pt>
              <c:pt idx="3">
                <c:v>4.2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222222222"/>
        <c:crosses val="autoZero"/>
        <c:auto val="1"/>
        <c:lblAlgn val="ctr"/>
        <c:lblOffset val="100"/>
        <c:noMultiLvlLbl val="1"/>
      </c:catAx>
      <c:valAx>
        <c:axId val="22222222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crossAx val="111111111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areaChart>
        <c:grouping val="stacked"/>
        <c:varyColors val="0"/>
        <c:ser>
          <c:idx val="0"/>
          <c:order val="0"/>
          <c:tx>
            <c:v>V8 Heap</c:v>
          </c:tx>
          <c:spPr>
            <a:solidFill>
              <a:srgbClr val="38BDF8"/>
            </a:solidFill>
          </c:spPr>
          <c:invertIfNegative val="0"/>
          <c:cat>
            <c:strLit>
              <c:ptCount val="5"/>
              <c:pt idx="0">
                <c:v>10K</c:v>
              </c:pt>
              <c:pt idx="1">
                <c:v>50K</c:v>
              </c:pt>
              <c:pt idx="2">
                <c:v>250K</c:v>
              </c:pt>
              <c:pt idx="3">
                <c:v>1M</c:v>
              </c:pt>
              <c:pt idx="4">
                <c:v>5M</c:v>
              </c:pt>
            </c:strLit>
          </c:cat>
          <c:val>
            <c:numLit>
              <c:formatCode>General</c:formatCode>
              <c:ptCount val="5"/>
              <c:pt idx="0">
                <c:v>1.2</c:v>
              </c:pt>
              <c:pt idx="1">
                <c:v>2.5</c:v>
              </c:pt>
              <c:pt idx="2">
                <c:v>5.8</c:v>
              </c:pt>
              <c:pt idx="3">
                <c:v>14.2</c:v>
              </c:pt>
              <c:pt idx="4">
                <c:v>28</c:v>
              </c:pt>
            </c:numLit>
          </c:val>
        </c:ser>
        <c:ser>
          <c:idx val="1"/>
          <c:order val="1"/>
          <c:tx>
            <c:v>AST Buffer</c:v>
          </c:tx>
          <c:spPr>
            <a:solidFill>
              <a:srgbClr val="818CF8"/>
            </a:solidFill>
          </c:spPr>
          <c:invertIfNegative val="0"/>
          <c:cat>
            <c:strLit>
              <c:ptCount val="5"/>
              <c:pt idx="0">
                <c:v>10K</c:v>
              </c:pt>
              <c:pt idx="1">
                <c:v>50K</c:v>
              </c:pt>
              <c:pt idx="2">
                <c:v>250K</c:v>
              </c:pt>
              <c:pt idx="3">
                <c:v>1M</c:v>
              </c:pt>
              <c:pt idx="4">
                <c:v>5M</c:v>
              </c:pt>
            </c:strLit>
          </c:cat>
          <c:val>
            <c:numLit>
              <c:formatCode>General</c:formatCode>
              <c:ptCount val="5"/>
              <c:pt idx="0">
                <c:v>0.8</c:v>
              </c:pt>
              <c:pt idx="1">
                <c:v>1.6</c:v>
              </c:pt>
              <c:pt idx="2">
                <c:v>3.9</c:v>
              </c:pt>
              <c:pt idx="3">
                <c:v>9.4</c:v>
              </c:pt>
              <c:pt idx="4">
                <c:v>18.5</c:v>
              </c:pt>
            </c:numLit>
          </c:val>
        </c:ser>
        <c:ser>
          <c:idx val="2"/>
          <c:order val="2"/>
          <c:tx>
            <c:v>Deflate Stream</c:v>
          </c:tx>
          <c:spPr>
            <a:solidFill>
              <a:srgbClr val="34D399"/>
            </a:solidFill>
          </c:spPr>
          <c:invertIfNegative val="0"/>
          <c:cat>
            <c:strLit>
              <c:ptCount val="5"/>
              <c:pt idx="0">
                <c:v>10K</c:v>
              </c:pt>
              <c:pt idx="1">
                <c:v>50K</c:v>
              </c:pt>
              <c:pt idx="2">
                <c:v>250K</c:v>
              </c:pt>
              <c:pt idx="3">
                <c:v>1M</c:v>
              </c:pt>
              <c:pt idx="4">
                <c:v>5M</c:v>
              </c:pt>
            </c:strLit>
          </c:cat>
          <c:val>
            <c:numLit>
              <c:formatCode>General</c:formatCode>
              <c:ptCount val="5"/>
              <c:pt idx="0">
                <c:v>0.4</c:v>
              </c:pt>
              <c:pt idx="1">
                <c:v>0.9</c:v>
              </c:pt>
              <c:pt idx="2">
                <c:v>2.1</c:v>
              </c:pt>
              <c:pt idx="3">
                <c:v>5.2</c:v>
              </c:pt>
              <c:pt idx="4">
                <c:v>10.1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1111111"/>
        <c:axId val="222222222"/>
      </c:areaChart>
      <c:catAx>
        <c:axId val="111111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475569"/>
            </a:solidFill>
          </a:ln>
        </c:spPr>
        <c:txPr>
          <a:bodyPr/>
          <a:lstStyle/>
          <a:p>
            <a:pPr>
              <a:defRPr>
                <a:solidFill>
                  <a:srgbClr val="CBD5E1"/>
                </a:solidFill>
              </a:defRPr>
            </a:pPr>
            <a:endParaRPr/>
          </a:p>
        </c:txPr>
        <c:crossAx val="222222222"/>
        <c:crosses val="autoZero"/>
        <c:auto val="1"/>
        <c:lblAlgn val="ctr"/>
        <c:lblOffset val="100"/>
        <c:noMultiLvlLbl val="1"/>
      </c:catAx>
      <c:valAx>
        <c:axId val="222222222"/>
        <c:scaling>
          <c:orientation val="minMax"/>
        </c:scaling>
        <c:delete val="0"/>
        <c:axPos val="l"/>
        <c:majorGridlines>
          <c:spPr>
            <a:ln w="9525">
              <a:solidFill>
                <a:srgbClr val="334155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475569"/>
            </a:solidFill>
          </a:ln>
        </c:spPr>
        <c:txPr>
          <a:bodyPr/>
          <a:lstStyle/>
          <a:p>
            <a:pPr>
              <a:defRPr>
                <a:solidFill>
                  <a:srgbClr val="CBD5E1"/>
                </a:solidFill>
              </a:defRPr>
            </a:pPr>
            <a:endParaRPr/>
          </a:p>
        </c:txPr>
        <c:crossAx val="111111111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>
              <a:solidFill>
                <a:srgbClr val="F1F5F9"/>
              </a:solidFill>
            </a:defRPr>
          </a:pPr>
          <a:endParaRPr/>
        </a:p>
      </c:txPr>
    </c:legend>
    <c:plotVisOnly val="1"/>
    <c:dispBlanksAs val="gap"/>
    <c:showDLblsOverMax val="0"/>
  </c:char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pieChart>
        <c:varyColors val="1"/>
        <c:ser>
          <c:idx val="0"/>
          <c:order val="0"/>
          <c:tx>
            <c:v>Package Share</c:v>
          </c:tx>
          <c:invertIfNegative val="0"/>
          <c:dPt>
            <c:idx val="0"/>
            <c:spPr>
              <a:solidFill>
                <a:srgbClr val="38BDF8"/>
              </a:solidFill>
            </c:spPr>
          </c:dPt>
          <c:dPt>
            <c:idx val="1"/>
            <c:spPr>
              <a:solidFill>
                <a:srgbClr val="818CF8"/>
              </a:solidFill>
            </c:spPr>
          </c:dPt>
          <c:dPt>
            <c:idx val="2"/>
            <c:spPr>
              <a:solidFill>
                <a:srgbClr val="34D399"/>
              </a:solidFill>
            </c:spPr>
          </c:dPt>
          <c:dPt>
            <c:idx val="3"/>
            <c:spPr>
              <a:solidFill>
                <a:srgbClr val="FBBF24"/>
              </a:solidFill>
            </c:spPr>
          </c:dPt>
          <c:cat>
            <c:strLit>
              <c:ptCount val="4"/>
              <c:pt idx="0">
                <c:v>@pptx-reader</c:v>
              </c:pt>
              <c:pt idx="1">
                <c:v>@pptx-writer</c:v>
              </c:pt>
              <c:pt idx="2">
                <c:v>@pptx</c:v>
              </c:pt>
              <c:pt idx="3">
                <c:v>@pptx-core</c:v>
              </c:pt>
            </c:strLit>
          </c:cat>
          <c:val>
            <c:numLit>
              <c:formatCode>General</c:formatCode>
              <c:ptCount val="4"/>
              <c:pt idx="0">
                <c:v>38</c:v>
              </c:pt>
              <c:pt idx="1">
                <c:v>32</c:v>
              </c:pt>
              <c:pt idx="2">
                <c:v>18</c:v>
              </c:pt>
              <c:pt idx="3">
                <c:v>12</c:v>
              </c:pt>
            </c:numLit>
          </c:val>
        </c:ser>
        <c:dLbls>
          <c:showLegendKey val="0"/>
          <c:showVal val="0"/>
          <c:showCatName val="0"/>
          <c:showSerName val="0"/>
          <c:showPercent val="1"/>
          <c:showBubbleSize val="0"/>
        </c:dLbls>
      </c:pieChart>
    </c:plotArea>
    <c:legend>
      <c:legendPos val="b"/>
      <c:overlay val="0"/>
      <c:txPr>
        <a:bodyPr/>
        <a:lstStyle/>
        <a:p>
          <a:pPr>
            <a:defRPr>
              <a:solidFill>
                <a:srgbClr val="F1F5F9"/>
              </a:solidFill>
            </a:defRPr>
          </a:pPr>
          <a:endParaRPr/>
        </a:p>
      </c:txPr>
    </c:legend>
    <c:plotVisOnly val="1"/>
    <c:dispBlanksAs val="gap"/>
    <c:showDLblsOverMax val="0"/>
  </c:char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v>@hokkyss/pptx</c:v>
          </c:tx>
          <c:spPr>
            <a:ln w="25400">
              <a:solidFill>
                <a:srgbClr val="34D399"/>
              </a:solidFill>
            </a:ln>
          </c:spPr>
          <c:invertIfNegative val="0"/>
          <c:cat>
            <c:strLit>
              <c:ptCount val="6"/>
              <c:pt idx="0">
                <c:v>Throughput</c:v>
              </c:pt>
              <c:pt idx="1">
                <c:v>Type Safety</c:v>
              </c:pt>
              <c:pt idx="2">
                <c:v>Zero Deps</c:v>
              </c:pt>
              <c:pt idx="3">
                <c:v>Spec Fidelity</c:v>
              </c:pt>
              <c:pt idx="4">
                <c:v>Bundle Size</c:v>
              </c:pt>
              <c:pt idx="5">
                <c:v>Cold Start</c:v>
              </c:pt>
            </c:strLit>
          </c:cat>
          <c:val>
            <c:numLit>
              <c:formatCode>General</c:formatCode>
              <c:ptCount val="6"/>
              <c:pt idx="0">
                <c:v>98</c:v>
              </c:pt>
              <c:pt idx="1">
                <c:v>100</c:v>
              </c:pt>
              <c:pt idx="2">
                <c:v>100</c:v>
              </c:pt>
              <c:pt idx="3">
                <c:v>99</c:v>
              </c:pt>
              <c:pt idx="4">
                <c:v>95</c:v>
              </c:pt>
              <c:pt idx="5">
                <c:v>99</c:v>
              </c:pt>
            </c:numLit>
          </c:val>
        </c:ser>
        <c:ser>
          <c:idx val="1"/>
          <c:order val="1"/>
          <c:tx>
            <c:v>Competitor A</c:v>
          </c:tx>
          <c:spPr>
            <a:ln w="25400">
              <a:solidFill>
                <a:srgbClr val="F43F5E"/>
              </a:solidFill>
            </a:ln>
          </c:spPr>
          <c:invertIfNegative val="0"/>
          <c:cat>
            <c:strLit>
              <c:ptCount val="6"/>
              <c:pt idx="0">
                <c:v>Throughput</c:v>
              </c:pt>
              <c:pt idx="1">
                <c:v>Type Safety</c:v>
              </c:pt>
              <c:pt idx="2">
                <c:v>Zero Deps</c:v>
              </c:pt>
              <c:pt idx="3">
                <c:v>Spec Fidelity</c:v>
              </c:pt>
              <c:pt idx="4">
                <c:v>Bundle Size</c:v>
              </c:pt>
              <c:pt idx="5">
                <c:v>Cold Start</c:v>
              </c:pt>
            </c:strLit>
          </c:cat>
          <c:val>
            <c:numLit>
              <c:formatCode>General</c:formatCode>
              <c:ptCount val="6"/>
              <c:pt idx="0">
                <c:v>65</c:v>
              </c:pt>
              <c:pt idx="1">
                <c:v>70</c:v>
              </c:pt>
              <c:pt idx="2">
                <c:v>45</c:v>
              </c:pt>
              <c:pt idx="3">
                <c:v>80</c:v>
              </c:pt>
              <c:pt idx="4">
                <c:v>60</c:v>
              </c:pt>
              <c:pt idx="5">
                <c:v>55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1111111"/>
        <c:axId val="222222222"/>
      </c:radarChart>
      <c:catAx>
        <c:axId val="111111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475569"/>
            </a:solidFill>
          </a:ln>
        </c:spPr>
        <c:txPr>
          <a:bodyPr/>
          <a:lstStyle/>
          <a:p>
            <a:pPr>
              <a:defRPr>
                <a:solidFill>
                  <a:srgbClr val="CBD5E1"/>
                </a:solidFill>
              </a:defRPr>
            </a:pPr>
            <a:endParaRPr/>
          </a:p>
        </c:txPr>
        <c:crossAx val="222222222"/>
        <c:crosses val="autoZero"/>
        <c:auto val="1"/>
        <c:lblAlgn val="ctr"/>
        <c:lblOffset val="100"/>
        <c:noMultiLvlLbl val="1"/>
      </c:catAx>
      <c:valAx>
        <c:axId val="222222222"/>
        <c:scaling>
          <c:orientation val="minMax"/>
        </c:scaling>
        <c:delete val="0"/>
        <c:axPos val="l"/>
        <c:majorGridlines>
          <c:spPr>
            <a:ln w="9525">
              <a:solidFill>
                <a:srgbClr val="334155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475569"/>
            </a:solidFill>
          </a:ln>
        </c:spPr>
        <c:txPr>
          <a:bodyPr/>
          <a:lstStyle/>
          <a:p>
            <a:pPr>
              <a:defRPr>
                <a:solidFill>
                  <a:srgbClr val="CBD5E1"/>
                </a:solidFill>
              </a:defRPr>
            </a:pPr>
            <a:endParaRPr/>
          </a:p>
        </c:txPr>
        <c:crossAx val="111111111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>
              <a:solidFill>
                <a:srgbClr val="F1F5F9"/>
              </a:solidFill>
            </a:defRPr>
          </a:pPr>
          <a:endParaRPr/>
        </a:p>
      </c:txPr>
    </c:legend>
    <c:plotVisOnly val="1"/>
    <c:dispBlanksAs val="gap"/>
    <c:showDLblsOverMax val="0"/>
  </c:char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Gzip Size (KB)</c:v>
          </c:tx>
          <c:spPr>
            <a:solidFill>
              <a:srgbClr val="38BDF8"/>
            </a:solidFill>
          </c:spPr>
          <c:invertIfNegative val="0"/>
          <c:cat>
            <c:strLit>
              <c:ptCount val="4"/>
              <c:pt idx="0">
                <c:v>@pptx-core</c:v>
              </c:pt>
              <c:pt idx="1">
                <c:v>@pptx-reader</c:v>
              </c:pt>
              <c:pt idx="2">
                <c:v>@pptx-writer</c:v>
              </c:pt>
              <c:pt idx="3">
                <c:v>Full SDK</c:v>
              </c:pt>
            </c:strLit>
          </c:cat>
          <c:val>
            <c:numLit>
              <c:formatCode>General</c:formatCode>
              <c:ptCount val="4"/>
              <c:pt idx="0">
                <c:v>0.44</c:v>
              </c:pt>
              <c:pt idx="1">
                <c:v>25.83</c:v>
              </c:pt>
              <c:pt idx="2">
                <c:v>31.69</c:v>
              </c:pt>
              <c:pt idx="3">
                <c:v>48.93</c:v>
              </c:pt>
            </c:numLit>
          </c:val>
        </c:ser>
        <c:ser>
          <c:idx val="1"/>
          <c:order val="1"/>
          <c:tx>
            <c:v>Brotli Size (KB)</c:v>
          </c:tx>
          <c:spPr>
            <a:solidFill>
              <a:srgbClr val="10B981"/>
            </a:solidFill>
          </c:spPr>
          <c:invertIfNegative val="0"/>
          <c:cat>
            <c:strLit>
              <c:ptCount val="4"/>
              <c:pt idx="0">
                <c:v>@pptx-core</c:v>
              </c:pt>
              <c:pt idx="1">
                <c:v>@pptx-reader</c:v>
              </c:pt>
              <c:pt idx="2">
                <c:v>@pptx-writer</c:v>
              </c:pt>
              <c:pt idx="3">
                <c:v>Full SDK</c:v>
              </c:pt>
            </c:strLit>
          </c:cat>
          <c:val>
            <c:numLit>
              <c:formatCode>General</c:formatCode>
              <c:ptCount val="4"/>
              <c:pt idx="0">
                <c:v>0.38</c:v>
              </c:pt>
              <c:pt idx="1">
                <c:v>22.89</c:v>
              </c:pt>
              <c:pt idx="2">
                <c:v>27.74</c:v>
              </c:pt>
              <c:pt idx="3">
                <c:v>43.32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94A3B8"/>
            </a:solidFill>
          </a:ln>
        </c:spPr>
        <c:txPr>
          <a:bodyPr/>
          <a:lstStyle/>
          <a:p>
            <a:pPr>
              <a:defRPr>
                <a:solidFill>
                  <a:srgbClr val="CBD5E1"/>
                </a:solidFill>
              </a:defRPr>
            </a:pPr>
            <a:endParaRPr/>
          </a:p>
        </c:txPr>
        <c:crossAx val="222222222"/>
        <c:crosses val="autoZero"/>
        <c:auto val="1"/>
        <c:lblAlgn val="ctr"/>
        <c:lblOffset val="100"/>
        <c:noMultiLvlLbl val="1"/>
      </c:catAx>
      <c:valAx>
        <c:axId val="222222222"/>
        <c:scaling>
          <c:orientation val="minMax"/>
        </c:scaling>
        <c:delete val="0"/>
        <c:axPos val="l"/>
        <c:majorGridlines>
          <c:spPr>
            <a:ln w="9525">
              <a:solidFill>
                <a:srgbClr val="334155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94A3B8"/>
            </a:solidFill>
          </a:ln>
        </c:spPr>
        <c:txPr>
          <a:bodyPr/>
          <a:lstStyle/>
          <a:p>
            <a:pPr>
              <a:defRPr>
                <a:solidFill>
                  <a:srgbClr val="CBD5E1"/>
                </a:solidFill>
              </a:defRPr>
            </a:pPr>
            <a:endParaRPr/>
          </a:p>
        </c:txPr>
        <c:crossAx val="111111111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>
              <a:solidFill>
                <a:srgbClr val="CBD5E1"/>
              </a:solidFill>
            </a:defRPr>
          </a:pPr>
          <a:endParaRPr/>
        </a:p>
      </c:txPr>
    </c:legend>
    <c:plotVisOnly val="1"/>
    <c:dispBlanksAs val="gap"/>
    <c:showDLblsOverMax val="0"/>
  </c:chart>
</c:chartSpace>
</file>

<file path=ppt/notesMasters/_rels/notesMaster1.xml.rels><?xml version="1.0" encoding="UTF-8" standalone="yes"?>
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>
          <a:xfrm>
            <a:off x="685800" y="6858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idx="1" type="body"/>
          </p:nvPr>
        </p:nvSpPr>
        <p:spPr>
          <a:xfrm>
            <a:off x="685800" y="4114800"/>
            <a:ext cx="54864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
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3.xml.rels><?xml version="1.0" encoding="UTF-8" standalone="yes"?>
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4.xml.rels><?xml version="1.0" encoding="UTF-8" standalone="yes"?>
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5.xml.rels><?xml version="1.0" encoding="UTF-8" standalone="yes"?>
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6.xml.rels><?xml version="1.0" encoding="UTF-8" standalone="yes"?>
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7.xml.rels><?xml version="1.0" encoding="UTF-8" standalone="yes"?>
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8.xml.rels><?xml version="1.0" encoding="UTF-8" standalone="yes"?>
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9.xml.rels><?xml version="1.0" encoding="UTF-8" standalone="yes"?>
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0.xml.rels><?xml version="1.0" encoding="UTF-8" standalone="yes"?>
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1.xml.rels><?xml version="1.0" encoding="UTF-8" standalone="yes"?>
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2.xml.rels><?xml version="1.0" encoding="UTF-8" standalone="yes"?>
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idx="1" type="body"/>
          </p:nvPr>
        </p:nvSpPr>
        <p:spPr/>
        <p:txBody>
          <a:bodyPr anchor="t"/>
          <a:lstStyle/>
          <a:p>
            <a:pPr algn="l" lvl="0"/>
            <a:r>
              <a:rPr b="1">
                <a:latin typeface="+mn-lt"/>
                <a:cs typeface="+mn-lt"/>
              </a:rPr>
              <a:t>Opening Keynote: </a:t>
            </a:r>
            <a:r>
              <a:rPr b="1" u="sng">
                <a:latin typeface="+mn-lt"/>
                <a:cs typeface="+mn-lt"/>
              </a:rPr>
              <a:t>Modern OpenXML PPTX Parsing &amp; Compilation Engine</a:t>
            </a:r>
          </a:p>
          <a:p>
            <a:pPr algn="l" lvl="0"/>
            <a:r>
              <a:rPr>
                <a:latin typeface="+mn-lt"/>
                <a:cs typeface="+mn-lt"/>
              </a:rPr>
              <a:t>Key architectural pillars for the presenter:</a:t>
            </a:r>
          </a:p>
          <a:p>
            <a:pPr algn="l" lvl="0" marL="152400" indent="-152400">
              <a:buChar char="•"/>
            </a:pPr>
            <a:r>
              <a:rPr i="1">
                <a:latin typeface="+mn-lt"/>
                <a:cs typeface="+mn-lt"/>
              </a:rPr>
              <a:t>Emphasize </a:t>
            </a:r>
            <a:r>
              <a:rPr b="1" u="sng">
                <a:latin typeface="+mn-lt"/>
                <a:cs typeface="+mn-lt"/>
              </a:rPr>
              <a:t>100% isomorphic execution</a:t>
            </a:r>
            <a:r>
              <a:rPr>
                <a:latin typeface="+mn-lt"/>
                <a:cs typeface="+mn-lt"/>
              </a:rPr>
              <a:t> across modern edge runtimes.</a:t>
            </a:r>
          </a:p>
          <a:p>
            <a:pPr algn="l" lvl="1" marL="381000" indent="-152400">
              <a:buChar char="•"/>
            </a:pPr>
            <a:r>
              <a:rPr>
                <a:latin typeface="+mn-lt"/>
                <a:cs typeface="+mn-lt"/>
              </a:rPr>
              <a:t>Cloudflare Workers (V8 isolates with zero Node.js native bindings)</a:t>
            </a:r>
          </a:p>
          <a:p>
            <a:pPr algn="l" lvl="1" marL="381000" indent="-152400">
              <a:buChar char="•"/>
            </a:pPr>
            <a:r>
              <a:rPr>
                <a:latin typeface="+mn-lt"/>
                <a:cs typeface="+mn-lt"/>
              </a:rPr>
              <a:t>Browser environments (client-side export &amp; live preview)</a:t>
            </a:r>
          </a:p>
          <a:p>
            <a:pPr algn="l" lvl="0" marL="152400" indent="-152400">
              <a:buChar char="•"/>
            </a:pPr>
            <a:r>
              <a:rPr>
                <a:latin typeface="+mn-lt"/>
                <a:cs typeface="+mn-lt"/>
              </a:rPr>
              <a:t>Zero native dependencies: </a:t>
            </a:r>
            <a:r>
              <a:rPr strike="sngStrike">
                <a:latin typeface="+mn-lt"/>
                <a:cs typeface="+mn-lt"/>
              </a:rPr>
              <a:t>no python-pptx, no libreoffice</a:t>
            </a:r>
            <a:r>
              <a:rPr>
                <a:latin typeface="+mn-lt"/>
                <a:cs typeface="+mn-lt"/>
              </a:rPr>
              <a:t> — 100% pure TypeScript codecs.</a:t>
            </a:r>
          </a:p>
          <a:p>
            <a:pPr algn="l" lvl="0" marL="203200" indent="-203200">
              <a:buAutoNum type="arabicPeriod"/>
            </a:pPr>
            <a:r>
              <a:rPr b="1">
                <a:latin typeface="+mn-lt"/>
                <a:cs typeface="+mn-lt"/>
              </a:rPr>
              <a:t>Deep OpenXML fidelity &amp; layer composition</a:t>
            </a:r>
          </a:p>
          <a:p>
            <a:pPr algn="l" lvl="0" marL="203200" indent="-203200">
              <a:buAutoNum type="arabicPeriod"/>
            </a:pPr>
            <a:r>
              <a:rPr b="1">
                <a:latin typeface="+mn-lt"/>
                <a:cs typeface="+mn-lt"/>
              </a:rPr>
              <a:t>Strongly typed units (Inches, Points, Degrees, EMU)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idx="1" type="body"/>
          </p:nvPr>
        </p:nvSpPr>
        <p:spPr/>
        <p:txBody>
          <a:bodyPr anchor="t"/>
          <a:lstStyle/>
          <a:p>
            <a:pPr algn="l" lvl="0"/>
            <a:r>
              <a:rPr b="1">
                <a:latin typeface="+mn-lt"/>
                <a:cs typeface="+mn-lt"/>
              </a:rPr>
              <a:t>Media Integration Keynote: </a:t>
            </a:r>
            <a:r>
              <a:rPr u="sng">
                <a:latin typeface="+mn-lt"/>
                <a:cs typeface="+mn-lt"/>
              </a:rPr>
              <a:t>Deterministic Binary Packaging</a:t>
            </a:r>
          </a:p>
          <a:p>
            <a:pPr algn="l" lvl="0" marL="152400" indent="-152400">
              <a:buChar char="•"/>
            </a:pPr>
            <a:r>
              <a:rPr>
                <a:latin typeface="+mn-lt"/>
                <a:cs typeface="+mn-lt"/>
              </a:rPr>
              <a:t>Binary streams are compressed with fflate without intermediate disk I/O.</a:t>
            </a:r>
          </a:p>
          <a:p>
            <a:pPr algn="l" lvl="0" marL="152400" indent="-152400">
              <a:buChar char="•"/>
            </a:pPr>
            <a:r>
              <a:rPr>
                <a:latin typeface="+mn-lt"/>
                <a:cs typeface="+mn-lt"/>
              </a:rPr>
              <a:t>All media elements automatically link to ppt/media/ and content types.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idx="1" type="body"/>
          </p:nvPr>
        </p:nvSpPr>
        <p:spPr/>
        <p:txBody>
          <a:bodyPr anchor="t"/>
          <a:lstStyle/>
          <a:p>
            <a:pPr algn="l" lvl="0"/>
            <a:r>
              <a:rPr b="1" u="sng">
                <a:latin typeface="+mn-lt"/>
                <a:cs typeface="+mn-lt"/>
              </a:rPr>
              <a:t>Presenter Notes — Multi-Level Hierarchy &amp; PowerPoint Parity: </a:t>
            </a:r>
          </a:p>
          <a:p>
            <a:pPr algn="l" lvl="0" marL="152400" indent="-152400">
              <a:buChar char="•"/>
            </a:pPr>
            <a:r>
              <a:rPr>
                <a:latin typeface="+mn-lt"/>
                <a:cs typeface="+mn-lt"/>
              </a:rPr>
              <a:t>Shift+Enter behavior: serialized as &lt;a:br&gt; within same &lt;a:p&gt;, preserving bullet alignment on multi-line text.</a:t>
            </a:r>
          </a:p>
          <a:p>
            <a:pPr algn="l" lvl="0" marL="152400" indent="-152400">
              <a:buChar char="•"/>
            </a:pPr>
            <a:r>
              <a:rPr>
                <a:latin typeface="+mn-lt"/>
                <a:cs typeface="+mn-lt"/>
              </a:rPr>
              <a:t>Tab / Shift+Tab levels (0-3): hierarchical indentation matching PowerPoint desktop behavior.</a:t>
            </a:r>
          </a:p>
          <a:p>
            <a:pPr algn="l" lvl="1" marL="381000" indent="-152400">
              <a:buChar char="•"/>
            </a:pPr>
            <a:r>
              <a:rPr>
                <a:latin typeface="+mn-lt"/>
                <a:cs typeface="+mn-lt"/>
              </a:rPr>
              <a:t>Level 0: root indent (0" margin)</a:t>
            </a:r>
          </a:p>
          <a:p>
            <a:pPr algn="l" lvl="1" marL="381000" indent="-152400">
              <a:buChar char="•"/>
            </a:pPr>
            <a:r>
              <a:rPr>
                <a:latin typeface="+mn-lt"/>
                <a:cs typeface="+mn-lt"/>
              </a:rPr>
              <a:t>Level 1: 0.25" margin</a:t>
            </a:r>
          </a:p>
          <a:p>
            <a:pPr algn="l" lvl="2" marL="609600" indent="-152400">
              <a:buChar char="•"/>
            </a:pPr>
            <a:r>
              <a:rPr>
                <a:latin typeface="+mn-lt"/>
                <a:cs typeface="+mn-lt"/>
              </a:rPr>
              <a:t>Level 2: 0.50" margin</a:t>
            </a:r>
          </a:p>
          <a:p>
            <a:pPr algn="l" lvl="3" marL="838200" indent="-152400">
              <a:buChar char="•"/>
            </a:pPr>
            <a:r>
              <a:rPr>
                <a:latin typeface="+mn-lt"/>
                <a:cs typeface="+mn-lt"/>
              </a:rPr>
              <a:t>Level 3: 0.75" margin</a:t>
            </a:r>
          </a:p>
          <a:p>
            <a:pPr algn="l" lvl="0" marL="203200" indent="-203200">
              <a:buAutoNum type="arabicPeriod"/>
            </a:pPr>
            <a:r>
              <a:rPr>
                <a:latin typeface="+mn-lt"/>
                <a:cs typeface="+mn-lt"/>
              </a:rPr>
              <a:t>Clean slide master inheritance: when bullet is not overridden, marL/indent are not auto-injected, allowing theme inheritance.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idx="1" type="body"/>
          </p:nvPr>
        </p:nvSpPr>
        <p:spPr/>
        <p:txBody>
          <a:bodyPr anchor="t"/>
          <a:lstStyle/>
          <a:p>
            <a:pPr algn="l" lvl="0"/>
            <a:r>
              <a:rPr b="1" u="sng">
                <a:latin typeface="+mn-lt"/>
                <a:cs typeface="+mn-lt"/>
              </a:rPr>
              <a:t>Presenter Notes — Native Content Placeholder: </a:t>
            </a:r>
          </a:p>
          <a:p>
            <a:pPr algn="l" lvl="0" marL="152400" indent="-152400">
              <a:buChar char="•"/>
            </a:pPr>
            <a:r>
              <a:rPr>
                <a:latin typeface="+mn-lt"/>
                <a:cs typeface="+mn-lt"/>
              </a:rPr>
              <a:t>This element is serialized as &lt;p:nvPr&gt;&lt;p:ph idx="1"/&gt;&lt;/p:nvPr&gt; — a real PowerPoint Content Placeholder.</a:t>
            </a:r>
          </a:p>
          <a:p>
            <a:pPr algn="l" lvl="0" marL="152400" indent="-152400">
              <a:buChar char="•"/>
            </a:pPr>
            <a:r>
              <a:rPr>
                <a:latin typeface="+mn-lt"/>
                <a:cs typeface="+mn-lt"/>
              </a:rPr>
              <a:t>Unlike a normal shape or floating textbox, PowerPoint desktop recognizes this as the primary content box.</a:t>
            </a:r>
          </a:p>
          <a:p>
            <a:pPr algn="l" lvl="1" marL="381000" indent="-152400">
              <a:buChar char="•"/>
            </a:pPr>
            <a:r>
              <a:rPr>
                <a:latin typeface="+mn-lt"/>
                <a:cs typeface="+mn-lt"/>
              </a:rPr>
              <a:t>Shift+Enter breaks (&lt;a:br&gt;) allow multiple sentences per bullet point with perfect visual alignment.</a:t>
            </a:r>
          </a:p>
          <a:p>
            <a:pPr algn="l" lvl="1" marL="381000" indent="-152400">
              <a:buChar char="•"/>
            </a:pPr>
            <a:r>
              <a:rPr>
                <a:latin typeface="+mn-lt"/>
                <a:cs typeface="+mn-lt"/>
              </a:rPr>
              <a:t>Levels 0 through 3 cleanly follow Master &lt;p:bodyStyle&gt; formatting.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idx="1" type="body"/>
          </p:nvPr>
        </p:nvSpPr>
        <p:spPr/>
        <p:txBody>
          <a:bodyPr anchor="t"/>
          <a:lstStyle/>
          <a:p>
            <a:pPr algn="l" lvl="0"/>
            <a:r>
              <a:rPr b="1" u="sng">
                <a:latin typeface="+mn-lt"/>
                <a:cs typeface="+mn-lt"/>
              </a:rPr>
              <a:t>Presenter Notes — Non-Bulleted Hierarchical Indentation: </a:t>
            </a:r>
          </a:p>
          <a:p>
            <a:pPr algn="l" lvl="0" marL="152400" indent="-152400">
              <a:buChar char="•"/>
            </a:pPr>
            <a:r>
              <a:rPr>
                <a:latin typeface="+mn-lt"/>
                <a:cs typeface="+mn-lt"/>
              </a:rPr>
              <a:t>Demonstrates { level: N, bullet: false } which emits &lt;a:buNone/&gt; with &lt;a:pPr lvl="N"&gt;.</a:t>
            </a:r>
          </a:p>
          <a:p>
            <a:pPr algn="l" lvl="0" marL="152400" indent="-152400">
              <a:buChar char="•"/>
            </a:pPr>
            <a:r>
              <a:rPr>
                <a:latin typeface="+mn-lt"/>
                <a:cs typeface="+mn-lt"/>
              </a:rPr>
              <a:t>Enables block quotes, explanatory notes, and code blocks that indent hierarchically under bullets without rendering a dot.</a:t>
            </a:r>
          </a:p>
          <a:p>
            <a:pPr algn="l" lvl="1" marL="381000" indent="-152400">
              <a:buChar char="•"/>
            </a:pPr>
            <a:r>
              <a:rPr>
                <a:latin typeface="+mn-lt"/>
                <a:cs typeface="+mn-lt"/>
              </a:rPr>
              <a:t>Tab and Shift+Tab continue to promote and demote indentation depth seamlessly.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idx="1" type="body"/>
          </p:nvPr>
        </p:nvSpPr>
        <p:spPr/>
        <p:txBody>
          <a:bodyPr anchor="t"/>
          <a:lstStyle/>
          <a:p>
            <a:pPr algn="l" lvl="0"/>
            <a:r>
              <a:rPr b="1">
                <a:latin typeface="+mn-lt"/>
                <a:cs typeface="+mn-lt"/>
              </a:rPr>
              <a:t>Architecture Deep Dive: </a:t>
            </a:r>
            <a:r>
              <a:rPr u="sng">
                <a:latin typeface="+mn-lt"/>
                <a:cs typeface="+mn-lt"/>
              </a:rPr>
              <a:t>Composite Groups &amp; Vector Connectors</a:t>
            </a:r>
          </a:p>
          <a:p>
            <a:pPr algn="l" lvl="0" marL="152400" indent="-152400">
              <a:buChar char="•"/>
            </a:pPr>
            <a:r>
              <a:rPr>
                <a:latin typeface="+mn-lt"/>
                <a:cs typeface="+mn-lt"/>
              </a:rPr>
              <a:t>addGroup wraps child elements inside &lt;p:grpSp&gt; with coordinated bounding transforms.</a:t>
            </a:r>
          </a:p>
          <a:p>
            <a:pPr algn="l" lvl="0" marL="152400" indent="-152400">
              <a:buChar char="•"/>
            </a:pPr>
            <a:r>
              <a:rPr>
                <a:latin typeface="+mn-lt"/>
                <a:cs typeface="+mn-lt"/>
              </a:rPr>
              <a:t>addConnector emits &lt;p:cxnSp&gt; connecting arbitrary coordinates across slide elements.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idx="1" type="body"/>
          </p:nvPr>
        </p:nvSpPr>
        <p:spPr/>
        <p:txBody>
          <a:bodyPr anchor="t"/>
          <a:lstStyle/>
          <a:p>
            <a:pPr algn="l" lvl="0"/>
            <a:r>
              <a:rPr b="1">
                <a:latin typeface="+mn-lt"/>
                <a:cs typeface="+mn-lt"/>
              </a:rPr>
              <a:t>Chart Keynote: </a:t>
            </a:r>
            <a:r>
              <a:rPr u="sng">
                <a:latin typeface="+mn-lt"/>
                <a:cs typeface="+mn-lt"/>
              </a:rPr>
              <a:t>Native OpenXML DrawingML Charts</a:t>
            </a:r>
          </a:p>
          <a:p>
            <a:pPr algn="l" lvl="0" marL="152400" indent="-152400">
              <a:buChar char="•"/>
            </a:pPr>
            <a:r>
              <a:rPr>
                <a:latin typeface="+mn-lt"/>
                <a:cs typeface="+mn-lt"/>
              </a:rPr>
              <a:t>Emits standard &lt;c:chartSpace&gt; parts under ppt/charts/chartN.xml.</a:t>
            </a:r>
          </a:p>
          <a:p>
            <a:pPr algn="l" lvl="0" marL="152400" indent="-152400">
              <a:buChar char="•"/>
            </a:pPr>
            <a:r>
              <a:rPr>
                <a:latin typeface="+mn-lt"/>
                <a:cs typeface="+mn-lt"/>
              </a:rPr>
              <a:t>Fully editable in PowerPoint without external Excel binary dependencies.</a:t>
            </a:r>
          </a:p>
          <a:p>
            <a:pPr algn="l" lvl="0" marL="152400" indent="-152400">
              <a:buChar char="•"/>
            </a:pPr>
            <a:r>
              <a:rPr>
                <a:latin typeface="+mn-lt"/>
                <a:cs typeface="+mn-lt"/>
              </a:rPr>
              <a:t>Custom series color fills and categorical string/number axis mapping.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idx="1" type="body"/>
          </p:nvPr>
        </p:nvSpPr>
        <p:spPr/>
        <p:txBody>
          <a:bodyPr anchor="t"/>
          <a:lstStyle/>
          <a:p>
            <a:pPr algn="l" lvl="0"/>
            <a:r>
              <a:rPr b="1">
                <a:latin typeface="+mn-lt"/>
                <a:cs typeface="+mn-lt"/>
              </a:rPr>
              <a:t>Chart Suite Overview: </a:t>
            </a:r>
            <a:r>
              <a:rPr u="sng">
                <a:latin typeface="+mn-lt"/>
                <a:cs typeface="+mn-lt"/>
              </a:rPr>
              <a:t>Line, Doughnut &amp; Horizontal Bar Support</a:t>
            </a:r>
          </a:p>
          <a:p>
            <a:pPr algn="l" lvl="0" marL="152400" indent="-152400">
              <a:buChar char="•"/>
            </a:pPr>
            <a:r>
              <a:rPr>
                <a:latin typeface="+mn-lt"/>
                <a:cs typeface="+mn-lt"/>
              </a:rPr>
              <a:t>Smooth spline curves for continuous time-series metrics.</a:t>
            </a:r>
          </a:p>
          <a:p>
            <a:pPr algn="l" lvl="0" marL="152400" indent="-152400">
              <a:buChar char="•"/>
            </a:pPr>
            <a:r>
              <a:rPr>
                <a:latin typeface="+mn-lt"/>
                <a:cs typeface="+mn-lt"/>
              </a:rPr>
              <a:t>Customizable doughnut hole radii and automated data label percentages.</a:t>
            </a:r>
          </a:p>
          <a:p>
            <a:pPr algn="l" lvl="0" marL="152400" indent="-152400">
              <a:buChar char="•"/>
            </a:pPr>
            <a:r>
              <a:rPr>
                <a:latin typeface="+mn-lt"/>
                <a:cs typeface="+mn-lt"/>
              </a:rPr>
              <a:t>Horizontal bar orientation for ranked ordinal comparisons.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idx="1" type="body"/>
          </p:nvPr>
        </p:nvSpPr>
        <p:spPr/>
        <p:txBody>
          <a:bodyPr anchor="t"/>
          <a:lstStyle/>
          <a:p>
            <a:pPr algn="l" lvl="0"/>
            <a:r>
              <a:rPr b="1">
                <a:latin typeface="+mn-lt"/>
                <a:cs typeface="+mn-lt"/>
              </a:rPr>
              <a:t>Analytical Topology Keynote: </a:t>
            </a:r>
            <a:r>
              <a:rPr u="sng">
                <a:latin typeface="+mn-lt"/>
                <a:cs typeface="+mn-lt"/>
              </a:rPr>
              <a:t>Area, Pie &amp; Radar Spider Visualizations</a:t>
            </a:r>
          </a:p>
          <a:p>
            <a:pPr algn="l" lvl="0" marL="152400" indent="-152400">
              <a:buChar char="•"/>
            </a:pPr>
            <a:r>
              <a:rPr>
                <a:latin typeface="+mn-lt"/>
                <a:cs typeface="+mn-lt"/>
              </a:rPr>
              <a:t>Stacked area topologies for cumulative resource metric trends.</a:t>
            </a:r>
          </a:p>
          <a:p>
            <a:pPr algn="l" lvl="0" marL="152400" indent="-152400">
              <a:buChar char="•"/>
            </a:pPr>
            <a:r>
              <a:rPr>
                <a:latin typeface="+mn-lt"/>
                <a:cs typeface="+mn-lt"/>
              </a:rPr>
              <a:t>Standard pie charts with automatic slice percentage data labels.</a:t>
            </a:r>
          </a:p>
          <a:p>
            <a:pPr algn="l" lvl="0" marL="152400" indent="-152400">
              <a:buChar char="•"/>
            </a:pPr>
            <a:r>
              <a:rPr>
                <a:latin typeface="+mn-lt"/>
                <a:cs typeface="+mn-lt"/>
              </a:rPr>
              <a:t>Radar / spider charts for multi-dimensional multi-series competitive scorecards.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idx="1" type="body"/>
          </p:nvPr>
        </p:nvSpPr>
        <p:spPr/>
        <p:txBody>
          <a:bodyPr anchor="t"/>
          <a:lstStyle/>
          <a:p>
            <a:pPr algn="l" lvl="0"/>
            <a:r>
              <a:rPr b="1">
                <a:latin typeface="+mn-lt"/>
                <a:cs typeface="+mn-lt"/>
              </a:rPr>
              <a:t>Hyperlinks &amp; Slide Navigation Keynote: </a:t>
            </a:r>
            <a:r>
              <a:rPr u="sng">
                <a:latin typeface="+mn-lt"/>
                <a:cs typeface="+mn-lt"/>
              </a:rPr>
              <a:t>Interactive OpenXML Actions &amp; Relationships</a:t>
            </a:r>
          </a:p>
          <a:p>
            <a:pPr algn="l" lvl="0" marL="152400" indent="-152400">
              <a:buChar char="•"/>
            </a:pPr>
            <a:r>
              <a:rPr>
                <a:latin typeface="+mn-lt"/>
                <a:cs typeface="+mn-lt"/>
              </a:rPr>
              <a:t>Full support for external web links, custom URLs, and hover tooltips.</a:t>
            </a:r>
          </a:p>
          <a:p>
            <a:pPr algn="l" lvl="0" marL="152400" indent="-152400">
              <a:buChar char="•"/>
            </a:pPr>
            <a:r>
              <a:rPr>
                <a:latin typeface="+mn-lt"/>
                <a:cs typeface="+mn-lt"/>
              </a:rPr>
              <a:t>Internal slide jumping using strongly typed slideIndex referencing.</a:t>
            </a:r>
          </a:p>
          <a:p>
            <a:pPr algn="l" lvl="0" marL="152400" indent="-152400">
              <a:buChar char="•"/>
            </a:pPr>
            <a:r>
              <a:rPr>
                <a:latin typeface="+mn-lt"/>
                <a:cs typeface="+mn-lt"/>
              </a:rPr>
              <a:t>Built-in slide show control actions: firstSlide, lastSlide, nextSlide, previousSlide, endShow.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idx="1" type="body"/>
          </p:nvPr>
        </p:nvSpPr>
        <p:spPr/>
        <p:txBody>
          <a:bodyPr anchor="t"/>
          <a:lstStyle/>
          <a:p>
            <a:pPr algn="l" lvl="0"/>
            <a:r>
              <a:rPr b="1">
                <a:latin typeface="+mn-lt"/>
                <a:cs typeface="+mn-lt"/>
              </a:rPr>
              <a:t>DrawingML Gradient Engine Keynote: </a:t>
            </a:r>
            <a:r>
              <a:rPr u="sng">
                <a:latin typeface="+mn-lt"/>
                <a:cs typeface="+mn-lt"/>
              </a:rPr>
              <a:t>Full Vector Fidelity &amp; Transparency</a:t>
            </a:r>
          </a:p>
          <a:p>
            <a:pPr algn="l" lvl="0" marL="152400" indent="-152400">
              <a:buChar char="•"/>
            </a:pPr>
            <a:r>
              <a:rPr>
                <a:latin typeface="+mn-lt"/>
                <a:cs typeface="+mn-lt"/>
              </a:rPr>
              <a:t>Native &lt;a:gradFill&gt; support with linear, radial, and path gradients.</a:t>
            </a:r>
          </a:p>
          <a:p>
            <a:pPr algn="l" lvl="0" marL="152400" indent="-152400">
              <a:buChar char="•"/>
            </a:pPr>
            <a:r>
              <a:rPr>
                <a:latin typeface="+mn-lt"/>
                <a:cs typeface="+mn-lt"/>
              </a:rPr>
              <a:t>Full alpha transparency channel support across all color stops.</a:t>
            </a:r>
          </a:p>
          <a:p>
            <a:pPr algn="l" lvl="0" marL="152400" indent="-152400">
              <a:buChar char="•"/>
            </a:pPr>
            <a:r>
              <a:rPr>
                <a:latin typeface="+mn-lt"/>
                <a:cs typeface="+mn-lt"/>
              </a:rPr>
              <a:t>Seamless integration with shapes, cards, outlines, and slide backgrounds.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idx="1" type="body"/>
          </p:nvPr>
        </p:nvSpPr>
        <p:spPr/>
        <p:txBody>
          <a:bodyPr anchor="t"/>
          <a:lstStyle/>
          <a:p>
            <a:pPr algn="l" lvl="0"/>
            <a:r>
              <a:rPr b="1">
                <a:latin typeface="+mn-lt"/>
                <a:cs typeface="+mn-lt"/>
              </a:rPr>
              <a:t>Empirical Benchmark Keynote: </a:t>
            </a:r>
            <a:r>
              <a:rPr u="sng">
                <a:latin typeface="+mn-lt"/>
                <a:cs typeface="+mn-lt"/>
              </a:rPr>
              <a:t>Sub-Millisecond Speed &amp; Zero Native Dependencies</a:t>
            </a:r>
          </a:p>
          <a:p>
            <a:pPr algn="l" lvl="0" marL="152400" indent="-152400">
              <a:buChar char="•"/>
            </a:pPr>
            <a:r>
              <a:rPr>
                <a:latin typeface="+mn-lt"/>
                <a:cs typeface="+mn-lt"/>
              </a:rPr>
              <a:t>Single slide emits in ~0.55ms (&gt; 1,800 ops/sec).</a:t>
            </a:r>
          </a:p>
          <a:p>
            <a:pPr algn="l" lvl="0" marL="152400" indent="-152400">
              <a:buChar char="•"/>
            </a:pPr>
            <a:r>
              <a:rPr>
                <a:latin typeface="+mn-lt"/>
                <a:cs typeface="+mn-lt"/>
              </a:rPr>
              <a:t>Shape serialization exceeds 5 Million ops/sec.</a:t>
            </a:r>
          </a:p>
          <a:p>
            <a:pPr algn="l" lvl="0" marL="152400" indent="-152400">
              <a:buChar char="•"/>
            </a:pPr>
            <a:r>
              <a:rPr>
                <a:latin typeface="+mn-lt"/>
                <a:cs typeface="+mn-lt"/>
              </a:rPr>
              <a:t>Total bundle size under 49 KB gzipped with full PresentationML &amp; DrawingML engines.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arget="../slideLayouts/slideLayout1.xml" Type="http://schemas.openxmlformats.org/officeDocument/2006/relationships/slideLayout"/><Relationship Id="rId2" Target="https://github.com/hokkyss/pptx-parser" Type="http://schemas.openxmlformats.org/officeDocument/2006/relationships/hyperlink" TargetMode="External"/><Relationship Id="rId3" Target="../notesSlides/notesSlide1.xml" Type="http://schemas.openxmlformats.org/officeDocument/2006/relationships/notesSlide"/></Relationships>
</file>

<file path=ppt/slides/_rels/slide2.xml.rels><?xml version="1.0" encoding="UTF-8" standalone="yes"?>
<Relationships xmlns="http://schemas.openxmlformats.org/package/2006/relationships"><Relationship Id="rId1" Target="../slideLayouts/slideLayout1.xml" Type="http://schemas.openxmlformats.org/officeDocument/2006/relationships/slideLayout"/><Relationship Id="rId2" Target="https://github.com/hokkyss/pptx-parser/tree/main/packages/pptx-core" Type="http://schemas.openxmlformats.org/officeDocument/2006/relationships/hyperlink" TargetMode="External"/><Relationship Id="rId3" Target="https://github.com/hokkyss/pptx-parser/tree/main/packages/pptx-reader" Type="http://schemas.openxmlformats.org/officeDocument/2006/relationships/hyperlink" TargetMode="External"/><Relationship Id="rId4" Target="https://github.com/hokkyss/pptx-parser/tree/main/packages/pptx-writer" Type="http://schemas.openxmlformats.org/officeDocument/2006/relationships/hyperlink" TargetMode="External"/><Relationship Id="rId5" Target="https://github.com/hokkyss/pptx-parser/tree/main/packages/pptx" Type="http://schemas.openxmlformats.org/officeDocument/2006/relationships/hyperlink" TargetMode="External"/></Relationships>
</file>

<file path=ppt/slides/_rels/slide3.xml.rels><?xml version="1.0" encoding="UTF-8" standalone="yes"?>
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4.xml.rels><?xml version="1.0" encoding="UTF-8" standalone="yes"?>
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5.xml.rels><?xml version="1.0" encoding="UTF-8" standalone="yes"?>
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6.xml.rels><?xml version="1.0" encoding="UTF-8" standalone="yes"?>
<Relationships xmlns="http://schemas.openxmlformats.org/package/2006/relationships"><Relationship Id="rId1" Target="../slideLayouts/slideLayout1.xml" Type="http://schemas.openxmlformats.org/officeDocument/2006/relationships/slideLayout"/><Relationship Id="rId2" Target="../media/showcase-hero.jpg" Type="http://schemas.openxmlformats.org/officeDocument/2006/relationships/image"/><Relationship Id="rId3" Target="../media/logo.png" Type="http://schemas.openxmlformats.org/officeDocument/2006/relationships/image"/><Relationship Id="rId4" Target="../notesSlides/notesSlide2.xml" Type="http://schemas.openxmlformats.org/officeDocument/2006/relationships/notesSlide"/></Relationships>
</file>

<file path=ppt/slides/_rels/slide7.xml.rels><?xml version="1.0" encoding="UTF-8" standalone="yes"?>
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8.xml.rels><?xml version="1.0" encoding="UTF-8" standalone="yes"?>
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9.xml.rels><?xml version="1.0" encoding="UTF-8" standalone="yes"?>
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10.xml.rels><?xml version="1.0" encoding="UTF-8" standalone="yes"?>
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11.xml.rels><?xml version="1.0" encoding="UTF-8" standalone="yes"?>
<Relationships xmlns="http://schemas.openxmlformats.org/package/2006/relationships"><Relationship Id="rId1" Target="../slideLayouts/slideLayout1.xml" Type="http://schemas.openxmlformats.org/officeDocument/2006/relationships/slideLayout"/><Relationship Id="rId2" Target="../charts/chart1.xml" Type="http://schemas.openxmlformats.org/officeDocument/2006/relationships/chart"/><Relationship Id="rId3" Target="../notesSlides/notesSlide7.xml" Type="http://schemas.openxmlformats.org/officeDocument/2006/relationships/notesSlide"/></Relationships>
</file>

<file path=ppt/slides/_rels/slide12.xml.rels><?xml version="1.0" encoding="UTF-8" standalone="yes"?>
<Relationships xmlns="http://schemas.openxmlformats.org/package/2006/relationships"><Relationship Id="rId1" Target="../slideLayouts/slideLayout1.xml" Type="http://schemas.openxmlformats.org/officeDocument/2006/relationships/slideLayout"/><Relationship Id="rId2" Target="../charts/chart2.xml" Type="http://schemas.openxmlformats.org/officeDocument/2006/relationships/chart"/><Relationship Id="rId3" Target="../charts/chart3.xml" Type="http://schemas.openxmlformats.org/officeDocument/2006/relationships/chart"/><Relationship Id="rId4" Target="../charts/chart4.xml" Type="http://schemas.openxmlformats.org/officeDocument/2006/relationships/chart"/><Relationship Id="rId5" Target="../notesSlides/notesSlide8.xml" Type="http://schemas.openxmlformats.org/officeDocument/2006/relationships/notesSlide"/></Relationships>
</file>

<file path=ppt/slides/_rels/slide13.xml.rels><?xml version="1.0" encoding="UTF-8" standalone="yes"?>
<Relationships xmlns="http://schemas.openxmlformats.org/package/2006/relationships"><Relationship Id="rId1" Target="../slideLayouts/slideLayout1.xml" Type="http://schemas.openxmlformats.org/officeDocument/2006/relationships/slideLayout"/><Relationship Id="rId2" Target="../charts/chart5.xml" Type="http://schemas.openxmlformats.org/officeDocument/2006/relationships/chart"/><Relationship Id="rId3" Target="../charts/chart6.xml" Type="http://schemas.openxmlformats.org/officeDocument/2006/relationships/chart"/><Relationship Id="rId4" Target="../charts/chart7.xml" Type="http://schemas.openxmlformats.org/officeDocument/2006/relationships/chart"/><Relationship Id="rId5" Target="../notesSlides/notesSlide9.xml" Type="http://schemas.openxmlformats.org/officeDocument/2006/relationships/notesSlide"/></Relationships>
</file>

<file path=ppt/slides/_rels/slide14.xml.rels><?xml version="1.0" encoding="UTF-8" standalone="yes"?>
<Relationships xmlns="http://schemas.openxmlformats.org/package/2006/relationships"><Relationship Id="rId1" Target="../slideLayouts/slideLayout1.xml" Type="http://schemas.openxmlformats.org/officeDocument/2006/relationships/slideLayout"/><Relationship Id="rId2" Target="slide2.xml" Type="http://schemas.openxmlformats.org/officeDocument/2006/relationships/slide"/><Relationship Id="rId3" Target="slide8.xml" Type="http://schemas.openxmlformats.org/officeDocument/2006/relationships/slide"/><Relationship Id="rId4" Target="slide11.xml" Type="http://schemas.openxmlformats.org/officeDocument/2006/relationships/slide"/><Relationship Id="rId5" Target="slide16.xml" Type="http://schemas.openxmlformats.org/officeDocument/2006/relationships/slide"/><Relationship Id="rId6" Target="https://github.com/hokkyss/pptx-parser" Type="http://schemas.openxmlformats.org/officeDocument/2006/relationships/hyperlink" TargetMode="External"/><Relationship Id="rId7" Target="https://www.npmjs.com/package/@hokkyss/pptx" Type="http://schemas.openxmlformats.org/officeDocument/2006/relationships/hyperlink" TargetMode="External"/><Relationship Id="rId8" Target="https://github.com/hokkyss/pptx-parser/issues" Type="http://schemas.openxmlformats.org/officeDocument/2006/relationships/hyperlink" TargetMode="External"/><Relationship Id="rId9" Target="../notesSlides/notesSlide10.xml" Type="http://schemas.openxmlformats.org/officeDocument/2006/relationships/notesSlide"/></Relationships>
</file>

<file path=ppt/slides/_rels/slide15.xml.rels><?xml version="1.0" encoding="UTF-8" standalone="yes"?>
<Relationships xmlns="http://schemas.openxmlformats.org/package/2006/relationships"><Relationship Id="rId1" Target="../slideLayouts/slideLayout1.xml" Type="http://schemas.openxmlformats.org/officeDocument/2006/relationships/slideLayout"/><Relationship Id="rId2" Target="slide14.xml" Type="http://schemas.openxmlformats.org/officeDocument/2006/relationships/slide"/><Relationship Id="rId3" Target="slide16.xml" Type="http://schemas.openxmlformats.org/officeDocument/2006/relationships/slide"/><Relationship Id="rId4" Target="../notesSlides/notesSlide11.xml" Type="http://schemas.openxmlformats.org/officeDocument/2006/relationships/notesSlide"/></Relationships>
</file>

<file path=ppt/slides/_rels/slide16.xml.rels><?xml version="1.0" encoding="UTF-8" standalone="yes"?>
<Relationships xmlns="http://schemas.openxmlformats.org/package/2006/relationships"><Relationship Id="rId1" Target="../slideLayouts/slideLayout1.xml" Type="http://schemas.openxmlformats.org/officeDocument/2006/relationships/slideLayout"/><Relationship Id="rId2" Target="../charts/chart8.xml" Type="http://schemas.openxmlformats.org/officeDocument/2006/relationships/chart"/><Relationship Id="rId3" Target="slide14.xml" Type="http://schemas.openxmlformats.org/officeDocument/2006/relationships/slide"/><Relationship Id="rId4" Target="../notesSlides/notesSlide12.xml" Type="http://schemas.openxmlformats.org/officeDocument/2006/relationships/notesSlid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Rect 1"/>
          <p:cNvSpPr/>
          <p:nvPr/>
        </p:nvSpPr>
        <p:spPr>
          <a:xfrm>
            <a:off x="3895344" y="1371600"/>
            <a:ext cx="4389120" cy="457200"/>
          </a:xfrm>
          <a:prstGeom prst="roundRect">
            <a:avLst/>
          </a:prstGeom>
          <a:solidFill>
            <a:srgbClr val="1E293B"/>
          </a:solidFill>
          <a:ln w="13716">
            <a:solidFill>
              <a:srgbClr val="38BDF8"/>
            </a:solidFill>
          </a:ln>
          <a:effectLst>
            <a:outerShdw blurRad="182880" dist="18288" dir="5400000">
              <a:srgbClr val="38BDF8">
                <a:alpha val="35000"/>
              </a:srgbClr>
            </a:outerShdw>
          </a:effectLst>
        </p:spPr>
        <p:txBody>
          <a:bodyPr anchor="t"/>
          <a:lstStyle/>
          <a:p>
            <a:pPr algn="ctr"/>
            <a:r>
              <a:rPr b="1" sz="1000">
                <a:solidFill>
                  <a:srgbClr val="38BDF8"/>
                </a:solidFill>
                <a:latin typeface="+mn-lt"/>
                <a:cs typeface="+mn-lt"/>
              </a:rPr>
              <a:t>⚡ NEXT-GENERATION ISOMORPHIC PRESENTATION COMPILER</a:t>
            </a:r>
          </a:p>
        </p:txBody>
      </p:sp>
      <p:sp>
        <p:nvSpPr>
          <p:cNvPr id="3" name="Text Box 2">
            <a:hlinkClick r:id="rId2" tooltip="GitHub Repository: @hokkyss/pptx"/>
          </p:cNvPr>
          <p:cNvSpPr txBox="1"/>
          <p:nvPr/>
        </p:nvSpPr>
        <p:spPr>
          <a:xfrm>
            <a:off x="914400" y="2103120"/>
            <a:ext cx="10360152" cy="914400"/>
          </a:xfrm>
          <a:prstGeom prst="rect">
            <a:avLst/>
          </a:prstGeom>
        </p:spPr>
        <p:txBody>
          <a:bodyPr anchor="t"/>
          <a:lstStyle/>
          <a:p>
            <a:pPr algn="ctr"/>
            <a:r>
              <a:rPr b="1" sz="4400">
                <a:solidFill>
                  <a:srgbClr val="FFFFFF"/>
                </a:solidFill>
                <a:hlinkClick r:id="rId2" tooltip="GitHub Repository: @hokkyss/pptx"/>
                <a:latin typeface="+mj-lt"/>
                <a:cs typeface="+mj-lt"/>
              </a:rPr>
              <a:t>@hokkyss/pptx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914400" y="3017520"/>
            <a:ext cx="10360152" cy="548640"/>
          </a:xfrm>
          <a:prstGeom prst="rect">
            <a:avLst/>
          </a:prstGeom>
        </p:spPr>
        <p:txBody>
          <a:bodyPr anchor="t"/>
          <a:lstStyle/>
          <a:p>
            <a:pPr algn="ctr"/>
            <a:r>
              <a:rPr sz="1600">
                <a:solidFill>
                  <a:srgbClr val="94A3B8"/>
                </a:solidFill>
                <a:latin typeface="+mn-lt"/>
                <a:cs typeface="+mn-lt"/>
              </a:rPr>
              <a:t>Isomorphic OpenXML Presentation Parser, Serializer &amp; Fluent Authoring SDK</a:t>
            </a:r>
          </a:p>
        </p:txBody>
      </p:sp>
      <p:sp>
        <p:nvSpPr>
          <p:cNvPr id="5" name="roundRect 4"/>
          <p:cNvSpPr/>
          <p:nvPr/>
        </p:nvSpPr>
        <p:spPr>
          <a:xfrm>
            <a:off x="914400" y="4389120"/>
            <a:ext cx="3291840" cy="1645920"/>
          </a:xfrm>
          <a:prstGeom prst="roundRect">
            <a:avLst/>
          </a:prstGeom>
          <a:solidFill>
            <a:srgbClr val="1E293B"/>
          </a:solidFill>
          <a:ln w="9144">
            <a:solidFill>
              <a:srgbClr val="334155"/>
            </a:solidFill>
          </a:ln>
          <a:effectLst>
            <a:outerShdw blurRad="137160" dist="45720" dir="5400000">
              <a:srgbClr val="000000">
                <a:alpha val="35000"/>
              </a:srgbClr>
            </a:outerShdw>
          </a:effectLst>
        </p:spPr>
        <p:txBody>
          <a:bodyPr anchor="t"/>
          <a:lstStyle/>
          <a:p>
            <a:pPr algn="l"/>
            <a:r>
              <a:rPr b="1" sz="1400">
                <a:solidFill>
                  <a:srgbClr val="38BDF8"/>
                </a:solidFill>
                <a:latin typeface="+mn-lt"/>
                <a:cs typeface="+mn-lt"/>
              </a:rPr>
              <a:t>🚀 100% Isomorphic</a:t>
            </a:r>
          </a:p>
          <a:p>
            <a:pPr algn="l"/>
            <a:endParaRPr/>
          </a:p>
          <a:p>
            <a:pPr algn="l"/>
            <a:r>
              <a:rPr sz="1200">
                <a:solidFill>
                  <a:srgbClr val="CBD5E1"/>
                </a:solidFill>
                <a:latin typeface="+mn-lt"/>
                <a:cs typeface="+mn-lt"/>
              </a:rPr>
              <a:t>Node, Browser, Cloudflare, Deno &amp; Bun</a:t>
            </a:r>
          </a:p>
        </p:txBody>
      </p:sp>
      <p:sp>
        <p:nvSpPr>
          <p:cNvPr id="6" name="roundRect 5"/>
          <p:cNvSpPr/>
          <p:nvPr/>
        </p:nvSpPr>
        <p:spPr>
          <a:xfrm>
            <a:off x="4389120" y="4389120"/>
            <a:ext cx="3291840" cy="1645920"/>
          </a:xfrm>
          <a:prstGeom prst="roundRect">
            <a:avLst/>
          </a:prstGeom>
          <a:solidFill>
            <a:srgbClr val="1E293B"/>
          </a:solidFill>
          <a:ln w="9144">
            <a:solidFill>
              <a:srgbClr val="334155"/>
            </a:solidFill>
          </a:ln>
          <a:effectLst>
            <a:outerShdw blurRad="137160" dist="45720" dir="5400000">
              <a:srgbClr val="000000">
                <a:alpha val="35000"/>
              </a:srgbClr>
            </a:outerShdw>
          </a:effectLst>
        </p:spPr>
        <p:txBody>
          <a:bodyPr anchor="t"/>
          <a:lstStyle/>
          <a:p>
            <a:pPr algn="l"/>
            <a:r>
              <a:rPr b="1" sz="1400">
                <a:solidFill>
                  <a:srgbClr val="38BDF8"/>
                </a:solidFill>
                <a:latin typeface="+mn-lt"/>
                <a:cs typeface="+mn-lt"/>
              </a:rPr>
              <a:t>🌲 Zero-Dependency</a:t>
            </a:r>
          </a:p>
          <a:p>
            <a:pPr algn="l"/>
            <a:endParaRPr/>
          </a:p>
          <a:p>
            <a:pPr algn="l"/>
            <a:r>
              <a:rPr sz="1200">
                <a:solidFill>
                  <a:srgbClr val="CBD5E1"/>
                </a:solidFill>
                <a:latin typeface="+mn-lt"/>
                <a:cs typeface="+mn-lt"/>
              </a:rPr>
              <a:t>Pure TypeScript codecs, zero native binaries</a:t>
            </a:r>
          </a:p>
        </p:txBody>
      </p:sp>
      <p:sp>
        <p:nvSpPr>
          <p:cNvPr id="7" name="roundRect 6"/>
          <p:cNvSpPr/>
          <p:nvPr/>
        </p:nvSpPr>
        <p:spPr>
          <a:xfrm>
            <a:off x="7863840" y="4389120"/>
            <a:ext cx="3291840" cy="1645920"/>
          </a:xfrm>
          <a:prstGeom prst="roundRect">
            <a:avLst/>
          </a:prstGeom>
          <a:solidFill>
            <a:srgbClr val="1E293B"/>
          </a:solidFill>
          <a:ln w="9144">
            <a:solidFill>
              <a:srgbClr val="334155"/>
            </a:solidFill>
          </a:ln>
          <a:effectLst>
            <a:outerShdw blurRad="137160" dist="45720" dir="5400000">
              <a:srgbClr val="000000">
                <a:alpha val="35000"/>
              </a:srgbClr>
            </a:outerShdw>
          </a:effectLst>
        </p:spPr>
        <p:txBody>
          <a:bodyPr anchor="t"/>
          <a:lstStyle/>
          <a:p>
            <a:pPr algn="l"/>
            <a:r>
              <a:rPr b="1" sz="1400">
                <a:solidFill>
                  <a:srgbClr val="38BDF8"/>
                </a:solidFill>
                <a:latin typeface="+mn-lt"/>
                <a:cs typeface="+mn-lt"/>
              </a:rPr>
              <a:t>🛡️ Type-Safe Units</a:t>
            </a:r>
          </a:p>
          <a:p>
            <a:pPr algn="l"/>
            <a:endParaRPr/>
          </a:p>
          <a:p>
            <a:pPr algn="l"/>
            <a:r>
              <a:rPr sz="1200">
                <a:solidFill>
                  <a:srgbClr val="CBD5E1"/>
                </a:solidFill>
                <a:latin typeface="+mn-lt"/>
                <a:cs typeface="+mn-lt"/>
              </a:rPr>
              <a:t>Branded EMU, Points, Inches &amp; Degrees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731520" y="6510528"/>
            <a:ext cx="10725912" cy="228600"/>
          </a:xfrm>
          <a:prstGeom prst="rect">
            <a:avLst/>
          </a:prstGeom>
        </p:spPr>
        <p:txBody>
          <a:bodyPr anchor="t"/>
          <a:lstStyle/>
          <a:p>
            <a:pPr algn="ctr"/>
            <a:r>
              <a:rPr i="1" sz="800">
                <a:solidFill>
                  <a:srgbClr val="64748B"/>
                </a:solidFill>
                <a:latin typeface="+mn-lt"/>
                <a:cs typeface="+mn-lt"/>
              </a:rPr>
              <a:t>* Disclaimer: All benchmark metrics, performance figures, and simulated architectures in this deck are synthetic demonstration values generated solely to showcase the authoring, formatting, and rendering capabilities of @hokkyss/pptx.</a:t>
            </a:r>
          </a:p>
        </p:txBody>
      </p:sp>
    </p:spTree>
  </p:cSld>
  <p:clrMapOvr>
    <a:masterClrMapping/>
  </p:clrMapOvr>
  <p:transition spd="fast">
    <p:fade thruBlk="1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914400" y="731520"/>
            <a:ext cx="10360152" cy="54864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b="1" sz="2400">
                <a:solidFill>
                  <a:srgbClr val="0F172A"/>
                </a:solidFill>
                <a:latin typeface="+mj-lt"/>
                <a:cs typeface="+mj-lt"/>
              </a:rPr>
              <a:t>Modular Architecture &amp; Shape Presets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914400" y="1280160"/>
            <a:ext cx="10360152" cy="36576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sz="1400">
                <a:solidFill>
                  <a:srgbClr val="64748B"/>
                </a:solidFill>
                <a:latin typeface="+mn-lt"/>
                <a:cs typeface="+mn-lt"/>
              </a:rPr>
              <a:t>Four decoupled packages paired with DrawingML vector presets, outer drop shadows, and border outlines</a:t>
            </a:r>
          </a:p>
        </p:txBody>
      </p:sp>
      <p:sp>
        <p:nvSpPr>
          <p:cNvPr id="4" name="roundRect 3">
            <a:hlinkClick r:id="rId2" tooltip="View @hokkyss/pptx-core on GitHub"/>
          </p:cNvPr>
          <p:cNvSpPr/>
          <p:nvPr/>
        </p:nvSpPr>
        <p:spPr>
          <a:xfrm>
            <a:off x="914400" y="1920240"/>
            <a:ext cx="2377440" cy="1828800"/>
          </a:xfrm>
          <a:prstGeom prst="roundRect">
            <a:avLst/>
          </a:prstGeom>
          <a:solidFill>
            <a:srgbClr val="FFFFFF"/>
          </a:solidFill>
          <a:ln w="18288">
            <a:solidFill>
              <a:srgbClr val="0284C7"/>
            </a:solidFill>
          </a:ln>
          <a:effectLst>
            <a:outerShdw blurRad="137160" dist="54864" dir="5400000">
              <a:srgbClr val="0284C7">
                <a:alpha val="25000"/>
              </a:srgbClr>
            </a:outerShdw>
          </a:effectLst>
        </p:spPr>
        <p:txBody>
          <a:bodyPr anchor="t"/>
          <a:lstStyle/>
          <a:p>
            <a:pPr algn="l"/>
            <a:r>
              <a:rPr b="1" sz="1300">
                <a:solidFill>
                  <a:srgbClr val="0284C7"/>
                </a:solidFill>
                <a:latin typeface="+mn-lt"/>
                <a:cs typeface="+mn-lt"/>
              </a:rPr>
              <a:t>@hokkyss/pptx-core</a:t>
            </a:r>
          </a:p>
          <a:p>
            <a:pPr algn="l"/>
            <a:r>
              <a:rPr sz="1000">
                <a:solidFill>
                  <a:srgbClr val="475569"/>
                </a:solidFill>
                <a:latin typeface="+mn-lt"/>
                <a:cs typeface="+mn-lt"/>
              </a:rPr>
              <a:t>Universal AST definitions, branded unit types, and ECMA-376 OpenXML schema interfaces</a:t>
            </a:r>
          </a:p>
        </p:txBody>
      </p:sp>
      <p:sp>
        <p:nvSpPr>
          <p:cNvPr id="5" name="roundRect 4">
            <a:hlinkClick r:id="rId3" tooltip="View @hokkyss/pptx-reader on GitHub"/>
          </p:cNvPr>
          <p:cNvSpPr/>
          <p:nvPr/>
        </p:nvSpPr>
        <p:spPr>
          <a:xfrm>
            <a:off x="3566160" y="1920240"/>
            <a:ext cx="2377440" cy="1828800"/>
          </a:xfrm>
          <a:prstGeom prst="roundRect">
            <a:avLst/>
          </a:prstGeom>
          <a:solidFill>
            <a:srgbClr val="6366F1"/>
          </a:solidFill>
          <a:effectLst>
            <a:outerShdw blurRad="109728" dist="36576" dir="5400000">
              <a:srgbClr val="000000">
                <a:alpha val="20000"/>
              </a:srgbClr>
            </a:outerShdw>
          </a:effectLst>
        </p:spPr>
        <p:txBody>
          <a:bodyPr anchor="t"/>
          <a:lstStyle/>
          <a:p>
            <a:pPr algn="l"/>
            <a:r>
              <a:rPr b="1" sz="1300">
                <a:solidFill>
                  <a:srgbClr val="FFFFFF"/>
                </a:solidFill>
                <a:latin typeface="+mn-lt"/>
                <a:cs typeface="+mn-lt"/>
              </a:rPr>
              <a:t>@hokkyss/pptx-reader</a:t>
            </a:r>
          </a:p>
          <a:p>
            <a:pPr algn="l"/>
            <a:r>
              <a:rPr sz="1000">
                <a:solidFill>
                  <a:srgbClr val="E0E7FF"/>
                </a:solidFill>
                <a:latin typeface="+mn-lt"/>
                <a:cs typeface="+mn-lt"/>
              </a:rPr>
              <a:t>Zero-copy streaming ZIP decompression, fast XML DOM parsing, and master cascade</a:t>
            </a:r>
          </a:p>
        </p:txBody>
      </p:sp>
      <p:sp>
        <p:nvSpPr>
          <p:cNvPr id="6" name="roundRect 5">
            <a:hlinkClick r:id="rId4" tooltip="View @hokkyss/pptx-writer on GitHub"/>
          </p:cNvPr>
          <p:cNvSpPr/>
          <p:nvPr/>
        </p:nvSpPr>
        <p:spPr>
          <a:xfrm>
            <a:off x="6217920" y="1920240"/>
            <a:ext cx="2377440" cy="1828800"/>
          </a:xfrm>
          <a:prstGeom prst="roundRect">
            <a:avLst/>
          </a:prstGeom>
          <a:solidFill>
            <a:srgbClr val="10B981"/>
          </a:solidFill>
          <a:effectLst>
            <a:outerShdw blurRad="91440" dist="36576" dir="5400000">
              <a:srgbClr val="000000">
                <a:alpha val="20000"/>
              </a:srgbClr>
            </a:outerShdw>
          </a:effectLst>
        </p:spPr>
        <p:txBody>
          <a:bodyPr anchor="t"/>
          <a:lstStyle/>
          <a:p>
            <a:pPr algn="l"/>
            <a:r>
              <a:rPr b="1" sz="1300">
                <a:solidFill>
                  <a:srgbClr val="FFFFFF"/>
                </a:solidFill>
                <a:latin typeface="+mn-lt"/>
                <a:cs typeface="+mn-lt"/>
              </a:rPr>
              <a:t>@hokkyss/pptx-writer</a:t>
            </a:r>
          </a:p>
          <a:p>
            <a:pPr algn="l"/>
            <a:r>
              <a:rPr sz="1000">
                <a:solidFill>
                  <a:srgbClr val="D1FAE5"/>
                </a:solidFill>
                <a:latin typeface="+mn-lt"/>
                <a:cs typeface="+mn-lt"/>
              </a:rPr>
              <a:t>Deterministic XML serializer, DrawingML emitter, and bit-exact package bundler</a:t>
            </a:r>
          </a:p>
        </p:txBody>
      </p:sp>
      <p:sp>
        <p:nvSpPr>
          <p:cNvPr id="7" name="roundRect 6">
            <a:hlinkClick r:id="rId5" tooltip="View @hokkyss/pptx on GitHub"/>
          </p:cNvPr>
          <p:cNvSpPr/>
          <p:nvPr/>
        </p:nvSpPr>
        <p:spPr>
          <a:xfrm>
            <a:off x="8869680" y="1920240"/>
            <a:ext cx="2377440" cy="1828800"/>
          </a:xfrm>
          <a:prstGeom prst="roundRect">
            <a:avLst/>
          </a:prstGeom>
          <a:solidFill>
            <a:srgbClr val="F59E0B"/>
          </a:solidFill>
          <a:effectLst>
            <a:outerShdw blurRad="182880" dist="45720" dir="5400000">
              <a:srgbClr val="D97706">
                <a:alpha val="35000"/>
              </a:srgbClr>
            </a:outerShdw>
          </a:effectLst>
        </p:spPr>
        <p:txBody>
          <a:bodyPr anchor="t"/>
          <a:lstStyle/>
          <a:p>
            <a:pPr algn="l"/>
            <a:r>
              <a:rPr b="1" sz="1300">
                <a:solidFill>
                  <a:srgbClr val="FFFFFF"/>
                </a:solidFill>
                <a:latin typeface="+mn-lt"/>
                <a:cs typeface="+mn-lt"/>
              </a:rPr>
              <a:t>@hokkyss/pptx</a:t>
            </a:r>
          </a:p>
          <a:p>
            <a:pPr algn="l"/>
            <a:r>
              <a:rPr sz="1000">
                <a:solidFill>
                  <a:srgbClr val="FEF3C7"/>
                </a:solidFill>
                <a:latin typeface="+mn-lt"/>
                <a:cs typeface="+mn-lt"/>
              </a:rPr>
              <a:t>Unified high-level fluent authoring SDK with table builders and shape helpers</a:t>
            </a:r>
          </a:p>
        </p:txBody>
      </p:sp>
      <p:sp>
        <p:nvSpPr>
          <p:cNvPr id="8" name="rightArrow 7"/>
          <p:cNvSpPr/>
          <p:nvPr/>
        </p:nvSpPr>
        <p:spPr>
          <a:xfrm>
            <a:off x="914400" y="4206240"/>
            <a:ext cx="2377440" cy="731520"/>
          </a:xfrm>
          <a:prstGeom prst="rightArrow">
            <a:avLst/>
          </a:prstGeom>
          <a:solidFill>
            <a:srgbClr val="0284C7"/>
          </a:solidFill>
        </p:spPr>
        <p:txBody>
          <a:bodyPr anchor="t"/>
          <a:lstStyle/>
          <a:p>
            <a:pPr algn="ctr"/>
            <a:r>
              <a:rPr b="1" sz="1000">
                <a:solidFill>
                  <a:srgbClr val="FFFFFF"/>
                </a:solidFill>
                <a:latin typeface="+mn-lt"/>
                <a:cs typeface="+mn-lt"/>
              </a:rPr>
              <a:t>PIPELINE</a:t>
            </a:r>
          </a:p>
        </p:txBody>
      </p:sp>
      <p:sp>
        <p:nvSpPr>
          <p:cNvPr id="9" name="diamond 8"/>
          <p:cNvSpPr/>
          <p:nvPr/>
        </p:nvSpPr>
        <p:spPr>
          <a:xfrm>
            <a:off x="3566160" y="4023360"/>
            <a:ext cx="2377440" cy="1371600"/>
          </a:xfrm>
          <a:prstGeom prst="diamond">
            <a:avLst/>
          </a:prstGeom>
          <a:solidFill>
            <a:srgbClr val="F1F5F9"/>
          </a:solidFill>
          <a:ln w="13716">
            <a:solidFill>
              <a:srgbClr val="6366F1"/>
            </a:solidFill>
          </a:ln>
        </p:spPr>
        <p:txBody>
          <a:bodyPr anchor="t"/>
          <a:lstStyle/>
          <a:p>
            <a:pPr algn="ctr"/>
            <a:r>
              <a:rPr b="1" sz="900">
                <a:solidFill>
                  <a:srgbClr val="6366F1"/>
                </a:solidFill>
                <a:latin typeface="+mn-lt"/>
                <a:cs typeface="+mn-lt"/>
              </a:rPr>
              <a:t>DECISION</a:t>
            </a:r>
          </a:p>
        </p:txBody>
      </p:sp>
      <p:sp>
        <p:nvSpPr>
          <p:cNvPr id="10" name="wedgeRoundRect 9"/>
          <p:cNvSpPr/>
          <p:nvPr/>
        </p:nvSpPr>
        <p:spPr>
          <a:xfrm>
            <a:off x="6217920" y="4023360"/>
            <a:ext cx="2377440" cy="1371600"/>
          </a:xfrm>
          <a:prstGeom prst="wedgeRoundRectCallout">
            <a:avLst/>
          </a:prstGeom>
          <a:solidFill>
            <a:srgbClr val="F8FAFC"/>
          </a:solidFill>
          <a:ln w="13716">
            <a:solidFill>
              <a:srgbClr val="0284C7"/>
            </a:solidFill>
            <a:prstDash val="dash"/>
          </a:ln>
        </p:spPr>
        <p:txBody>
          <a:bodyPr anchor="t"/>
          <a:lstStyle/>
          <a:p>
            <a:pPr algn="ctr"/>
            <a:r>
              <a:rPr sz="1100">
                <a:solidFill>
                  <a:srgbClr val="0284C7"/>
                </a:solidFill>
                <a:latin typeface="+mn-lt"/>
                <a:cs typeface="+mn-lt"/>
              </a:rPr>
              <a:t>Cloud Native Isolate</a:t>
            </a:r>
          </a:p>
        </p:txBody>
      </p:sp>
      <p:sp>
        <p:nvSpPr>
          <p:cNvPr id="11" name="cylinder 10"/>
          <p:cNvSpPr/>
          <p:nvPr/>
        </p:nvSpPr>
        <p:spPr>
          <a:xfrm>
            <a:off x="8869680" y="4023360"/>
            <a:ext cx="2377440" cy="1371600"/>
          </a:xfrm>
          <a:prstGeom prst="can">
            <a:avLst/>
          </a:prstGeom>
          <a:solidFill>
            <a:srgbClr val="F1F5F9"/>
          </a:solidFill>
          <a:ln w="13716">
            <a:solidFill>
              <a:srgbClr val="10B981"/>
            </a:solidFill>
          </a:ln>
        </p:spPr>
        <p:txBody>
          <a:bodyPr anchor="t"/>
          <a:lstStyle/>
          <a:p>
            <a:pPr algn="ctr"/>
            <a:r>
              <a:rPr b="1" sz="1100">
                <a:solidFill>
                  <a:srgbClr val="10B981"/>
                </a:solidFill>
                <a:latin typeface="+mn-lt"/>
                <a:cs typeface="+mn-lt"/>
              </a:rPr>
              <a:t>R2 Blob Store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731520" y="6510528"/>
            <a:ext cx="10725912" cy="228600"/>
          </a:xfrm>
          <a:prstGeom prst="rect">
            <a:avLst/>
          </a:prstGeom>
        </p:spPr>
        <p:txBody>
          <a:bodyPr anchor="t"/>
          <a:lstStyle/>
          <a:p>
            <a:pPr algn="ctr"/>
            <a:r>
              <a:rPr i="1" sz="800">
                <a:solidFill>
                  <a:srgbClr val="94A3B8"/>
                </a:solidFill>
                <a:latin typeface="+mn-lt"/>
                <a:cs typeface="+mn-lt"/>
              </a:rPr>
              <a:t>* Disclaimer: All benchmark metrics, performance figures, and simulated architectures in this deck are synthetic demonstration values generated solely to showcase the authoring, formatting, and rendering capabilities of @hokkyss/pptx.</a:t>
            </a:r>
          </a:p>
        </p:txBody>
      </p:sp>
    </p:spTree>
  </p:cSld>
  <p:clrMapOvr>
    <a:masterClrMapping/>
  </p:clrMapOvr>
  <p:transition spd="fast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914400" y="731520"/>
            <a:ext cx="10360152" cy="54864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b="1" sz="2400">
                <a:solidFill>
                  <a:srgbClr val="0F172A"/>
                </a:solidFill>
                <a:latin typeface="+mj-lt"/>
                <a:cs typeface="+mj-lt"/>
              </a:rPr>
              <a:t>Runtime Performance &amp; Memory Benchmarks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914400" y="1280160"/>
            <a:ext cx="10360152" cy="36576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sz="1400">
                <a:solidFill>
                  <a:srgbClr val="64748B"/>
                </a:solidFill>
                <a:latin typeface="+mn-lt"/>
                <a:cs typeface="+mn-lt"/>
              </a:rPr>
              <a:t>100-slide roundtrip parse &amp; compilation benchmarks across modern JavaScript engines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920240"/>
          <a:ext cx="10360152" cy="27432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1828800"/>
                <a:gridCol w="1645920"/>
                <a:gridCol w="1856232"/>
              </a:tblGrid>
              <a:tr h="502920">
                <a:tc>
                  <a:txBody>
                    <a:bodyPr anchor="ctr"/>
                    <a:lstStyle/>
                    <a:p>
                      <a:pPr algn="l"/>
                      <a:r>
                        <a:rPr b="1">
                          <a:solidFill>
                            <a:srgbClr val="FFFFFF"/>
                          </a:solidFill>
                          <a:latin typeface="+mn-lt"/>
                          <a:cs typeface="+mn-lt"/>
                        </a:rPr>
                        <a:t>Target Runtime / Engine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b="1">
                          <a:solidFill>
                            <a:srgbClr val="FFFFFF"/>
                          </a:solidFill>
                          <a:latin typeface="+mn-lt"/>
                          <a:cs typeface="+mn-lt"/>
                        </a:rPr>
                        <a:t>Parse Time (100 Slides)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b="1">
                          <a:solidFill>
                            <a:srgbClr val="FFFFFF"/>
                          </a:solidFill>
                          <a:latin typeface="+mn-lt"/>
                          <a:cs typeface="+mn-lt"/>
                        </a:rPr>
                        <a:t>Compile Time (100 Slides)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b="1">
                          <a:solidFill>
                            <a:srgbClr val="FFFFFF"/>
                          </a:solidFill>
                          <a:latin typeface="+mn-lt"/>
                          <a:cs typeface="+mn-lt"/>
                        </a:rPr>
                        <a:t>Memory Ceiling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b="1">
                          <a:solidFill>
                            <a:srgbClr val="FFFFFF"/>
                          </a:solidFill>
                          <a:latin typeface="+mn-lt"/>
                          <a:cs typeface="+mn-lt"/>
                        </a:rPr>
                        <a:t>Edge Compatibility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38912">
                <a:tc>
                  <a:txBody>
                    <a:bodyPr anchor="ctr"/>
                    <a:lstStyle/>
                    <a:p>
                      <a:pPr algn="l"/>
                      <a:r>
                        <a:rPr b="1">
                          <a:solidFill>
                            <a:srgbClr val="0F172A"/>
                          </a:solidFill>
                          <a:latin typeface="+mn-lt"/>
                          <a:cs typeface="+mn-lt"/>
                        </a:rPr>
                        <a:t>Node.js 22 LTS (V8)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b="1">
                          <a:solidFill>
                            <a:srgbClr val="0284C7"/>
                          </a:solidFill>
                          <a:latin typeface="+mn-lt"/>
                          <a:cs typeface="+mn-lt"/>
                        </a:rPr>
                        <a:t>14.2 ms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b="1">
                          <a:solidFill>
                            <a:srgbClr val="10B981"/>
                          </a:solidFill>
                          <a:latin typeface="+mn-lt"/>
                          <a:cs typeface="+mn-lt"/>
                        </a:rPr>
                        <a:t>18.5 ms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>
                          <a:solidFill>
                            <a:srgbClr val="475569"/>
                          </a:solidFill>
                          <a:latin typeface="+mn-lt"/>
                          <a:cs typeface="+mn-lt"/>
                        </a:rPr>
                        <a:t>&lt; 12 MB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b="1">
                          <a:solidFill>
                            <a:srgbClr val="10B981"/>
                          </a:solidFill>
                          <a:latin typeface="+mn-lt"/>
                          <a:cs typeface="+mn-lt"/>
                        </a:rPr>
                        <a:t>✅ Native Fast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438912">
                <a:tc>
                  <a:txBody>
                    <a:bodyPr anchor="ctr"/>
                    <a:lstStyle/>
                    <a:p>
                      <a:pPr algn="l"/>
                      <a:r>
                        <a:rPr b="1">
                          <a:solidFill>
                            <a:srgbClr val="0F172A"/>
                          </a:solidFill>
                          <a:latin typeface="+mn-lt"/>
                          <a:cs typeface="+mn-lt"/>
                        </a:rPr>
                        <a:t>Cloudflare Workers (Edge)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b="1">
                          <a:solidFill>
                            <a:srgbClr val="0284C7"/>
                          </a:solidFill>
                          <a:latin typeface="+mn-lt"/>
                          <a:cs typeface="+mn-lt"/>
                        </a:rPr>
                        <a:t>16.8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b="1">
                          <a:solidFill>
                            <a:srgbClr val="10B981"/>
                          </a:solidFill>
                          <a:latin typeface="+mn-lt"/>
                          <a:cs typeface="+mn-lt"/>
                        </a:rPr>
                        <a:t>21.0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>
                          <a:solidFill>
                            <a:srgbClr val="475569"/>
                          </a:solidFill>
                          <a:latin typeface="+mn-lt"/>
                          <a:cs typeface="+mn-lt"/>
                        </a:rPr>
                        <a:t>&lt; 8 MB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b="1">
                          <a:solidFill>
                            <a:srgbClr val="10B981"/>
                          </a:solidFill>
                          <a:latin typeface="+mn-lt"/>
                          <a:cs typeface="+mn-lt"/>
                        </a:rPr>
                        <a:t>✅ Native Isolate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438912">
                <a:tc>
                  <a:txBody>
                    <a:bodyPr anchor="ctr"/>
                    <a:lstStyle/>
                    <a:p>
                      <a:pPr algn="l"/>
                      <a:r>
                        <a:rPr b="1">
                          <a:solidFill>
                            <a:srgbClr val="0F172A"/>
                          </a:solidFill>
                          <a:latin typeface="+mn-lt"/>
                          <a:cs typeface="+mn-lt"/>
                        </a:rPr>
                        <a:t>Web Browser (Chromium / Safari)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>
                          <a:solidFill>
                            <a:srgbClr val="0284C7"/>
                          </a:solidFill>
                          <a:latin typeface="+mn-lt"/>
                          <a:cs typeface="+mn-lt"/>
                        </a:rPr>
                        <a:t>19.4 ms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>
                          <a:solidFill>
                            <a:srgbClr val="10B981"/>
                          </a:solidFill>
                          <a:latin typeface="+mn-lt"/>
                          <a:cs typeface="+mn-lt"/>
                        </a:rPr>
                        <a:t>24.5 ms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>
                          <a:solidFill>
                            <a:srgbClr val="475569"/>
                          </a:solidFill>
                          <a:latin typeface="+mn-lt"/>
                          <a:cs typeface="+mn-lt"/>
                        </a:rPr>
                        <a:t>&lt; 15 MB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b="1">
                          <a:solidFill>
                            <a:srgbClr val="10B981"/>
                          </a:solidFill>
                          <a:latin typeface="+mn-lt"/>
                          <a:cs typeface="+mn-lt"/>
                        </a:rPr>
                        <a:t>✅ Client-Side Export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438912">
                <a:tc>
                  <a:txBody>
                    <a:bodyPr anchor="ctr"/>
                    <a:lstStyle/>
                    <a:p>
                      <a:pPr algn="l"/>
                      <a:r>
                        <a:rPr b="1">
                          <a:solidFill>
                            <a:srgbClr val="0F172A"/>
                          </a:solidFill>
                          <a:latin typeface="+mn-lt"/>
                          <a:cs typeface="+mn-lt"/>
                        </a:rPr>
                        <a:t>Bun 1.2+ / Deno 2+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b="1">
                          <a:solidFill>
                            <a:srgbClr val="0284C7"/>
                          </a:solidFill>
                          <a:latin typeface="+mn-lt"/>
                          <a:cs typeface="+mn-lt"/>
                        </a:rPr>
                        <a:t>11.5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b="1">
                          <a:solidFill>
                            <a:srgbClr val="10B981"/>
                          </a:solidFill>
                          <a:latin typeface="+mn-lt"/>
                          <a:cs typeface="+mn-lt"/>
                        </a:rPr>
                        <a:t>15.2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>
                          <a:solidFill>
                            <a:srgbClr val="475569"/>
                          </a:solidFill>
                          <a:latin typeface="+mn-lt"/>
                          <a:cs typeface="+mn-lt"/>
                        </a:rPr>
                        <a:t>&lt; 10 MB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b="1">
                          <a:solidFill>
                            <a:srgbClr val="10B981"/>
                          </a:solidFill>
                          <a:latin typeface="+mn-lt"/>
                          <a:cs typeface="+mn-lt"/>
                        </a:rPr>
                        <a:t>✅ Full Support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438912">
                <a:tc>
                  <a:txBody>
                    <a:bodyPr anchor="ctr"/>
                    <a:lstStyle/>
                    <a:p>
                      <a:pPr algn="l"/>
                      <a:r>
                        <a:rPr b="1">
                          <a:solidFill>
                            <a:srgbClr val="94A3B8"/>
                          </a:solidFill>
                          <a:latin typeface="+mn-lt"/>
                          <a:cs typeface="+mn-lt"/>
                        </a:rPr>
                        <a:t>Legacy python-pptx / COM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>
                          <a:solidFill>
                            <a:srgbClr val="EF4444"/>
                          </a:solidFill>
                          <a:latin typeface="+mn-lt"/>
                          <a:cs typeface="+mn-lt"/>
                        </a:rPr>
                        <a:t>340.0 ms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>
                          <a:solidFill>
                            <a:srgbClr val="EF4444"/>
                          </a:solidFill>
                          <a:latin typeface="+mn-lt"/>
                          <a:cs typeface="+mn-lt"/>
                        </a:rPr>
                        <a:t>480.0 ms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>
                          <a:solidFill>
                            <a:srgbClr val="EF4444"/>
                          </a:solidFill>
                          <a:latin typeface="+mn-lt"/>
                          <a:cs typeface="+mn-lt"/>
                        </a:rPr>
                        <a:t>&gt; 180 MB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b="1">
                          <a:solidFill>
                            <a:srgbClr val="EF4444"/>
                          </a:solidFill>
                          <a:latin typeface="+mn-lt"/>
                          <a:cs typeface="+mn-lt"/>
                        </a:rPr>
                        <a:t>❌ Server Native Only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731520" y="6510528"/>
            <a:ext cx="10725912" cy="228600"/>
          </a:xfrm>
          <a:prstGeom prst="rect">
            <a:avLst/>
          </a:prstGeom>
        </p:spPr>
        <p:txBody>
          <a:bodyPr anchor="t"/>
          <a:lstStyle/>
          <a:p>
            <a:pPr algn="ctr"/>
            <a:r>
              <a:rPr i="1" sz="800">
                <a:solidFill>
                  <a:srgbClr val="94A3B8"/>
                </a:solidFill>
                <a:latin typeface="+mn-lt"/>
                <a:cs typeface="+mn-lt"/>
              </a:rPr>
              <a:t>* Disclaimer: All benchmark metrics, performance figures, and simulated architectures in this deck are synthetic demonstration values generated solely to showcase the authoring, formatting, and rendering capabilities of @hokkyss/pptx.</a:t>
            </a:r>
          </a:p>
        </p:txBody>
      </p:sp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914400" y="731520"/>
            <a:ext cx="10360152" cy="54864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b="1" sz="2400">
                <a:solidFill>
                  <a:srgbClr val="38BDF8"/>
                </a:solidFill>
                <a:latin typeface="+mj-lt"/>
                <a:cs typeface="+mj-lt"/>
              </a:rPr>
              <a:t>Type-Safe Nominal Units &amp; Coordinate System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914400" y="1463040"/>
            <a:ext cx="10360152" cy="4114800"/>
          </a:xfrm>
          <a:prstGeom prst="rect">
            <a:avLst/>
          </a:prstGeom>
        </p:spPr>
        <p:txBody>
          <a:bodyPr anchor="t"/>
          <a:lstStyle/>
          <a:p>
            <a:pPr algn="l" lvl="0" marL="152400" indent="-152400">
              <a:buChar char="•"/>
            </a:pPr>
            <a:r>
              <a:rPr sz="1200">
                <a:solidFill>
                  <a:srgbClr val="E2E8F0"/>
                </a:solidFill>
                <a:latin typeface="+mn-lt"/>
                <a:cs typeface="+mn-lt"/>
              </a:rPr>
              <a:t>1. Nominal Units &amp; Compile-Time Safety</a:t>
            </a:r>
          </a:p>
          <a:p>
            <a:pPr algn="l" lvl="1" marL="381000" indent="-152400">
              <a:buChar char="•"/>
            </a:pPr>
            <a:r>
              <a:rPr sz="1200">
                <a:solidFill>
                  <a:srgbClr val="E2E8F0"/>
                </a:solidFill>
                <a:latin typeface="+mn-lt"/>
                <a:cs typeface="+mn-lt"/>
              </a:rPr>
              <a:t>1.1 Zero-runtime-overhead branded types for dimensional coordinates</a:t>
            </a:r>
          </a:p>
          <a:p>
            <a:pPr algn="l" lvl="2" marL="609600" indent="-152400">
              <a:buChar char="•"/>
            </a:pPr>
            <a:r>
              <a:rPr sz="1200">
                <a:solidFill>
                  <a:srgbClr val="E2E8F0"/>
                </a:solidFill>
                <a:latin typeface="+mn-lt"/>
                <a:cs typeface="+mn-lt"/>
              </a:rPr>
              <a:t>1.1.1 English Metric Units (EMU): </a:t>
            </a:r>
            <a:r>
              <a:rPr b="1" sz="1200">
                <a:solidFill>
                  <a:srgbClr val="38BDF8"/>
                </a:solidFill>
                <a:latin typeface="+mn-lt"/>
                <a:cs typeface="+mn-lt"/>
              </a:rPr>
              <a:t>1 inch = 914,400 EMU</a:t>
            </a:r>
            <a:r>
              <a:rPr sz="1200">
                <a:solidFill>
                  <a:srgbClr val="E2E8F0"/>
                </a:solidFill>
                <a:latin typeface="+mn-lt"/>
                <a:cs typeface="+mn-lt"/>
              </a:rPr>
              <a:t> — </a:t>
            </a:r>
            <a:r>
              <a:rPr b="1" sz="1200">
                <a:solidFill>
                  <a:srgbClr val="10B981"/>
                </a:solidFill>
                <a:latin typeface="+mn-lt"/>
                <a:cs typeface="+mn-lt"/>
              </a:rPr>
              <a:t>1 pt = 12,700 EMU</a:t>
            </a:r>
          </a:p>
          <a:p>
            <a:pPr algn="l" lvl="2" marL="609600" indent="-152400">
              <a:buChar char="•"/>
            </a:pPr>
            <a:r>
              <a:rPr sz="1200">
                <a:solidFill>
                  <a:srgbClr val="E2E8F0"/>
                </a:solidFill>
                <a:latin typeface="+mn-lt"/>
                <a:cs typeface="+mn-lt"/>
              </a:rPr>
              <a:t>1.1.2 Rotational Angles: </a:t>
            </a:r>
            <a:r>
              <a:rPr b="1" sz="1200">
                <a:solidFill>
                  <a:srgbClr val="F59E0B"/>
                </a:solidFill>
                <a:latin typeface="+mn-lt"/>
                <a:cs typeface="+mn-lt"/>
              </a:rPr>
              <a:t>degrees(θ)</a:t>
            </a:r>
            <a:r>
              <a:rPr sz="1200">
                <a:solidFill>
                  <a:srgbClr val="E2E8F0"/>
                </a:solidFill>
                <a:latin typeface="+mn-lt"/>
                <a:cs typeface="+mn-lt"/>
              </a:rPr>
              <a:t> compiles to </a:t>
            </a:r>
            <a:r>
              <a:rPr b="1" sz="1200">
                <a:solidFill>
                  <a:srgbClr val="F59E0B"/>
                </a:solidFill>
                <a:latin typeface="+mn-lt"/>
                <a:cs typeface="+mn-lt"/>
              </a:rPr>
              <a:t>θ × 60,000 EmuDegrees</a:t>
            </a:r>
          </a:p>
          <a:p>
            <a:pPr algn="l" lvl="2" marL="609600" indent="-152400">
              <a:buChar char="•"/>
            </a:pPr>
            <a:r>
              <a:rPr sz="1200">
                <a:solidFill>
                  <a:srgbClr val="E2E8F0"/>
                </a:solidFill>
                <a:latin typeface="+mn-lt"/>
                <a:cs typeface="+mn-lt"/>
              </a:rPr>
              <a:t>1.1.3 Maximum memory ceiling: </a:t>
            </a:r>
            <a:r>
              <a:rPr b="1" sz="1200">
                <a:solidFill>
                  <a:srgbClr val="F59E0B"/>
                </a:solidFill>
                <a:latin typeface="+mn-lt"/>
                <a:cs typeface="+mn-lt"/>
              </a:rPr>
              <a:t>2</a:t>
            </a:r>
            <a:r>
              <a:rPr b="1" baseline="30000" sz="1200">
                <a:solidFill>
                  <a:srgbClr val="F59E0B"/>
                </a:solidFill>
                <a:latin typeface="+mn-lt"/>
                <a:cs typeface="+mn-lt"/>
              </a:rPr>
              <a:t>32</a:t>
            </a:r>
            <a:r>
              <a:rPr sz="1200">
                <a:solidFill>
                  <a:srgbClr val="E2E8F0"/>
                </a:solidFill>
                <a:latin typeface="+mn-lt"/>
                <a:cs typeface="+mn-lt"/>
              </a:rPr>
              <a:t> bytes (4 GB buffer limit)</a:t>
            </a:r>
          </a:p>
          <a:p>
            <a:pPr algn="l" lvl="0" marL="152400" indent="-152400">
              <a:buChar char="•"/>
            </a:pPr>
            <a:r>
              <a:rPr sz="1200">
                <a:solidFill>
                  <a:srgbClr val="E2E8F0"/>
                </a:solidFill>
                <a:latin typeface="+mn-lt"/>
                <a:cs typeface="+mn-lt"/>
              </a:rPr>
              <a:t>2. High-Performance Text Run Modifiers</a:t>
            </a:r>
          </a:p>
          <a:p>
            <a:pPr algn="l" lvl="1" marL="381000" indent="-152400">
              <a:buChar char="•"/>
            </a:pPr>
            <a:r>
              <a:rPr sz="1200">
                <a:solidFill>
                  <a:srgbClr val="E2E8F0"/>
                </a:solidFill>
                <a:latin typeface="+mn-lt"/>
                <a:cs typeface="+mn-lt"/>
              </a:rPr>
              <a:t>2.1 Rich inline text runs with mixed typographic styles</a:t>
            </a:r>
          </a:p>
          <a:p>
            <a:pPr algn="l" lvl="2" marL="609600" indent="-152400">
              <a:buChar char="•"/>
            </a:pPr>
            <a:r>
              <a:rPr sz="1200">
                <a:solidFill>
                  <a:srgbClr val="E2E8F0"/>
                </a:solidFill>
                <a:latin typeface="+mn-lt"/>
                <a:cs typeface="+mn-lt"/>
              </a:rPr>
              <a:t>Formatting: </a:t>
            </a:r>
            <a:r>
              <a:rPr b="1" sz="1200">
                <a:solidFill>
                  <a:srgbClr val="E2E8F0"/>
                </a:solidFill>
                <a:latin typeface="+mn-lt"/>
                <a:cs typeface="+mn-lt"/>
              </a:rPr>
              <a:t>Bold</a:t>
            </a:r>
            <a:r>
              <a:rPr sz="1200">
                <a:solidFill>
                  <a:srgbClr val="E2E8F0"/>
                </a:solidFill>
                <a:latin typeface="+mn-lt"/>
                <a:cs typeface="+mn-lt"/>
              </a:rPr>
              <a:t> | </a:t>
            </a:r>
            <a:r>
              <a:rPr i="1" sz="1200">
                <a:solidFill>
                  <a:srgbClr val="E2E8F0"/>
                </a:solidFill>
                <a:latin typeface="+mn-lt"/>
                <a:cs typeface="+mn-lt"/>
              </a:rPr>
              <a:t>Italic</a:t>
            </a:r>
            <a:r>
              <a:rPr sz="1200">
                <a:solidFill>
                  <a:srgbClr val="E2E8F0"/>
                </a:solidFill>
                <a:latin typeface="+mn-lt"/>
                <a:cs typeface="+mn-lt"/>
              </a:rPr>
              <a:t> | </a:t>
            </a:r>
            <a:r>
              <a:rPr u="sng" sz="1200">
                <a:solidFill>
                  <a:srgbClr val="E2E8F0"/>
                </a:solidFill>
                <a:latin typeface="+mn-lt"/>
                <a:cs typeface="+mn-lt"/>
              </a:rPr>
              <a:t>Underlined</a:t>
            </a:r>
            <a:r>
              <a:rPr sz="1200">
                <a:solidFill>
                  <a:srgbClr val="E2E8F0"/>
                </a:solidFill>
                <a:latin typeface="+mn-lt"/>
                <a:cs typeface="+mn-lt"/>
              </a:rPr>
              <a:t> | </a:t>
            </a:r>
            <a:r>
              <a:rPr strike="sngStrike" sz="1200">
                <a:solidFill>
                  <a:srgbClr val="E2E8F0"/>
                </a:solidFill>
                <a:latin typeface="+mn-lt"/>
                <a:cs typeface="+mn-lt"/>
              </a:rPr>
              <a:t>Strikethrough</a:t>
            </a:r>
            <a:r>
              <a:rPr sz="1200">
                <a:solidFill>
                  <a:srgbClr val="E2E8F0"/>
                </a:solidFill>
                <a:latin typeface="+mn-lt"/>
                <a:cs typeface="+mn-lt"/>
              </a:rPr>
              <a:t> | </a:t>
            </a:r>
            <a:r>
              <a:rPr b="1" sz="1200">
                <a:solidFill>
                  <a:srgbClr val="6366F1"/>
                </a:solidFill>
                <a:latin typeface="+mn-lt"/>
                <a:cs typeface="+mn-lt"/>
              </a:rPr>
              <a:t>Colored #6366F1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731520" y="6510528"/>
            <a:ext cx="10725912" cy="228600"/>
          </a:xfrm>
          <a:prstGeom prst="rect">
            <a:avLst/>
          </a:prstGeom>
        </p:spPr>
        <p:txBody>
          <a:bodyPr anchor="t"/>
          <a:lstStyle/>
          <a:p>
            <a:pPr algn="ctr"/>
            <a:r>
              <a:rPr i="1" sz="800">
                <a:solidFill>
                  <a:srgbClr val="64748B"/>
                </a:solidFill>
                <a:latin typeface="+mn-lt"/>
                <a:cs typeface="+mn-lt"/>
              </a:rPr>
              <a:t>* Disclaimer: All benchmark metrics, performance figures, and simulated architectures in this deck are synthetic demonstration values generated solely to showcase the authoring, formatting, and rendering capabilities of @hokkyss/pptx.</a:t>
            </a:r>
          </a:p>
        </p:txBody>
      </p:sp>
    </p:spTree>
  </p:cSld>
  <p:clrMapOvr>
    <a:masterClrMapping/>
  </p:clrMapOvr>
  <p:transition spd="fast">
    <p:split dir="in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914400" y="731520"/>
            <a:ext cx="10360152" cy="54864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b="1" sz="2400">
                <a:solidFill>
                  <a:srgbClr val="0F172A"/>
                </a:solidFill>
                <a:latin typeface="+mj-lt"/>
                <a:cs typeface="+mj-lt"/>
              </a:rPr>
              <a:t>Three-Tier Decoupled Platform Architecture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914400" y="1280160"/>
            <a:ext cx="10360152" cy="36576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sz="1400">
                <a:solidFill>
                  <a:srgbClr val="64748B"/>
                </a:solidFill>
                <a:latin typeface="+mn-lt"/>
                <a:cs typeface="+mn-lt"/>
              </a:rPr>
              <a:t>Ingress routing, stateless isolate compilation, and distributed object persistence</a:t>
            </a:r>
          </a:p>
        </p:txBody>
      </p:sp>
      <p:sp>
        <p:nvSpPr>
          <p:cNvPr id="4" name="roundRect 3"/>
          <p:cNvSpPr/>
          <p:nvPr/>
        </p:nvSpPr>
        <p:spPr>
          <a:xfrm>
            <a:off x="914400" y="1828800"/>
            <a:ext cx="3291840" cy="4114800"/>
          </a:xfrm>
          <a:prstGeom prst="roundRect">
            <a:avLst/>
          </a:prstGeom>
          <a:solidFill>
            <a:srgbClr val="FFFFFF"/>
          </a:solidFill>
          <a:ln w="13716">
            <a:solidFill>
              <a:srgbClr val="E2E8F0"/>
            </a:solidFill>
          </a:ln>
          <a:effectLst>
            <a:outerShdw blurRad="137160" dist="45720" dir="540000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roundRect 4"/>
          <p:cNvSpPr/>
          <p:nvPr/>
        </p:nvSpPr>
        <p:spPr>
          <a:xfrm>
            <a:off x="1188720" y="2103120"/>
            <a:ext cx="1828800" cy="320040"/>
          </a:xfrm>
          <a:prstGeom prst="roundRect">
            <a:avLst/>
          </a:prstGeom>
          <a:solidFill>
            <a:srgbClr val="F8FAFC"/>
          </a:solidFill>
          <a:ln w="9144">
            <a:solidFill>
              <a:srgbClr val="0284C7"/>
            </a:solidFill>
          </a:ln>
        </p:spPr>
        <p:txBody>
          <a:bodyPr anchor="t"/>
          <a:lstStyle/>
          <a:p>
            <a:pPr algn="ctr"/>
            <a:r>
              <a:rPr b="1" sz="900">
                <a:solidFill>
                  <a:srgbClr val="0284C7"/>
                </a:solidFill>
                <a:latin typeface="+mn-lt"/>
                <a:cs typeface="+mn-lt"/>
              </a:rPr>
              <a:t>TIER 1 • INGRESS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1188720" y="2560320"/>
            <a:ext cx="2743200" cy="45720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b="1" sz="1600">
                <a:solidFill>
                  <a:srgbClr val="0F172A"/>
                </a:solidFill>
                <a:latin typeface="+mn-lt"/>
                <a:cs typeface="+mn-lt"/>
              </a:rPr>
              <a:t>Global Edge Router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1188720" y="3108960"/>
            <a:ext cx="2743200" cy="2286000"/>
          </a:xfrm>
          <a:prstGeom prst="rect">
            <a:avLst/>
          </a:prstGeom>
        </p:spPr>
        <p:txBody>
          <a:bodyPr anchor="t"/>
          <a:lstStyle/>
          <a:p>
            <a:pPr algn="l" lvl="0"/>
            <a:r>
              <a:rPr sz="1100">
                <a:solidFill>
                  <a:srgbClr val="475569"/>
                </a:solidFill>
                <a:latin typeface="+mn-lt"/>
                <a:cs typeface="+mn-lt"/>
              </a:rPr>
              <a:t>Anycast DNS routing (330+ locations)</a:t>
            </a:r>
          </a:p>
          <a:p>
            <a:pPr algn="l" lvl="0"/>
            <a:r>
              <a:rPr sz="1100">
                <a:solidFill>
                  <a:srgbClr val="475569"/>
                </a:solidFill>
                <a:latin typeface="+mn-lt"/>
                <a:cs typeface="+mn-lt"/>
              </a:rPr>
              <a:t>TLS 1.3 0-RTT termination</a:t>
            </a:r>
          </a:p>
          <a:p>
            <a:pPr algn="l" lvl="0"/>
            <a:r>
              <a:rPr sz="1100">
                <a:solidFill>
                  <a:srgbClr val="475569"/>
                </a:solidFill>
                <a:latin typeface="+mn-lt"/>
                <a:cs typeface="+mn-lt"/>
              </a:rPr>
              <a:t>DDoS protection &amp; Rate limiting</a:t>
            </a:r>
          </a:p>
        </p:txBody>
      </p:sp>
      <p:sp>
        <p:nvSpPr>
          <p:cNvPr id="8" name="roundRect 7"/>
          <p:cNvSpPr/>
          <p:nvPr/>
        </p:nvSpPr>
        <p:spPr>
          <a:xfrm>
            <a:off x="4389120" y="1828800"/>
            <a:ext cx="3291840" cy="4114800"/>
          </a:xfrm>
          <a:prstGeom prst="roundRect">
            <a:avLst/>
          </a:prstGeom>
          <a:solidFill>
            <a:srgbClr val="FFFFFF"/>
          </a:solidFill>
          <a:ln w="13716">
            <a:solidFill>
              <a:srgbClr val="E2E8F0"/>
            </a:solidFill>
          </a:ln>
          <a:effectLst>
            <a:outerShdw blurRad="137160" dist="45720" dir="540000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roundRect 8"/>
          <p:cNvSpPr/>
          <p:nvPr/>
        </p:nvSpPr>
        <p:spPr>
          <a:xfrm>
            <a:off x="4663440" y="2103120"/>
            <a:ext cx="1828800" cy="320040"/>
          </a:xfrm>
          <a:prstGeom prst="roundRect">
            <a:avLst/>
          </a:prstGeom>
          <a:solidFill>
            <a:srgbClr val="F8FAFC"/>
          </a:solidFill>
          <a:ln w="9144">
            <a:solidFill>
              <a:srgbClr val="6366F1"/>
            </a:solidFill>
          </a:ln>
        </p:spPr>
        <p:txBody>
          <a:bodyPr anchor="t"/>
          <a:lstStyle/>
          <a:p>
            <a:pPr algn="ctr"/>
            <a:r>
              <a:rPr b="1" sz="900">
                <a:solidFill>
                  <a:srgbClr val="6366F1"/>
                </a:solidFill>
                <a:latin typeface="+mn-lt"/>
                <a:cs typeface="+mn-lt"/>
              </a:rPr>
              <a:t>TIER 2 • COMPUTE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4663440" y="2560320"/>
            <a:ext cx="2743200" cy="45720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b="1" sz="1600">
                <a:solidFill>
                  <a:srgbClr val="0F172A"/>
                </a:solidFill>
                <a:latin typeface="+mn-lt"/>
                <a:cs typeface="+mn-lt"/>
              </a:rPr>
              <a:t>Stateless Worker Fleet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4663440" y="3108960"/>
            <a:ext cx="2743200" cy="2286000"/>
          </a:xfrm>
          <a:prstGeom prst="rect">
            <a:avLst/>
          </a:prstGeom>
        </p:spPr>
        <p:txBody>
          <a:bodyPr anchor="t"/>
          <a:lstStyle/>
          <a:p>
            <a:pPr algn="l" lvl="0"/>
            <a:r>
              <a:rPr sz="1100">
                <a:solidFill>
                  <a:srgbClr val="475569"/>
                </a:solidFill>
                <a:latin typeface="+mn-lt"/>
                <a:cs typeface="+mn-lt"/>
              </a:rPr>
              <a:t>V8 Isolate sandboxed execution</a:t>
            </a:r>
          </a:p>
          <a:p>
            <a:pPr algn="l" lvl="0"/>
            <a:r>
              <a:rPr sz="1100">
                <a:solidFill>
                  <a:srgbClr val="475569"/>
                </a:solidFill>
                <a:latin typeface="+mn-lt"/>
                <a:cs typeface="+mn-lt"/>
              </a:rPr>
              <a:t>Instant &lt;5ms cold starts</a:t>
            </a:r>
          </a:p>
          <a:p>
            <a:pPr algn="l" lvl="0"/>
            <a:r>
              <a:rPr sz="1100">
                <a:solidFill>
                  <a:srgbClr val="475569"/>
                </a:solidFill>
                <a:latin typeface="+mn-lt"/>
                <a:cs typeface="+mn-lt"/>
              </a:rPr>
              <a:t>Streaming SSR &amp; WebSockets</a:t>
            </a:r>
          </a:p>
        </p:txBody>
      </p:sp>
      <p:sp>
        <p:nvSpPr>
          <p:cNvPr id="12" name="roundRect 11"/>
          <p:cNvSpPr/>
          <p:nvPr/>
        </p:nvSpPr>
        <p:spPr>
          <a:xfrm>
            <a:off x="7863840" y="1828800"/>
            <a:ext cx="3291840" cy="4114800"/>
          </a:xfrm>
          <a:prstGeom prst="roundRect">
            <a:avLst/>
          </a:prstGeom>
          <a:solidFill>
            <a:srgbClr val="FFFFFF"/>
          </a:solidFill>
          <a:ln w="13716">
            <a:solidFill>
              <a:srgbClr val="E2E8F0"/>
            </a:solidFill>
          </a:ln>
          <a:effectLst>
            <a:outerShdw blurRad="137160" dist="45720" dir="540000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roundRect 12"/>
          <p:cNvSpPr/>
          <p:nvPr/>
        </p:nvSpPr>
        <p:spPr>
          <a:xfrm>
            <a:off x="8138160" y="2103120"/>
            <a:ext cx="1828800" cy="320040"/>
          </a:xfrm>
          <a:prstGeom prst="roundRect">
            <a:avLst/>
          </a:prstGeom>
          <a:solidFill>
            <a:srgbClr val="F8FAFC"/>
          </a:solidFill>
          <a:ln w="9144">
            <a:solidFill>
              <a:srgbClr val="10B981"/>
            </a:solidFill>
          </a:ln>
        </p:spPr>
        <p:txBody>
          <a:bodyPr anchor="t"/>
          <a:lstStyle/>
          <a:p>
            <a:pPr algn="ctr"/>
            <a:r>
              <a:rPr b="1" sz="900">
                <a:solidFill>
                  <a:srgbClr val="10B981"/>
                </a:solidFill>
                <a:latin typeface="+mn-lt"/>
                <a:cs typeface="+mn-lt"/>
              </a:rPr>
              <a:t>TIER 3 • STORAGE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8138160" y="2560320"/>
            <a:ext cx="2743200" cy="45720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b="1" sz="1600">
                <a:solidFill>
                  <a:srgbClr val="0F172A"/>
                </a:solidFill>
                <a:latin typeface="+mn-lt"/>
                <a:cs typeface="+mn-lt"/>
              </a:rPr>
              <a:t>Distributed State Store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8138160" y="3108960"/>
            <a:ext cx="2743200" cy="2286000"/>
          </a:xfrm>
          <a:prstGeom prst="rect">
            <a:avLst/>
          </a:prstGeom>
        </p:spPr>
        <p:txBody>
          <a:bodyPr anchor="t"/>
          <a:lstStyle/>
          <a:p>
            <a:pPr algn="l" lvl="0"/>
            <a:r>
              <a:rPr sz="1100">
                <a:solidFill>
                  <a:srgbClr val="475569"/>
                </a:solidFill>
                <a:latin typeface="+mn-lt"/>
                <a:cs typeface="+mn-lt"/>
              </a:rPr>
              <a:t>Globally replicated R2 object store</a:t>
            </a:r>
          </a:p>
          <a:p>
            <a:pPr algn="l" lvl="0"/>
            <a:r>
              <a:rPr sz="1100">
                <a:solidFill>
                  <a:srgbClr val="475569"/>
                </a:solidFill>
                <a:latin typeface="+mn-lt"/>
                <a:cs typeface="+mn-lt"/>
              </a:rPr>
              <a:t>Low-latency D1 serverless SQLite</a:t>
            </a:r>
          </a:p>
          <a:p>
            <a:pPr algn="l" lvl="0"/>
            <a:r>
              <a:rPr sz="1100">
                <a:solidFill>
                  <a:srgbClr val="475569"/>
                </a:solidFill>
                <a:latin typeface="+mn-lt"/>
                <a:cs typeface="+mn-lt"/>
              </a:rPr>
              <a:t>Workers KV key-value cache</a:t>
            </a:r>
          </a:p>
        </p:txBody>
      </p:sp>
      <p:sp>
        <p:nvSpPr>
          <p:cNvPr id="16" name="Text Box 15"/>
          <p:cNvSpPr txBox="1"/>
          <p:nvPr/>
        </p:nvSpPr>
        <p:spPr>
          <a:xfrm>
            <a:off x="731520" y="6510528"/>
            <a:ext cx="10725912" cy="228600"/>
          </a:xfrm>
          <a:prstGeom prst="rect">
            <a:avLst/>
          </a:prstGeom>
        </p:spPr>
        <p:txBody>
          <a:bodyPr anchor="t"/>
          <a:lstStyle/>
          <a:p>
            <a:pPr algn="ctr"/>
            <a:r>
              <a:rPr i="1" sz="800">
                <a:solidFill>
                  <a:srgbClr val="94A3B8"/>
                </a:solidFill>
                <a:latin typeface="+mn-lt"/>
                <a:cs typeface="+mn-lt"/>
              </a:rPr>
              <a:t>* Disclaimer: All benchmark metrics, performance figures, and simulated architectures in this deck are synthetic demonstration values generated solely to showcase the authoring, formatting, and rendering capabilities of @hokkyss/pptx.</a:t>
            </a:r>
          </a:p>
        </p:txBody>
      </p:sp>
    </p:spTree>
  </p:cSld>
  <p:clrMapOvr>
    <a:masterClrMapping/>
  </p:clrMapOvr>
  <p:transition spd="fast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914400" y="731520"/>
            <a:ext cx="10360152" cy="54864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b="1" sz="2400">
                <a:solidFill>
                  <a:srgbClr val="0F172A"/>
                </a:solidFill>
                <a:latin typeface="+mj-lt"/>
                <a:cs typeface="+mj-lt"/>
              </a:rPr>
              <a:t>Isomorphic Media &amp; High-Fidelity Image Embedding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914400" y="1280160"/>
            <a:ext cx="10360152" cy="36576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sz="1400">
                <a:solidFill>
                  <a:srgbClr val="64748B"/>
                </a:solidFill>
                <a:latin typeface="+mn-lt"/>
                <a:cs typeface="+mn-lt"/>
              </a:rPr>
              <a:t>Embedded raster graphics (PNG, JPEG), transparent alpha channels, aspect ratio scaling, and card layouts</a:t>
            </a:r>
          </a:p>
        </p:txBody>
      </p:sp>
      <p:sp>
        <p:nvSpPr>
          <p:cNvPr id="4" name="roundRect 3"/>
          <p:cNvSpPr/>
          <p:nvPr/>
        </p:nvSpPr>
        <p:spPr>
          <a:xfrm>
            <a:off x="914400" y="1828800"/>
            <a:ext cx="4937760" cy="4114800"/>
          </a:xfrm>
          <a:prstGeom prst="roundRect">
            <a:avLst/>
          </a:prstGeom>
          <a:solidFill>
            <a:srgbClr val="FFFFFF"/>
          </a:solidFill>
          <a:ln w="13716">
            <a:solidFill>
              <a:srgbClr val="E2E8F0"/>
            </a:solidFill>
          </a:ln>
          <a:effectLst>
            <a:outerShdw blurRad="137160" dist="45720" dir="540000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103120"/>
            <a:ext cx="4389120" cy="246888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1188720" y="4754880"/>
            <a:ext cx="4389120" cy="36576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b="1" sz="1500">
                <a:solidFill>
                  <a:srgbClr val="0F172A"/>
                </a:solidFill>
                <a:latin typeface="+mn-lt"/>
                <a:cs typeface="+mn-lt"/>
              </a:rPr>
              <a:t>Rich Visual Asset Integration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1188720" y="5120640"/>
            <a:ext cx="4389120" cy="54864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sz="1100">
                <a:solidFill>
                  <a:srgbClr val="64748B"/>
                </a:solidFill>
                <a:latin typeface="+mn-lt"/>
                <a:cs typeface="+mn-lt"/>
              </a:rPr>
              <a:t>Automatic MIME-type detection, relationship mapping, and lossless OpenXML zip packaging.</a:t>
            </a:r>
          </a:p>
        </p:txBody>
      </p:sp>
      <p:sp>
        <p:nvSpPr>
          <p:cNvPr id="8" name="roundRect 7"/>
          <p:cNvSpPr/>
          <p:nvPr/>
        </p:nvSpPr>
        <p:spPr>
          <a:xfrm>
            <a:off x="6336792" y="1828800"/>
            <a:ext cx="4937760" cy="4114800"/>
          </a:xfrm>
          <a:prstGeom prst="roundRect">
            <a:avLst/>
          </a:prstGeom>
          <a:solidFill>
            <a:srgbClr val="FFFFFF"/>
          </a:solidFill>
          <a:ln w="13716">
            <a:solidFill>
              <a:srgbClr val="E2E8F0"/>
            </a:solidFill>
          </a:ln>
          <a:effectLst>
            <a:outerShdw blurRad="137160" dist="45720" dir="540000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roundRect 8"/>
          <p:cNvSpPr/>
          <p:nvPr/>
        </p:nvSpPr>
        <p:spPr>
          <a:xfrm>
            <a:off x="6611112" y="2103120"/>
            <a:ext cx="4389120" cy="1097280"/>
          </a:xfrm>
          <a:prstGeom prst="roundRect">
            <a:avLst/>
          </a:prstGeom>
          <a:solidFill>
            <a:srgbClr val="0F172A"/>
          </a:solidFill>
        </p:spPr>
        <p:txBody>
          <a:bodyPr/>
          <a:lstStyle/>
          <a:p>
            <a:endParaRPr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272" y="2286000"/>
            <a:ext cx="1828800" cy="731520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6611112" y="3383280"/>
            <a:ext cx="4389120" cy="36576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b="1" sz="1500">
                <a:solidFill>
                  <a:srgbClr val="0F172A"/>
                </a:solidFill>
                <a:latin typeface="+mn-lt"/>
                <a:cs typeface="+mn-lt"/>
              </a:rPr>
              <a:t>Supported Image Codecs &amp; Features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611112" y="3840480"/>
            <a:ext cx="4389120" cy="2011680"/>
          </a:xfrm>
          <a:prstGeom prst="rect">
            <a:avLst/>
          </a:prstGeom>
        </p:spPr>
        <p:txBody>
          <a:bodyPr anchor="t"/>
          <a:lstStyle/>
          <a:p>
            <a:pPr algn="l" lvl="0" marL="152400" indent="-152400">
              <a:buChar char="•"/>
            </a:pPr>
            <a:r>
              <a:rPr sz="1100">
                <a:solidFill>
                  <a:srgbClr val="475569"/>
                </a:solidFill>
                <a:latin typeface="+mn-lt"/>
                <a:cs typeface="+mn-lt"/>
              </a:rPr>
              <a:t>PNG with 32-bit RGBA alpha transparency</a:t>
            </a:r>
          </a:p>
          <a:p>
            <a:pPr algn="l" lvl="0" marL="152400" indent="-152400">
              <a:buChar char="•"/>
            </a:pPr>
            <a:r>
              <a:rPr sz="1100">
                <a:solidFill>
                  <a:srgbClr val="475569"/>
                </a:solidFill>
                <a:latin typeface="+mn-lt"/>
                <a:cs typeface="+mn-lt"/>
              </a:rPr>
              <a:t>JPEG / JPG progressive and baseline encoding</a:t>
            </a:r>
          </a:p>
          <a:p>
            <a:pPr algn="l" lvl="0" marL="152400" indent="-152400">
              <a:buChar char="•"/>
            </a:pPr>
            <a:r>
              <a:rPr sz="1100">
                <a:solidFill>
                  <a:srgbClr val="475569"/>
                </a:solidFill>
                <a:latin typeface="+mn-lt"/>
                <a:cs typeface="+mn-lt"/>
              </a:rPr>
              <a:t>Zero-copy ArrayBuffer &amp; Uint8Array input</a:t>
            </a:r>
          </a:p>
          <a:p>
            <a:pPr algn="l" lvl="0" marL="152400" indent="-152400">
              <a:buChar char="•"/>
            </a:pPr>
            <a:r>
              <a:rPr sz="1100">
                <a:solidFill>
                  <a:srgbClr val="475569"/>
                </a:solidFill>
                <a:latin typeface="+mn-lt"/>
                <a:cs typeface="+mn-lt"/>
              </a:rPr>
              <a:t>Placeholder resolution into slide layout picture frames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731520" y="6510528"/>
            <a:ext cx="10725912" cy="228600"/>
          </a:xfrm>
          <a:prstGeom prst="rect">
            <a:avLst/>
          </a:prstGeom>
        </p:spPr>
        <p:txBody>
          <a:bodyPr anchor="t"/>
          <a:lstStyle/>
          <a:p>
            <a:pPr algn="ctr"/>
            <a:r>
              <a:rPr i="1" sz="800">
                <a:solidFill>
                  <a:srgbClr val="94A3B8"/>
                </a:solidFill>
                <a:latin typeface="+mn-lt"/>
                <a:cs typeface="+mn-lt"/>
              </a:rPr>
              <a:t>* Disclaimer: All benchmark metrics, performance figures, and simulated architectures in this deck are synthetic demonstration values generated solely to showcase the authoring, formatting, and rendering capabilities of @hokkyss/pptx.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914400" y="731520"/>
            <a:ext cx="10360152" cy="54864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b="1" sz="2400">
                <a:solidFill>
                  <a:srgbClr val="38BDF8"/>
                </a:solidFill>
                <a:latin typeface="+mj-lt"/>
                <a:cs typeface="+mj-lt"/>
              </a:rPr>
              <a:t>Complex Multi-Level Outlining &amp; PowerPoint Parity Matrix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914400" y="1280160"/>
            <a:ext cx="10360152" cy="36576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sz="1300">
                <a:solidFill>
                  <a:srgbClr val="94A3B8"/>
                </a:solidFill>
                <a:latin typeface="+mn-lt"/>
                <a:cs typeface="+mn-lt"/>
              </a:rPr>
              <a:t>Demonstrating Shift + Enter soft breaks (&lt;a:br&gt;), Tab / Shift + Tab hierarchical levels (0-3), and master styling inheritance</a:t>
            </a:r>
          </a:p>
        </p:txBody>
      </p:sp>
      <p:sp>
        <p:nvSpPr>
          <p:cNvPr id="4" name="roundRect 3"/>
          <p:cNvSpPr/>
          <p:nvPr/>
        </p:nvSpPr>
        <p:spPr>
          <a:xfrm>
            <a:off x="914400" y="1828800"/>
            <a:ext cx="4937760" cy="4206240"/>
          </a:xfrm>
          <a:prstGeom prst="roundRect">
            <a:avLst/>
          </a:prstGeom>
          <a:solidFill>
            <a:srgbClr val="1E293B"/>
          </a:solidFill>
          <a:ln w="13716">
            <a:solidFill>
              <a:srgbClr val="38BDF8"/>
            </a:solidFill>
          </a:ln>
          <a:effectLst>
            <a:outerShdw blurRad="182880" dist="45720" dir="540000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Box 4"/>
          <p:cNvSpPr txBox="1"/>
          <p:nvPr/>
        </p:nvSpPr>
        <p:spPr>
          <a:xfrm>
            <a:off x="1188720" y="2011680"/>
            <a:ext cx="4389120" cy="36576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b="1" sz="1500">
                <a:solidFill>
                  <a:srgbClr val="38BDF8"/>
                </a:solidFill>
                <a:latin typeface="+mn-lt"/>
                <a:cs typeface="+mn-lt"/>
              </a:rPr>
              <a:t>PowerPoint Parity: Shift+Enter &amp; Tab Levels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1188720" y="2377440"/>
            <a:ext cx="4389120" cy="3474720"/>
          </a:xfrm>
          <a:prstGeom prst="rect">
            <a:avLst/>
          </a:prstGeom>
        </p:spPr>
        <p:txBody>
          <a:bodyPr anchor="t"/>
          <a:lstStyle/>
          <a:p>
            <a:pPr algn="l" lvl="0" marL="152400" indent="-152400">
              <a:buChar char="•"/>
            </a:pPr>
            <a:r>
              <a:rPr b="1" sz="1050">
                <a:solidFill>
                  <a:srgbClr val="CBD5E1"/>
                </a:solidFill>
                <a:latin typeface="+mn-lt"/>
                <a:cs typeface="+mn-lt"/>
              </a:rPr>
              <a:t>Core Infrastructure Fleet</a:t>
            </a:r>
            <a:br>
              <a:rPr sz="1050">
                <a:solidFill>
                  <a:srgbClr val="CBD5E1"/>
                </a:solidFill>
                <a:latin typeface="+mn-lt"/>
                <a:cs typeface="+mn-lt"/>
              </a:rPr>
            </a:br>
            <a:r>
              <a:rPr sz="1050">
                <a:solidFill>
                  <a:srgbClr val="94A3B8"/>
                </a:solidFill>
                <a:latin typeface="+mn-lt"/>
                <a:cs typeface="+mn-lt"/>
              </a:rPr>
              <a:t>↳ Shift+Enter: soft break continuation under same bullet</a:t>
            </a:r>
          </a:p>
          <a:p>
            <a:pPr algn="l" lvl="1" marL="381000" indent="-152400">
              <a:buChar char="•"/>
            </a:pPr>
            <a:r>
              <a:rPr sz="1050">
                <a:solidFill>
                  <a:srgbClr val="CBD5E1"/>
                </a:solidFill>
                <a:latin typeface="+mn-lt"/>
                <a:cs typeface="+mn-lt"/>
              </a:rPr>
              <a:t>Edge Routing Layer (Anycast DNS)</a:t>
            </a:r>
            <a:br>
              <a:rPr sz="1050">
                <a:solidFill>
                  <a:srgbClr val="CBD5E1"/>
                </a:solidFill>
                <a:latin typeface="+mn-lt"/>
                <a:cs typeface="+mn-lt"/>
              </a:rPr>
            </a:br>
            <a:r>
              <a:rPr sz="1050">
                <a:solidFill>
                  <a:srgbClr val="94A3B8"/>
                </a:solidFill>
                <a:latin typeface="+mn-lt"/>
                <a:cs typeface="+mn-lt"/>
              </a:rPr>
              <a:t>↳ Tab indent: sub-ms global route resolution</a:t>
            </a:r>
          </a:p>
          <a:p>
            <a:pPr algn="l" lvl="2" marL="609600" indent="-152400">
              <a:buChar char="•"/>
            </a:pPr>
            <a:r>
              <a:rPr sz="1050">
                <a:solidFill>
                  <a:srgbClr val="CBD5E1"/>
                </a:solidFill>
                <a:latin typeface="+mn-lt"/>
                <a:cs typeface="+mn-lt"/>
              </a:rPr>
              <a:t>TLS 1.3 Security Envelope</a:t>
            </a:r>
            <a:br>
              <a:rPr sz="1050">
                <a:solidFill>
                  <a:srgbClr val="CBD5E1"/>
                </a:solidFill>
                <a:latin typeface="+mn-lt"/>
                <a:cs typeface="+mn-lt"/>
              </a:rPr>
            </a:br>
            <a:r>
              <a:rPr sz="1050">
                <a:solidFill>
                  <a:srgbClr val="94A3B8"/>
                </a:solidFill>
                <a:latin typeface="+mn-lt"/>
                <a:cs typeface="+mn-lt"/>
              </a:rPr>
              <a:t>↳ Tab Tab: 0-RTT session resumption</a:t>
            </a:r>
          </a:p>
          <a:p>
            <a:pPr algn="l" lvl="3" marL="838200" indent="-152400">
              <a:buChar char="•"/>
            </a:pPr>
            <a:r>
              <a:rPr sz="1050">
                <a:solidFill>
                  <a:srgbClr val="CBD5E1"/>
                </a:solidFill>
                <a:latin typeface="+mn-lt"/>
                <a:cs typeface="+mn-lt"/>
              </a:rPr>
              <a:t>DDoS heuristic anomaly mitigation filter</a:t>
            </a:r>
          </a:p>
          <a:p>
            <a:pPr algn="l" lvl="0" marL="152400" indent="-152400">
              <a:buChar char="•"/>
            </a:pPr>
            <a:r>
              <a:rPr b="1" sz="1050">
                <a:solidFill>
                  <a:srgbClr val="CBD5E1"/>
                </a:solidFill>
                <a:latin typeface="+mn-lt"/>
                <a:cs typeface="+mn-lt"/>
              </a:rPr>
              <a:t>Global State &amp; Cache Synchronization</a:t>
            </a:r>
            <a:br>
              <a:rPr sz="1050">
                <a:solidFill>
                  <a:srgbClr val="CBD5E1"/>
                </a:solidFill>
                <a:latin typeface="+mn-lt"/>
                <a:cs typeface="+mn-lt"/>
              </a:rPr>
            </a:br>
            <a:r>
              <a:rPr sz="1050">
                <a:solidFill>
                  <a:srgbClr val="94A3B8"/>
                </a:solidFill>
                <a:latin typeface="+mn-lt"/>
                <a:cs typeface="+mn-lt"/>
              </a:rPr>
              <a:t>↳ Shift+Tab: returns to level 0 root bullet</a:t>
            </a:r>
          </a:p>
          <a:p>
            <a:pPr algn="l" lvl="1" marL="381000" indent="-152400">
              <a:buChar char="•"/>
            </a:pPr>
            <a:r>
              <a:rPr sz="1050">
                <a:solidFill>
                  <a:srgbClr val="CBD5E1"/>
                </a:solidFill>
                <a:latin typeface="+mn-lt"/>
                <a:cs typeface="+mn-lt"/>
              </a:rPr>
              <a:t>D1 SQLite Replicas + KV Cache</a:t>
            </a:r>
          </a:p>
        </p:txBody>
      </p:sp>
      <p:sp>
        <p:nvSpPr>
          <p:cNvPr id="7" name="roundRect 6"/>
          <p:cNvSpPr/>
          <p:nvPr/>
        </p:nvSpPr>
        <p:spPr>
          <a:xfrm>
            <a:off x="6336792" y="1828800"/>
            <a:ext cx="4937760" cy="4206240"/>
          </a:xfrm>
          <a:prstGeom prst="roundRect">
            <a:avLst/>
          </a:prstGeom>
          <a:solidFill>
            <a:srgbClr val="1E293B"/>
          </a:solidFill>
          <a:ln w="13716">
            <a:solidFill>
              <a:srgbClr val="6366F1"/>
            </a:solidFill>
          </a:ln>
          <a:effectLst>
            <a:outerShdw blurRad="182880" dist="45720" dir="540000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Box 7"/>
          <p:cNvSpPr txBox="1"/>
          <p:nvPr/>
        </p:nvSpPr>
        <p:spPr>
          <a:xfrm>
            <a:off x="6611112" y="2011680"/>
            <a:ext cx="4389120" cy="36576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b="1" sz="1500">
                <a:solidFill>
                  <a:srgbClr val="818CF8"/>
                </a:solidFill>
                <a:latin typeface="+mn-lt"/>
                <a:cs typeface="+mn-lt"/>
              </a:rPr>
              <a:t>Compilation Lifecycle with Soft Breaks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6611112" y="2377440"/>
            <a:ext cx="4389120" cy="3474720"/>
          </a:xfrm>
          <a:prstGeom prst="rect">
            <a:avLst/>
          </a:prstGeom>
        </p:spPr>
        <p:txBody>
          <a:bodyPr anchor="t"/>
          <a:lstStyle/>
          <a:p>
            <a:pPr algn="l" lvl="0" marL="203200" indent="-203200">
              <a:buAutoNum type="arabicPeriod"/>
            </a:pPr>
            <a:r>
              <a:rPr b="1" sz="1050">
                <a:solidFill>
                  <a:srgbClr val="CBD5E1"/>
                </a:solidFill>
                <a:latin typeface="+mn-lt"/>
                <a:cs typeface="+mn-lt"/>
              </a:rPr>
              <a:t>Phase 1: Ingestion &amp; Parsing</a:t>
            </a:r>
            <a:br>
              <a:rPr sz="1050">
                <a:solidFill>
                  <a:srgbClr val="CBD5E1"/>
                </a:solidFill>
                <a:latin typeface="+mn-lt"/>
                <a:cs typeface="+mn-lt"/>
              </a:rPr>
            </a:br>
            <a:r>
              <a:rPr sz="1050">
                <a:solidFill>
                  <a:srgbClr val="94A3B8"/>
                </a:solidFill>
                <a:latin typeface="+mn-lt"/>
                <a:cs typeface="+mn-lt"/>
              </a:rPr>
              <a:t>Decompresses container with fflate &amp; streams XML parts</a:t>
            </a:r>
          </a:p>
          <a:p>
            <a:pPr algn="l" lvl="1" marL="381000" indent="-152400">
              <a:buChar char="•"/>
            </a:pPr>
            <a:r>
              <a:rPr sz="1050">
                <a:solidFill>
                  <a:srgbClr val="CBD5E1"/>
                </a:solidFill>
                <a:latin typeface="+mn-lt"/>
                <a:cs typeface="+mn-lt"/>
              </a:rPr>
              <a:t>Extract theme, slideMaster, and layout hierarchies</a:t>
            </a:r>
          </a:p>
          <a:p>
            <a:pPr algn="l" lvl="0" marL="203200" indent="-203200">
              <a:buAutoNum type="arabicPeriod"/>
            </a:pPr>
            <a:r>
              <a:rPr b="1" sz="1050">
                <a:solidFill>
                  <a:srgbClr val="CBD5E1"/>
                </a:solidFill>
                <a:latin typeface="+mn-lt"/>
                <a:cs typeface="+mn-lt"/>
              </a:rPr>
              <a:t>Phase 2: AST Mutation &amp; Modeling</a:t>
            </a:r>
            <a:br>
              <a:rPr sz="1050">
                <a:solidFill>
                  <a:srgbClr val="CBD5E1"/>
                </a:solidFill>
                <a:latin typeface="+mn-lt"/>
                <a:cs typeface="+mn-lt"/>
              </a:rPr>
            </a:br>
            <a:r>
              <a:rPr sz="1050">
                <a:solidFill>
                  <a:srgbClr val="94A3B8"/>
                </a:solidFill>
                <a:latin typeface="+mn-lt"/>
                <a:cs typeface="+mn-lt"/>
              </a:rPr>
              <a:t>Applies shapes, tables, shadows, gradients, and formulas</a:t>
            </a:r>
          </a:p>
          <a:p>
            <a:pPr algn="l" lvl="1" marL="381000" indent="-152400">
              <a:buChar char="•"/>
            </a:pPr>
            <a:r>
              <a:rPr sz="1050">
                <a:solidFill>
                  <a:srgbClr val="CBD5E1"/>
                </a:solidFill>
                <a:latin typeface="+mn-lt"/>
                <a:cs typeface="+mn-lt"/>
              </a:rPr>
              <a:t>Computes nominal dimensional types (EMU, pt, in)</a:t>
            </a:r>
          </a:p>
          <a:p>
            <a:pPr algn="l" lvl="0" marL="203200" indent="-203200">
              <a:buAutoNum type="arabicPeriod"/>
            </a:pPr>
            <a:r>
              <a:rPr b="1" sz="1050">
                <a:solidFill>
                  <a:srgbClr val="CBD5E1"/>
                </a:solidFill>
                <a:latin typeface="+mn-lt"/>
                <a:cs typeface="+mn-lt"/>
              </a:rPr>
              <a:t>Phase 3: Serialization &amp; Packaging</a:t>
            </a:r>
            <a:br>
              <a:rPr sz="1050">
                <a:solidFill>
                  <a:srgbClr val="CBD5E1"/>
                </a:solidFill>
                <a:latin typeface="+mn-lt"/>
                <a:cs typeface="+mn-lt"/>
              </a:rPr>
            </a:br>
            <a:r>
              <a:rPr sz="1050">
                <a:solidFill>
                  <a:srgbClr val="94A3B8"/>
                </a:solidFill>
                <a:latin typeface="+mn-lt"/>
                <a:cs typeface="+mn-lt"/>
              </a:rPr>
              <a:t>Emits deterministic OpenXML parts and compiles binary</a:t>
            </a:r>
          </a:p>
          <a:p>
            <a:pPr algn="l" lvl="1" marL="381000" indent="-152400">
              <a:buChar char="•"/>
            </a:pPr>
            <a:r>
              <a:rPr sz="1050">
                <a:solidFill>
                  <a:srgbClr val="CBD5E1"/>
                </a:solidFill>
                <a:latin typeface="+mn-lt"/>
                <a:cs typeface="+mn-lt"/>
              </a:rPr>
              <a:t>Generates zero-copy Uint8Array presentation buffer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731520" y="6510528"/>
            <a:ext cx="10725912" cy="228600"/>
          </a:xfrm>
          <a:prstGeom prst="rect">
            <a:avLst/>
          </a:prstGeom>
        </p:spPr>
        <p:txBody>
          <a:bodyPr anchor="t"/>
          <a:lstStyle/>
          <a:p>
            <a:pPr algn="ctr"/>
            <a:r>
              <a:rPr i="1" sz="800">
                <a:solidFill>
                  <a:srgbClr val="64748B"/>
                </a:solidFill>
                <a:latin typeface="+mn-lt"/>
                <a:cs typeface="+mn-lt"/>
              </a:rPr>
              <a:t>* Disclaimer: All benchmark metrics, performance figures, and simulated architectures in this deck are synthetic demonstration values generated solely to showcase the authoring, formatting, and rendering capabilities of @hokkyss/pptx.</a:t>
            </a:r>
          </a:p>
        </p:txBody>
      </p:sp>
    </p:spTree>
  </p:cSld>
  <p:clrMapOvr>
    <a:masterClrMapping/>
  </p:clrMapOvr>
  <p:transition spd="fast">
    <p:push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:title"/>
          <p:cNvSpPr/>
          <p:nvPr>
            <p:ph type="title"/>
          </p:nvPr>
        </p:nvSpPr>
        <p:spPr>
          <a:xfrm>
            <a:off x="914400" y="731520"/>
            <a:ext cx="10360152" cy="73152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b="1" sz="2400">
                <a:solidFill>
                  <a:srgbClr val="38BDF8"/>
                </a:solidFill>
                <a:latin typeface="+mj-lt"/>
                <a:cs typeface="+mj-lt"/>
              </a:rPr>
              <a:t>Native Content Placeholder (&lt;p:ph idx="1"/&gt;) &amp; Master Inheritance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914400" y="1371600"/>
            <a:ext cx="10360152" cy="36576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sz="1300">
                <a:solidFill>
                  <a:srgbClr val="94A3B8"/>
                </a:solidFill>
                <a:latin typeface="+mn-lt"/>
                <a:cs typeface="+mn-lt"/>
              </a:rPr>
              <a:t>This slide demonstrates a genuine OpenXML Content Placeholder box bound to the Slide Master body styles (&lt;p:bodyStyle&gt;) with native multi-level indentation and Shift+Enter line breaks</a:t>
            </a:r>
          </a:p>
        </p:txBody>
      </p:sp>
      <p:sp>
        <p:nvSpPr>
          <p:cNvPr id="4" name="placeholder:1"/>
          <p:cNvSpPr/>
          <p:nvPr/>
        </p:nvSpPr>
        <p:spPr>
          <a:xfrm>
            <a:off x="914400" y="1920240"/>
            <a:ext cx="10360152" cy="4389120"/>
          </a:xfrm>
          <a:prstGeom prst="rect">
            <a:avLst/>
          </a:prstGeom>
        </p:spPr>
        <p:txBody>
          <a:bodyPr anchor="t"/>
          <a:lstStyle/>
          <a:p>
            <a:pPr algn="l" lvl="0" marL="152400" indent="-152400">
              <a:buChar char="•"/>
            </a:pPr>
            <a:r>
              <a:rPr b="1" sz="1200">
                <a:solidFill>
                  <a:srgbClr val="E2E8F0"/>
                </a:solidFill>
                <a:latin typeface="+mn-lt"/>
                <a:cs typeface="+mn-lt"/>
              </a:rPr>
              <a:t>A1: High Availability &amp; Multi-Region Fleet (Level 0 Root Bullet)</a:t>
            </a:r>
            <a:br>
              <a:rPr sz="1200">
                <a:solidFill>
                  <a:srgbClr val="E2E8F0"/>
                </a:solidFill>
                <a:latin typeface="+mn-lt"/>
                <a:cs typeface="+mn-lt"/>
              </a:rPr>
            </a:br>
            <a:r>
              <a:rPr sz="1200">
                <a:solidFill>
                  <a:srgbClr val="94A3B8"/>
                </a:solidFill>
                <a:latin typeface="+mn-lt"/>
                <a:cs typeface="+mn-lt"/>
              </a:rPr>
              <a:t>↳ Shift+Enter: multi-line statement cleanly indented beneath the same bullet point without spawning an extra glyph.</a:t>
            </a:r>
          </a:p>
          <a:p>
            <a:pPr algn="l" lvl="1" marL="381000" indent="-152400">
              <a:buChar char="•"/>
            </a:pPr>
            <a:r>
              <a:rPr sz="1200">
                <a:solidFill>
                  <a:srgbClr val="E2E8F0"/>
                </a:solidFill>
                <a:latin typeface="+mn-lt"/>
                <a:cs typeface="+mn-lt"/>
              </a:rPr>
              <a:t>B1: Anycast Edge Routing Layer with 300+ Global PoPs (Level 1 / Tab)</a:t>
            </a:r>
            <a:br>
              <a:rPr sz="1200">
                <a:solidFill>
                  <a:srgbClr val="E2E8F0"/>
                </a:solidFill>
                <a:latin typeface="+mn-lt"/>
                <a:cs typeface="+mn-lt"/>
              </a:rPr>
            </a:br>
            <a:r>
              <a:rPr sz="1200">
                <a:solidFill>
                  <a:srgbClr val="94A3B8"/>
                </a:solidFill>
                <a:latin typeface="+mn-lt"/>
                <a:cs typeface="+mn-lt"/>
              </a:rPr>
              <a:t>↳ Automatically inherits level 1 margin and hanging indent directly from the Slide Master without inline overrides.</a:t>
            </a:r>
          </a:p>
          <a:p>
            <a:pPr algn="l" lvl="2" marL="609600" indent="-152400">
              <a:buChar char="•"/>
            </a:pPr>
            <a:r>
              <a:rPr sz="1200">
                <a:solidFill>
                  <a:srgbClr val="E2E8F0"/>
                </a:solidFill>
                <a:latin typeface="+mn-lt"/>
                <a:cs typeface="+mn-lt"/>
              </a:rPr>
              <a:t>C1: Zero-RTT TLS 1.3 Handshake &amp; Heuristic DDoS Protection (Level 2 / Tab Tab)</a:t>
            </a:r>
            <a:br>
              <a:rPr sz="1200">
                <a:solidFill>
                  <a:srgbClr val="E2E8F0"/>
                </a:solidFill>
                <a:latin typeface="+mn-lt"/>
                <a:cs typeface="+mn-lt"/>
              </a:rPr>
            </a:br>
            <a:r>
              <a:rPr sz="1200">
                <a:solidFill>
                  <a:srgbClr val="94A3B8"/>
                </a:solidFill>
                <a:latin typeface="+mn-lt"/>
                <a:cs typeface="+mn-lt"/>
              </a:rPr>
              <a:t>↳ P99 latency SLA: &lt; 1.2ms across all geographic regions with zero cold starts.</a:t>
            </a:r>
          </a:p>
          <a:p>
            <a:pPr algn="l" lvl="3" marL="838200" indent="-152400">
              <a:buChar char="•"/>
            </a:pPr>
            <a:r>
              <a:rPr sz="1200">
                <a:solidFill>
                  <a:srgbClr val="E2E8F0"/>
                </a:solidFill>
                <a:latin typeface="+mn-lt"/>
                <a:cs typeface="+mn-lt"/>
              </a:rPr>
              <a:t>D1: Kernel-level eBPF packet inspection and anomaly heuristics (Level 3 / Tab Tab Tab)</a:t>
            </a:r>
          </a:p>
          <a:p>
            <a:pPr algn="l" lvl="0" marL="152400" indent="-152400">
              <a:buChar char="•"/>
            </a:pPr>
            <a:r>
              <a:rPr sz="1200">
                <a:solidFill>
                  <a:srgbClr val="E2E8F0"/>
                </a:solidFill>
                <a:latin typeface="+mn-lt"/>
                <a:cs typeface="+mn-lt"/>
              </a:rPr>
              <a:t>A2: Automated State &amp; Cache Synchronization (Level 0 / Shift+Tab)</a:t>
            </a:r>
            <a:br>
              <a:rPr sz="1200">
                <a:solidFill>
                  <a:srgbClr val="E2E8F0"/>
                </a:solidFill>
                <a:latin typeface="+mn-lt"/>
                <a:cs typeface="+mn-lt"/>
              </a:rPr>
            </a:br>
            <a:r>
              <a:rPr sz="1200">
                <a:solidFill>
                  <a:srgbClr val="94A3B8"/>
                </a:solidFill>
                <a:latin typeface="+mn-lt"/>
                <a:cs typeface="+mn-lt"/>
              </a:rPr>
              <a:t>↳ Shift+Tab returns seamlessly to the root bullet level, matching PowerPoint desktop editing behavior.</a:t>
            </a:r>
          </a:p>
          <a:p>
            <a:pPr algn="l" lvl="1" marL="381000" indent="-152400">
              <a:buChar char="•"/>
            </a:pPr>
            <a:r>
              <a:rPr sz="1200">
                <a:solidFill>
                  <a:srgbClr val="E2E8F0"/>
                </a:solidFill>
                <a:latin typeface="+mn-lt"/>
                <a:cs typeface="+mn-lt"/>
              </a:rPr>
              <a:t>B2: D1 Relational SQLite Replicas + Globally Distributed KV Cache Layer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731520" y="6510528"/>
            <a:ext cx="10725912" cy="228600"/>
          </a:xfrm>
          <a:prstGeom prst="rect">
            <a:avLst/>
          </a:prstGeom>
        </p:spPr>
        <p:txBody>
          <a:bodyPr anchor="t"/>
          <a:lstStyle/>
          <a:p>
            <a:pPr algn="ctr"/>
            <a:r>
              <a:rPr i="1" sz="800">
                <a:solidFill>
                  <a:srgbClr val="64748B"/>
                </a:solidFill>
                <a:latin typeface="+mn-lt"/>
                <a:cs typeface="+mn-lt"/>
              </a:rPr>
              <a:t>* Disclaimer: All benchmark metrics, performance figures, and simulated architectures in this deck are synthetic demonstration values generated solely to showcase the authoring, formatting, and rendering capabilities of @hokkyss/pptx.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914400" y="731520"/>
            <a:ext cx="10360152" cy="73152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b="1" sz="2400">
                <a:solidFill>
                  <a:srgbClr val="38BDF8"/>
                </a:solidFill>
                <a:latin typeface="+mj-lt"/>
                <a:cs typeface="+mj-lt"/>
              </a:rPr>
              <a:t>Hierarchical Block Indentation (bullet: false) &amp; Code Outlines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914400" y="1371600"/>
            <a:ext cx="10360152" cy="36576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sz="1300">
                <a:solidFill>
                  <a:srgbClr val="94A3B8"/>
                </a:solidFill>
                <a:latin typeface="+mn-lt"/>
                <a:cs typeface="+mn-lt"/>
              </a:rPr>
              <a:t>Demonstrating { level: N, bullet: false } (&lt;a:buNone/&gt;) — suppresses bullet glyphs while preserving precise margin indentation, soft breaks, and Tab / Shift+Tab cycling</a:t>
            </a:r>
          </a:p>
        </p:txBody>
      </p:sp>
      <p:sp>
        <p:nvSpPr>
          <p:cNvPr id="4" name="roundRect 3"/>
          <p:cNvSpPr/>
          <p:nvPr/>
        </p:nvSpPr>
        <p:spPr>
          <a:xfrm>
            <a:off x="914400" y="1828800"/>
            <a:ext cx="4937760" cy="4480560"/>
          </a:xfrm>
          <a:prstGeom prst="roundRect">
            <a:avLst/>
          </a:prstGeom>
          <a:solidFill>
            <a:srgbClr val="1E293B"/>
          </a:solidFill>
          <a:ln w="13716">
            <a:solidFill>
              <a:srgbClr val="38BDF8"/>
            </a:solidFill>
          </a:ln>
          <a:effectLst>
            <a:outerShdw blurRad="182880" dist="45720" dir="540000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Box 4"/>
          <p:cNvSpPr txBox="1"/>
          <p:nvPr/>
        </p:nvSpPr>
        <p:spPr>
          <a:xfrm>
            <a:off x="1097280" y="2011680"/>
            <a:ext cx="4572000" cy="36576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b="1" sz="1400">
                <a:solidFill>
                  <a:srgbClr val="38BDF8"/>
                </a:solidFill>
                <a:latin typeface="+mn-lt"/>
                <a:cs typeface="+mn-lt"/>
              </a:rPr>
              <a:t>📋 Architectural Block Outlining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1097280" y="2423160"/>
            <a:ext cx="4572000" cy="3749040"/>
          </a:xfrm>
          <a:prstGeom prst="rect">
            <a:avLst/>
          </a:prstGeom>
        </p:spPr>
        <p:txBody>
          <a:bodyPr anchor="t"/>
          <a:lstStyle/>
          <a:p>
            <a:pPr algn="l" lvl="0" marL="152400" indent="-152400">
              <a:buChar char="•"/>
            </a:pPr>
            <a:r>
              <a:rPr b="1" sz="1050">
                <a:solidFill>
                  <a:srgbClr val="E2E8F0"/>
                </a:solidFill>
                <a:latin typeface="+mn-lt"/>
                <a:cs typeface="+mn-lt"/>
              </a:rPr>
              <a:t>1. Primary Storage Engine (Raft Consensus)</a:t>
            </a:r>
          </a:p>
          <a:p>
            <a:pPr algn="l" lvl="1">
              <a:buNone/>
            </a:pPr>
            <a:r>
              <a:rPr sz="1050">
                <a:solidFill>
                  <a:srgbClr val="94A3B8"/>
                </a:solidFill>
                <a:latin typeface="+mn-lt"/>
                <a:cs typeface="+mn-lt"/>
              </a:rPr>
              <a:t>↳ level: 1, bullet: false — Block explanation indented under Level 0</a:t>
            </a:r>
            <a:br>
              <a:rPr sz="1050">
                <a:solidFill>
                  <a:srgbClr val="E2E8F0"/>
                </a:solidFill>
                <a:latin typeface="+mn-lt"/>
                <a:cs typeface="+mn-lt"/>
              </a:rPr>
            </a:br>
            <a:r>
              <a:rPr sz="1050">
                <a:solidFill>
                  <a:srgbClr val="64748B"/>
                </a:solidFill>
                <a:latin typeface="+mn-lt"/>
                <a:cs typeface="+mn-lt"/>
              </a:rPr>
              <a:t>Maintains strict linearizable consistency across all state machine nodes.</a:t>
            </a:r>
          </a:p>
          <a:p>
            <a:pPr algn="l" lvl="2">
              <a:buNone/>
            </a:pPr>
            <a:r>
              <a:rPr sz="1050">
                <a:solidFill>
                  <a:srgbClr val="38BDF8"/>
                </a:solidFill>
                <a:latin typeface="+mn-lt"/>
                <a:cs typeface="+mn-lt"/>
              </a:rPr>
              <a:t>• Technical SLA: </a:t>
            </a:r>
            <a:r>
              <a:rPr sz="1050">
                <a:solidFill>
                  <a:srgbClr val="CBD5E1"/>
                </a:solidFill>
                <a:latin typeface="+mn-lt"/>
                <a:cs typeface="+mn-lt"/>
              </a:rPr>
              <a:t>P99 commit latency &lt; 0.85ms over NVMe WAL</a:t>
            </a:r>
          </a:p>
          <a:p>
            <a:pPr algn="l" lvl="0" marL="152400" indent="-152400">
              <a:buChar char="•"/>
            </a:pPr>
            <a:r>
              <a:rPr b="1" sz="1050">
                <a:solidFill>
                  <a:srgbClr val="E2E8F0"/>
                </a:solidFill>
                <a:latin typeface="+mn-lt"/>
                <a:cs typeface="+mn-lt"/>
              </a:rPr>
              <a:t>2. Multi-Region Active Replication</a:t>
            </a:r>
          </a:p>
          <a:p>
            <a:pPr algn="l" lvl="1">
              <a:buNone/>
            </a:pPr>
            <a:r>
              <a:rPr sz="1050">
                <a:solidFill>
                  <a:srgbClr val="94A3B8"/>
                </a:solidFill>
                <a:latin typeface="+mn-lt"/>
                <a:cs typeface="+mn-lt"/>
              </a:rPr>
              <a:t>↳ level: 1, bullet: false — Block commentary (no bullet glyph)</a:t>
            </a:r>
            <a:br>
              <a:rPr sz="1050">
                <a:solidFill>
                  <a:srgbClr val="E2E8F0"/>
                </a:solidFill>
                <a:latin typeface="+mn-lt"/>
                <a:cs typeface="+mn-lt"/>
              </a:rPr>
            </a:br>
            <a:r>
              <a:rPr sz="1050">
                <a:solidFill>
                  <a:srgbClr val="64748B"/>
                </a:solidFill>
                <a:latin typeface="+mn-lt"/>
                <a:cs typeface="+mn-lt"/>
              </a:rPr>
              <a:t>Automatic failover orchestration with zero operational downtime.</a:t>
            </a:r>
          </a:p>
          <a:p>
            <a:pPr algn="l" lvl="2">
              <a:buNone/>
            </a:pPr>
            <a:r>
              <a:rPr sz="1050">
                <a:solidFill>
                  <a:srgbClr val="10B981"/>
                </a:solidFill>
                <a:latin typeface="+mn-lt"/>
                <a:cs typeface="+mn-lt"/>
              </a:rPr>
              <a:t>• Health Heartbeat: </a:t>
            </a:r>
            <a:r>
              <a:rPr sz="1050">
                <a:solidFill>
                  <a:srgbClr val="CBD5E1"/>
                </a:solidFill>
                <a:latin typeface="+mn-lt"/>
                <a:cs typeface="+mn-lt"/>
              </a:rPr>
              <a:t>Sub-50ms peer gossip discovery with eBPF probes</a:t>
            </a:r>
          </a:p>
        </p:txBody>
      </p:sp>
      <p:sp>
        <p:nvSpPr>
          <p:cNvPr id="7" name="roundRect 6"/>
          <p:cNvSpPr/>
          <p:nvPr/>
        </p:nvSpPr>
        <p:spPr>
          <a:xfrm>
            <a:off x="6217920" y="1828800"/>
            <a:ext cx="4937760" cy="4480560"/>
          </a:xfrm>
          <a:prstGeom prst="roundRect">
            <a:avLst/>
          </a:prstGeom>
          <a:solidFill>
            <a:srgbClr val="1E293B"/>
          </a:solidFill>
          <a:ln w="13716">
            <a:solidFill>
              <a:srgbClr val="6366F1"/>
            </a:solidFill>
          </a:ln>
          <a:effectLst>
            <a:outerShdw blurRad="182880" dist="45720" dir="540000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Box 7"/>
          <p:cNvSpPr txBox="1"/>
          <p:nvPr/>
        </p:nvSpPr>
        <p:spPr>
          <a:xfrm>
            <a:off x="6400800" y="2011680"/>
            <a:ext cx="4572000" cy="36576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b="1" sz="1400">
                <a:solidFill>
                  <a:srgbClr val="818CF8"/>
                </a:solidFill>
                <a:latin typeface="+mn-lt"/>
                <a:cs typeface="+mn-lt"/>
              </a:rPr>
              <a:t>💻 Code &amp; Config Indentation Simulation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6400800" y="2423160"/>
            <a:ext cx="4572000" cy="3749040"/>
          </a:xfrm>
          <a:prstGeom prst="rect">
            <a:avLst/>
          </a:prstGeom>
        </p:spPr>
        <p:txBody>
          <a:bodyPr anchor="t"/>
          <a:lstStyle/>
          <a:p>
            <a:pPr algn="l" lvl="0">
              <a:buNone/>
            </a:pPr>
            <a:r>
              <a:rPr sz="1100">
                <a:solidFill>
                  <a:srgbClr val="F43F5E"/>
                </a:solidFill>
                <a:latin typeface="Courier New"/>
                <a:cs typeface="Courier New"/>
              </a:rPr>
              <a:t>export interface </a:t>
            </a:r>
            <a:r>
              <a:rPr b="1" sz="1100">
                <a:solidFill>
                  <a:srgbClr val="38BDF8"/>
                </a:solidFill>
                <a:latin typeface="Courier New"/>
                <a:cs typeface="Courier New"/>
              </a:rPr>
              <a:t>PresentationConfig </a:t>
            </a:r>
            <a:r>
              <a:rPr sz="1100">
                <a:solidFill>
                  <a:srgbClr val="E2E8F0"/>
                </a:solidFill>
                <a:latin typeface="Courier New"/>
                <a:cs typeface="Courier New"/>
              </a:rPr>
              <a:t>{</a:t>
            </a:r>
          </a:p>
          <a:p>
            <a:pPr algn="l" lvl="1">
              <a:buNone/>
            </a:pPr>
            <a:r>
              <a:rPr sz="1100">
                <a:solidFill>
                  <a:srgbClr val="CBD5E1"/>
                </a:solidFill>
                <a:latin typeface="Courier New"/>
                <a:cs typeface="Courier New"/>
              </a:rPr>
              <a:t>author: </a:t>
            </a:r>
            <a:r>
              <a:rPr sz="1100">
                <a:solidFill>
                  <a:srgbClr val="10B981"/>
                </a:solidFill>
                <a:latin typeface="Courier New"/>
                <a:cs typeface="Courier New"/>
              </a:rPr>
              <a:t>'Hokkyss Core Team'</a:t>
            </a:r>
            <a:r>
              <a:rPr sz="1100">
                <a:solidFill>
                  <a:srgbClr val="E2E8F0"/>
                </a:solidFill>
                <a:latin typeface="Courier New"/>
                <a:cs typeface="Courier New"/>
              </a:rPr>
              <a:t>;</a:t>
            </a:r>
          </a:p>
          <a:p>
            <a:pPr algn="l" lvl="1">
              <a:buNone/>
            </a:pPr>
            <a:r>
              <a:rPr sz="1100">
                <a:solidFill>
                  <a:srgbClr val="CBD5E1"/>
                </a:solidFill>
                <a:latin typeface="Courier New"/>
                <a:cs typeface="Courier New"/>
              </a:rPr>
              <a:t>dimensions: </a:t>
            </a:r>
            <a:r>
              <a:rPr sz="1100">
                <a:solidFill>
                  <a:srgbClr val="E2E8F0"/>
                </a:solidFill>
                <a:latin typeface="Courier New"/>
                <a:cs typeface="Courier New"/>
              </a:rPr>
              <a:t>{</a:t>
            </a:r>
          </a:p>
          <a:p>
            <a:pPr algn="l" lvl="2">
              <a:buNone/>
            </a:pPr>
            <a:r>
              <a:rPr sz="1100">
                <a:solidFill>
                  <a:srgbClr val="CBD5E1"/>
                </a:solidFill>
                <a:latin typeface="Courier New"/>
                <a:cs typeface="Courier New"/>
              </a:rPr>
              <a:t>width: </a:t>
            </a:r>
            <a:r>
              <a:rPr sz="1100">
                <a:solidFill>
                  <a:srgbClr val="F59E0B"/>
                </a:solidFill>
                <a:latin typeface="Courier New"/>
                <a:cs typeface="Courier New"/>
              </a:rPr>
              <a:t>inches(13.33)</a:t>
            </a:r>
            <a:r>
              <a:rPr sz="1100">
                <a:solidFill>
                  <a:srgbClr val="E2E8F0"/>
                </a:solidFill>
                <a:latin typeface="Courier New"/>
                <a:cs typeface="Courier New"/>
              </a:rPr>
              <a:t>;</a:t>
            </a:r>
          </a:p>
          <a:p>
            <a:pPr algn="l" lvl="2">
              <a:buNone/>
            </a:pPr>
            <a:r>
              <a:rPr sz="1100">
                <a:solidFill>
                  <a:srgbClr val="CBD5E1"/>
                </a:solidFill>
                <a:latin typeface="Courier New"/>
                <a:cs typeface="Courier New"/>
              </a:rPr>
              <a:t>height: </a:t>
            </a:r>
            <a:r>
              <a:rPr sz="1100">
                <a:solidFill>
                  <a:srgbClr val="F59E0B"/>
                </a:solidFill>
                <a:latin typeface="Courier New"/>
                <a:cs typeface="Courier New"/>
              </a:rPr>
              <a:t>inches(7.5)</a:t>
            </a:r>
            <a:r>
              <a:rPr sz="1100">
                <a:solidFill>
                  <a:srgbClr val="E2E8F0"/>
                </a:solidFill>
                <a:latin typeface="Courier New"/>
                <a:cs typeface="Courier New"/>
              </a:rPr>
              <a:t>;</a:t>
            </a:r>
          </a:p>
          <a:p>
            <a:pPr algn="l" lvl="1">
              <a:buNone/>
            </a:pPr>
            <a:r>
              <a:rPr sz="1100">
                <a:solidFill>
                  <a:srgbClr val="E2E8F0"/>
                </a:solidFill>
                <a:latin typeface="Courier New"/>
                <a:cs typeface="Courier New"/>
              </a:rPr>
              <a:t>};</a:t>
            </a:r>
          </a:p>
          <a:p>
            <a:pPr algn="l" lvl="1">
              <a:buNone/>
            </a:pPr>
            <a:r>
              <a:rPr sz="1100">
                <a:solidFill>
                  <a:srgbClr val="CBD5E1"/>
                </a:solidFill>
                <a:latin typeface="Courier New"/>
                <a:cs typeface="Courier New"/>
              </a:rPr>
              <a:t>bulletFormatting: </a:t>
            </a:r>
            <a:r>
              <a:rPr sz="1100">
                <a:solidFill>
                  <a:srgbClr val="E2E8F0"/>
                </a:solidFill>
                <a:latin typeface="Courier New"/>
                <a:cs typeface="Courier New"/>
              </a:rPr>
              <a:t>{</a:t>
            </a:r>
          </a:p>
          <a:p>
            <a:pPr algn="l" lvl="2">
              <a:buNone/>
            </a:pPr>
            <a:r>
              <a:rPr sz="1100">
                <a:solidFill>
                  <a:srgbClr val="CBD5E1"/>
                </a:solidFill>
                <a:latin typeface="Courier New"/>
                <a:cs typeface="Courier New"/>
              </a:rPr>
              <a:t>type: </a:t>
            </a:r>
            <a:r>
              <a:rPr sz="1100">
                <a:solidFill>
                  <a:srgbClr val="10B981"/>
                </a:solidFill>
                <a:latin typeface="Courier New"/>
                <a:cs typeface="Courier New"/>
              </a:rPr>
              <a:t>'none'</a:t>
            </a:r>
            <a:r>
              <a:rPr i="1" sz="1100">
                <a:solidFill>
                  <a:srgbClr val="64748B"/>
                </a:solidFill>
                <a:latin typeface="Courier New"/>
                <a:cs typeface="Courier New"/>
              </a:rPr>
              <a:t> // &lt;a:buNone/&gt; suppresses glyph</a:t>
            </a:r>
          </a:p>
          <a:p>
            <a:pPr algn="l" lvl="1">
              <a:buNone/>
            </a:pPr>
            <a:r>
              <a:rPr sz="1100">
                <a:solidFill>
                  <a:srgbClr val="E2E8F0"/>
                </a:solidFill>
                <a:latin typeface="Courier New"/>
                <a:cs typeface="Courier New"/>
              </a:rPr>
              <a:t>};</a:t>
            </a:r>
          </a:p>
          <a:p>
            <a:pPr algn="l" lvl="0">
              <a:buNone/>
            </a:pPr>
            <a:r>
              <a:rPr sz="1100">
                <a:solidFill>
                  <a:srgbClr val="E2E8F0"/>
                </a:solidFill>
                <a:latin typeface="Courier New"/>
                <a:cs typeface="Courier New"/>
              </a:rPr>
              <a:t>}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731520" y="6510528"/>
            <a:ext cx="10725912" cy="228600"/>
          </a:xfrm>
          <a:prstGeom prst="rect">
            <a:avLst/>
          </a:prstGeom>
        </p:spPr>
        <p:txBody>
          <a:bodyPr anchor="t"/>
          <a:lstStyle/>
          <a:p>
            <a:pPr algn="ctr"/>
            <a:r>
              <a:rPr i="1" sz="800">
                <a:solidFill>
                  <a:srgbClr val="64748B"/>
                </a:solidFill>
                <a:latin typeface="+mn-lt"/>
                <a:cs typeface="+mn-lt"/>
              </a:rPr>
              <a:t>* Disclaimer: All benchmark metrics, performance figures, and simulated architectures in this deck are synthetic demonstration values generated solely to showcase the authoring, formatting, and rendering capabilities of @hokkyss/pptx.</a:t>
            </a:r>
          </a:p>
        </p:txBody>
      </p:sp>
    </p:spTree>
  </p:cSld>
  <p:clrMapOvr>
    <a:masterClrMapping/>
  </p:clrMapOvr>
  <p:transition spd="fast">
    <p:wipe dir="r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914400" y="731520"/>
            <a:ext cx="10360152" cy="54864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b="1" sz="2400">
                <a:solidFill>
                  <a:srgbClr val="0F172A"/>
                </a:solidFill>
                <a:latin typeface="+mj-lt"/>
                <a:cs typeface="+mj-lt"/>
              </a:rPr>
              <a:t>Flow Connectors &amp; Composite Group Architecture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914400" y="1280160"/>
            <a:ext cx="10360152" cy="36576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sz="1400">
                <a:solidFill>
                  <a:srgbClr val="64748B"/>
                </a:solidFill>
                <a:latin typeface="+mn-lt"/>
                <a:cs typeface="+mn-lt"/>
              </a:rPr>
              <a:t>Demonstrating vector connectors (solid, dashed), coordinates, and composite group containers (addGroup)</a:t>
            </a:r>
          </a:p>
        </p:txBody>
      </p:sp>
      <p:grpSp>
        <p:nvGrpSpPr>
          <p:cNvPr id="4" name="Stage 1 Ingress Container"/>
          <p:cNvGrpSpPr/>
          <p:nvPr/>
        </p:nvGrpSpPr>
        <p:grpSpPr>
          <a:xfrm>
            <a:off x="914400" y="2011680"/>
            <a:ext cx="2926080" cy="3200400"/>
            <a:chOff x="914400" y="2011680"/>
            <a:chExt cx="2926080" cy="3200400"/>
          </a:xfrm>
        </p:grpSpPr>
        <p:sp>
          <p:nvSpPr>
            <p:cNvPr id="5" name="Stage 1 Background"/>
            <p:cNvSpPr/>
            <p:nvPr/>
          </p:nvSpPr>
          <p:spPr>
            <a:xfrm>
              <a:off x="914400" y="2011680"/>
              <a:ext cx="2926080" cy="3200400"/>
            </a:xfrm>
            <a:prstGeom prst="roundRect">
              <a:avLst/>
            </a:prstGeom>
            <a:solidFill>
              <a:srgbClr val="FFFFFF"/>
            </a:solidFill>
            <a:ln w="13716">
              <a:solidFill>
                <a:srgbClr val="0284C7"/>
              </a:solidFill>
            </a:ln>
            <a:effectLst>
              <a:outerShdw blurRad="109728" dist="38100" dir="5400000">
                <a:srgbClr val="0F172A">
                  <a:alpha val="10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sp>
          <p:nvSpPr>
            <p:cNvPr id="6" name="roundRect 5"/>
            <p:cNvSpPr/>
            <p:nvPr/>
          </p:nvSpPr>
          <p:spPr>
            <a:xfrm>
              <a:off x="1188720" y="2286000"/>
              <a:ext cx="2377440" cy="365760"/>
            </a:xfrm>
            <a:prstGeom prst="roundRect">
              <a:avLst/>
            </a:prstGeom>
            <a:solidFill>
              <a:srgbClr val="0284C7"/>
            </a:solidFill>
          </p:spPr>
          <p:txBody>
            <a:bodyPr anchor="t"/>
            <a:lstStyle/>
            <a:p>
              <a:pPr algn="ctr"/>
              <a:r>
                <a:rPr b="1" sz="1000">
                  <a:solidFill>
                    <a:srgbClr val="FFFFFF"/>
                  </a:solidFill>
                  <a:latin typeface="+mn-lt"/>
                  <a:cs typeface="+mn-lt"/>
                </a:rPr>
                <a:t>STEP 1: INGESTION</a:t>
              </a:r>
            </a:p>
          </p:txBody>
        </p:sp>
        <p:sp>
          <p:nvSpPr>
            <p:cNvPr id="7" name="Text Box 6"/>
            <p:cNvSpPr/>
            <p:nvPr/>
          </p:nvSpPr>
          <p:spPr>
            <a:xfrm>
              <a:off x="1188720" y="2926080"/>
              <a:ext cx="2377440" cy="1828800"/>
            </a:xfrm>
            <a:prstGeom prst="rect">
              <a:avLst/>
            </a:prstGeom>
          </p:spPr>
          <p:txBody>
            <a:bodyPr anchor="t"/>
            <a:lstStyle/>
            <a:p>
              <a:pPr algn="l" lvl="0" marL="152400" indent="-152400">
                <a:buChar char="•"/>
              </a:pPr>
              <a:r>
                <a:rPr sz="1100">
                  <a:solidFill>
                    <a:srgbClr val="475569"/>
                  </a:solidFill>
                  <a:latin typeface="+mn-lt"/>
                  <a:cs typeface="+mn-lt"/>
                </a:rPr>
                <a:t>Streaming ZIP decompression</a:t>
              </a:r>
            </a:p>
            <a:p>
              <a:pPr algn="l" lvl="0" marL="152400" indent="-152400">
                <a:buChar char="•"/>
              </a:pPr>
              <a:r>
                <a:rPr sz="1100">
                  <a:solidFill>
                    <a:srgbClr val="475569"/>
                  </a:solidFill>
                  <a:latin typeface="+mn-lt"/>
                  <a:cs typeface="+mn-lt"/>
                </a:rPr>
                <a:t>XML DOM part resolution</a:t>
              </a:r>
            </a:p>
            <a:p>
              <a:pPr algn="l" lvl="0" marL="152400" indent="-152400">
                <a:buChar char="•"/>
              </a:pPr>
              <a:r>
                <a:rPr sz="1100">
                  <a:solidFill>
                    <a:srgbClr val="475569"/>
                  </a:solidFill>
                  <a:latin typeface="+mn-lt"/>
                  <a:cs typeface="+mn-lt"/>
                </a:rPr>
                <a:t>Extract relationships map</a:t>
              </a:r>
            </a:p>
          </p:txBody>
        </p:sp>
      </p:grpSp>
      <p:grpSp>
        <p:nvGrpSpPr>
          <p:cNvPr id="8" name="Stage 2 AST Container"/>
          <p:cNvGrpSpPr/>
          <p:nvPr/>
        </p:nvGrpSpPr>
        <p:grpSpPr>
          <a:xfrm>
            <a:off x="4572000" y="2011680"/>
            <a:ext cx="2926080" cy="3200400"/>
            <a:chOff x="4572000" y="2011680"/>
            <a:chExt cx="2926080" cy="3200400"/>
          </a:xfrm>
        </p:grpSpPr>
        <p:sp>
          <p:nvSpPr>
            <p:cNvPr id="9" name="Stage 2 Background"/>
            <p:cNvSpPr/>
            <p:nvPr/>
          </p:nvSpPr>
          <p:spPr>
            <a:xfrm>
              <a:off x="4572000" y="2011680"/>
              <a:ext cx="2926080" cy="3200400"/>
            </a:xfrm>
            <a:prstGeom prst="roundRect">
              <a:avLst/>
            </a:prstGeom>
            <a:solidFill>
              <a:srgbClr val="FFFFFF"/>
            </a:solidFill>
            <a:ln w="13716">
              <a:solidFill>
                <a:srgbClr val="6366F1"/>
              </a:solidFill>
            </a:ln>
            <a:effectLst>
              <a:outerShdw blurRad="109728" dist="38100" dir="5400000">
                <a:srgbClr val="0F172A">
                  <a:alpha val="10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sp>
          <p:nvSpPr>
            <p:cNvPr id="10" name="roundRect 9"/>
            <p:cNvSpPr/>
            <p:nvPr/>
          </p:nvSpPr>
          <p:spPr>
            <a:xfrm>
              <a:off x="4846320" y="2286000"/>
              <a:ext cx="2377440" cy="365760"/>
            </a:xfrm>
            <a:prstGeom prst="roundRect">
              <a:avLst/>
            </a:prstGeom>
            <a:solidFill>
              <a:srgbClr val="6366F1"/>
            </a:solidFill>
          </p:spPr>
          <p:txBody>
            <a:bodyPr anchor="t"/>
            <a:lstStyle/>
            <a:p>
              <a:pPr algn="ctr"/>
              <a:r>
                <a:rPr b="1" sz="1000">
                  <a:solidFill>
                    <a:srgbClr val="FFFFFF"/>
                  </a:solidFill>
                  <a:latin typeface="+mn-lt"/>
                  <a:cs typeface="+mn-lt"/>
                </a:rPr>
                <a:t>STEP 2: MODELING</a:t>
              </a:r>
            </a:p>
          </p:txBody>
        </p:sp>
        <p:sp>
          <p:nvSpPr>
            <p:cNvPr id="11" name="Text Box 10"/>
            <p:cNvSpPr/>
            <p:nvPr/>
          </p:nvSpPr>
          <p:spPr>
            <a:xfrm>
              <a:off x="4846320" y="2926080"/>
              <a:ext cx="2377440" cy="1828800"/>
            </a:xfrm>
            <a:prstGeom prst="rect">
              <a:avLst/>
            </a:prstGeom>
          </p:spPr>
          <p:txBody>
            <a:bodyPr anchor="t"/>
            <a:lstStyle/>
            <a:p>
              <a:pPr algn="l" lvl="0" marL="152400" indent="-152400">
                <a:buChar char="•"/>
              </a:pPr>
              <a:r>
                <a:rPr sz="1100">
                  <a:solidFill>
                    <a:srgbClr val="475569"/>
                  </a:solidFill>
                  <a:latin typeface="+mn-lt"/>
                  <a:cs typeface="+mn-lt"/>
                </a:rPr>
                <a:t>Type-safe AST generation</a:t>
              </a:r>
            </a:p>
            <a:p>
              <a:pPr algn="l" lvl="0" marL="152400" indent="-152400">
                <a:buChar char="•"/>
              </a:pPr>
              <a:r>
                <a:rPr sz="1100">
                  <a:solidFill>
                    <a:srgbClr val="475569"/>
                  </a:solidFill>
                  <a:latin typeface="+mn-lt"/>
                  <a:cs typeface="+mn-lt"/>
                </a:rPr>
                <a:t>Layer &amp; placeholder cascade</a:t>
              </a:r>
            </a:p>
            <a:p>
              <a:pPr algn="l" lvl="0" marL="152400" indent="-152400">
                <a:buChar char="•"/>
              </a:pPr>
              <a:r>
                <a:rPr sz="1100">
                  <a:solidFill>
                    <a:srgbClr val="475569"/>
                  </a:solidFill>
                  <a:latin typeface="+mn-lt"/>
                  <a:cs typeface="+mn-lt"/>
                </a:rPr>
                <a:t>Fluent mutations &amp; styling</a:t>
              </a:r>
            </a:p>
          </p:txBody>
        </p:sp>
      </p:grpSp>
      <p:grpSp>
        <p:nvGrpSpPr>
          <p:cNvPr id="12" name="Stage 3 Packaging Container"/>
          <p:cNvGrpSpPr/>
          <p:nvPr/>
        </p:nvGrpSpPr>
        <p:grpSpPr>
          <a:xfrm>
            <a:off x="8229600" y="2011680"/>
            <a:ext cx="2926080" cy="3200400"/>
            <a:chOff x="8229600" y="2011680"/>
            <a:chExt cx="2926080" cy="3200400"/>
          </a:xfrm>
        </p:grpSpPr>
        <p:sp>
          <p:nvSpPr>
            <p:cNvPr id="13" name="Stage 3 Background"/>
            <p:cNvSpPr/>
            <p:nvPr/>
          </p:nvSpPr>
          <p:spPr>
            <a:xfrm>
              <a:off x="8229600" y="2011680"/>
              <a:ext cx="2926080" cy="3200400"/>
            </a:xfrm>
            <a:prstGeom prst="roundRect">
              <a:avLst/>
            </a:prstGeom>
            <a:solidFill>
              <a:srgbClr val="FFFFFF"/>
            </a:solidFill>
            <a:ln w="13716">
              <a:solidFill>
                <a:srgbClr val="10B981"/>
              </a:solidFill>
            </a:ln>
            <a:effectLst>
              <a:outerShdw blurRad="109728" dist="38100" dir="5400000">
                <a:srgbClr val="0F172A">
                  <a:alpha val="10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sp>
          <p:nvSpPr>
            <p:cNvPr id="14" name="roundRect 13"/>
            <p:cNvSpPr/>
            <p:nvPr/>
          </p:nvSpPr>
          <p:spPr>
            <a:xfrm>
              <a:off x="8503920" y="2286000"/>
              <a:ext cx="2377440" cy="365760"/>
            </a:xfrm>
            <a:prstGeom prst="roundRect">
              <a:avLst/>
            </a:prstGeom>
            <a:solidFill>
              <a:srgbClr val="10B981"/>
            </a:solidFill>
          </p:spPr>
          <p:txBody>
            <a:bodyPr anchor="t"/>
            <a:lstStyle/>
            <a:p>
              <a:pPr algn="ctr"/>
              <a:r>
                <a:rPr b="1" sz="1000">
                  <a:solidFill>
                    <a:srgbClr val="FFFFFF"/>
                  </a:solidFill>
                  <a:latin typeface="+mn-lt"/>
                  <a:cs typeface="+mn-lt"/>
                </a:rPr>
                <a:t>STEP 3: COMPILATION</a:t>
              </a:r>
            </a:p>
          </p:txBody>
        </p:sp>
        <p:sp>
          <p:nvSpPr>
            <p:cNvPr id="15" name="Text Box 14"/>
            <p:cNvSpPr/>
            <p:nvPr/>
          </p:nvSpPr>
          <p:spPr>
            <a:xfrm>
              <a:off x="8503920" y="2926080"/>
              <a:ext cx="2377440" cy="1828800"/>
            </a:xfrm>
            <a:prstGeom prst="rect">
              <a:avLst/>
            </a:prstGeom>
          </p:spPr>
          <p:txBody>
            <a:bodyPr anchor="t"/>
            <a:lstStyle/>
            <a:p>
              <a:pPr algn="l" lvl="0" marL="152400" indent="-152400">
                <a:buChar char="•"/>
              </a:pPr>
              <a:r>
                <a:rPr sz="1100">
                  <a:solidFill>
                    <a:srgbClr val="475569"/>
                  </a:solidFill>
                  <a:latin typeface="+mn-lt"/>
                  <a:cs typeface="+mn-lt"/>
                </a:rPr>
                <a:t>Deterministic XML emission</a:t>
              </a:r>
            </a:p>
            <a:p>
              <a:pPr algn="l" lvl="0" marL="152400" indent="-152400">
                <a:buChar char="•"/>
              </a:pPr>
              <a:r>
                <a:rPr sz="1100">
                  <a:solidFill>
                    <a:srgbClr val="475569"/>
                  </a:solidFill>
                  <a:latin typeface="+mn-lt"/>
                  <a:cs typeface="+mn-lt"/>
                </a:rPr>
                <a:t>Zero-copy fflate compression</a:t>
              </a:r>
            </a:p>
            <a:p>
              <a:pPr algn="l" lvl="0" marL="152400" indent="-152400">
                <a:buChar char="•"/>
              </a:pPr>
              <a:r>
                <a:rPr sz="1100">
                  <a:solidFill>
                    <a:srgbClr val="475569"/>
                  </a:solidFill>
                  <a:latin typeface="+mn-lt"/>
                  <a:cs typeface="+mn-lt"/>
                </a:rPr>
                <a:t>ECMA-376 compliant PPTX</a:t>
              </a:r>
            </a:p>
          </p:txBody>
        </p:sp>
      </p:grpSp>
      <p:cxnSp>
        <p:nvCxnSpPr>
          <p:cNvPr id="16" name="Connector 15"/>
          <p:cNvCxnSpPr>
            <a:cxnSpLocks/>
            <a:stCxn id="5" idx="3"/>
            <a:endCxn id="9" idx="1"/>
          </p:cNvCxnSpPr>
          <p:nvPr/>
        </p:nvCxnSpPr>
        <p:spPr>
          <a:xfrm>
            <a:off x="3840480" y="3611880"/>
            <a:ext cx="731520" cy="0"/>
          </a:xfrm>
          <a:prstGeom prst="line">
            <a:avLst/>
          </a:prstGeom>
          <a:ln w="27432">
            <a:solidFill>
              <a:srgbClr val="0284C7"/>
            </a:solidFill>
            <a:prstDash val="solid"/>
            <a:headEnd type="triangle" w="lg" len="lg"/>
          </a:ln>
        </p:spPr>
      </p:cxnSp>
      <p:cxnSp>
        <p:nvCxnSpPr>
          <p:cNvPr id="17" name="Connector 16"/>
          <p:cNvCxnSpPr>
            <a:cxnSpLocks/>
            <a:stCxn id="9" idx="3"/>
            <a:endCxn id="13" idx="1"/>
          </p:cNvCxnSpPr>
          <p:nvPr/>
        </p:nvCxnSpPr>
        <p:spPr>
          <a:xfrm>
            <a:off x="7498080" y="3611880"/>
            <a:ext cx="731520" cy="0"/>
          </a:xfrm>
          <a:prstGeom prst="line">
            <a:avLst/>
          </a:prstGeom>
          <a:ln w="27432">
            <a:solidFill>
              <a:srgbClr val="6366F1"/>
            </a:solidFill>
            <a:prstDash val="solid"/>
            <a:headEnd type="stealth" w="lg" len="lg"/>
          </a:ln>
        </p:spPr>
      </p:cxnSp>
      <p:cxnSp>
        <p:nvCxnSpPr>
          <p:cNvPr id="18" name="Connector 17"/>
          <p:cNvCxnSpPr>
            <a:cxnSpLocks/>
          </p:cNvCxnSpPr>
          <p:nvPr/>
        </p:nvCxnSpPr>
        <p:spPr>
          <a:xfrm>
            <a:off x="914400" y="5669280"/>
            <a:ext cx="10241280" cy="0"/>
          </a:xfrm>
          <a:prstGeom prst="line">
            <a:avLst/>
          </a:prstGeom>
          <a:ln w="18288">
            <a:solidFill>
              <a:srgbClr val="94A3B8"/>
            </a:solidFill>
            <a:prstDash val="dash"/>
            <a:headEnd type="triangle"/>
            <a:tailEnd type="oval"/>
          </a:ln>
        </p:spPr>
      </p:cxnSp>
      <p:sp>
        <p:nvSpPr>
          <p:cNvPr id="19" name="Text Box 18"/>
          <p:cNvSpPr txBox="1"/>
          <p:nvPr/>
        </p:nvSpPr>
        <p:spPr>
          <a:xfrm>
            <a:off x="914400" y="5806440"/>
            <a:ext cx="10241280" cy="365760"/>
          </a:xfrm>
          <a:prstGeom prst="rect">
            <a:avLst/>
          </a:prstGeom>
        </p:spPr>
        <p:txBody>
          <a:bodyPr anchor="t"/>
          <a:lstStyle/>
          <a:p>
            <a:pPr algn="ctr"/>
            <a:r>
              <a:rPr sz="1100">
                <a:solidFill>
                  <a:srgbClr val="64748B"/>
                </a:solidFill>
                <a:latin typeface="+mn-lt"/>
                <a:cs typeface="+mn-lt"/>
              </a:rPr>
              <a:t>Isomorphic Pipeline Feedback Loop: 100% Roundtrip Bit-Exact Precision</a:t>
            </a:r>
          </a:p>
        </p:txBody>
      </p:sp>
      <p:sp>
        <p:nvSpPr>
          <p:cNvPr id="20" name="Text Box 19"/>
          <p:cNvSpPr txBox="1"/>
          <p:nvPr/>
        </p:nvSpPr>
        <p:spPr>
          <a:xfrm>
            <a:off x="731520" y="6510528"/>
            <a:ext cx="10725912" cy="228600"/>
          </a:xfrm>
          <a:prstGeom prst="rect">
            <a:avLst/>
          </a:prstGeom>
        </p:spPr>
        <p:txBody>
          <a:bodyPr anchor="t"/>
          <a:lstStyle/>
          <a:p>
            <a:pPr algn="ctr"/>
            <a:r>
              <a:rPr i="1" sz="800">
                <a:solidFill>
                  <a:srgbClr val="94A3B8"/>
                </a:solidFill>
                <a:latin typeface="+mn-lt"/>
                <a:cs typeface="+mn-lt"/>
              </a:rPr>
              <a:t>* Disclaimer: All benchmark metrics, performance figures, and simulated architectures in this deck are synthetic demonstration values generated solely to showcase the authoring, formatting, and rendering capabilities of @hokkyss/pptx.</a:t>
            </a:r>
          </a:p>
        </p:txBody>
      </p:sp>
    </p:spTree>
  </p:cSld>
  <p:clrMapOvr>
    <a:masterClrMapping/>
  </p:clrMapOvr>
  <p:transition spd="fast">
    <p:pull dir="r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914400" y="731520"/>
            <a:ext cx="10360152" cy="54864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b="1" sz="2400">
                <a:solidFill>
                  <a:srgbClr val="38BDF8"/>
                </a:solidFill>
                <a:latin typeface="+mj-lt"/>
                <a:cs typeface="+mj-lt"/>
              </a:rPr>
              <a:t>Native OpenXML Charts &amp; Visual Analytics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914400" y="1280160"/>
            <a:ext cx="10360152" cy="36576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sz="1400">
                <a:solidFill>
                  <a:srgbClr val="94A3B8"/>
                </a:solidFill>
                <a:latin typeface="+mn-lt"/>
                <a:cs typeface="+mn-lt"/>
              </a:rPr>
              <a:t>Zero-dependency generation of native PowerPoint &lt;c:chartSpace&gt; data visualizations and multi-series metrics</a:t>
            </a:r>
          </a:p>
        </p:txBody>
      </p:sp>
      <p:sp>
        <p:nvSpPr>
          <p:cNvPr id="4" name="roundRect 3"/>
          <p:cNvSpPr/>
          <p:nvPr/>
        </p:nvSpPr>
        <p:spPr>
          <a:xfrm>
            <a:off x="914400" y="1828800"/>
            <a:ext cx="6400800" cy="4114800"/>
          </a:xfrm>
          <a:prstGeom prst="roundRect">
            <a:avLst/>
          </a:prstGeom>
          <a:solidFill>
            <a:srgbClr val="1E293B"/>
          </a:solidFill>
          <a:ln w="13716">
            <a:solidFill>
              <a:srgbClr val="334155"/>
            </a:solidFill>
          </a:ln>
          <a:effectLst>
            <a:outerShdw blurRad="137160" dist="38100" dir="540000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graphicFrame>
        <p:nvGraphicFramePr>
          <p:cNvPr id="5" name="Chart 4"/>
          <p:cNvGraphicFramePr/>
          <p:nvPr/>
        </p:nvGraphicFramePr>
        <p:xfrm>
          <a:off x="1097280" y="2011680"/>
          <a:ext cx="603504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Rect 5"/>
          <p:cNvSpPr/>
          <p:nvPr/>
        </p:nvSpPr>
        <p:spPr>
          <a:xfrm>
            <a:off x="7589520" y="1828800"/>
            <a:ext cx="3657600" cy="1234440"/>
          </a:xfrm>
          <a:prstGeom prst="roundRect">
            <a:avLst/>
          </a:prstGeom>
          <a:solidFill>
            <a:srgbClr val="1E293B"/>
          </a:solidFill>
          <a:ln w="13716">
            <a:solidFill>
              <a:srgbClr val="0284C7"/>
            </a:solidFill>
          </a:ln>
        </p:spPr>
        <p:txBody>
          <a:bodyPr anchor="t"/>
          <a:lstStyle/>
          <a:p>
            <a:pPr algn="l"/>
            <a:r>
              <a:rPr b="1" sz="1300">
                <a:solidFill>
                  <a:srgbClr val="38BDF8"/>
                </a:solidFill>
                <a:latin typeface="+mn-lt"/>
                <a:cs typeface="+mn-lt"/>
              </a:rPr>
              <a:t>⚡ Zero Native Bindings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7772400" y="2240280"/>
            <a:ext cx="3291840" cy="73152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sz="1000">
                <a:solidFill>
                  <a:srgbClr val="94A3B8"/>
                </a:solidFill>
                <a:latin typeface="+mn-lt"/>
                <a:cs typeface="+mn-lt"/>
              </a:rPr>
              <a:t>Generates ECMA-376 compliant DrawingML charts directly from pure TypeScript arrays without spawning Python, Java, or Excel subprocesses.</a:t>
            </a:r>
          </a:p>
        </p:txBody>
      </p:sp>
      <p:sp>
        <p:nvSpPr>
          <p:cNvPr id="8" name="roundRect 7"/>
          <p:cNvSpPr/>
          <p:nvPr/>
        </p:nvSpPr>
        <p:spPr>
          <a:xfrm>
            <a:off x="7589520" y="3246120"/>
            <a:ext cx="3657600" cy="1234440"/>
          </a:xfrm>
          <a:prstGeom prst="roundRect">
            <a:avLst/>
          </a:prstGeom>
          <a:solidFill>
            <a:srgbClr val="1E293B"/>
          </a:solidFill>
          <a:ln w="13716">
            <a:solidFill>
              <a:srgbClr val="10B981"/>
            </a:solidFill>
          </a:ln>
        </p:spPr>
        <p:txBody>
          <a:bodyPr anchor="t"/>
          <a:lstStyle/>
          <a:p>
            <a:pPr algn="l"/>
            <a:r>
              <a:rPr b="1" sz="1300">
                <a:solidFill>
                  <a:srgbClr val="34D399"/>
                </a:solidFill>
                <a:latin typeface="+mn-lt"/>
                <a:cs typeface="+mn-lt"/>
              </a:rPr>
              <a:t>📈 Fully Editable &amp; Scalable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7772400" y="3657600"/>
            <a:ext cx="3291840" cy="73152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sz="1000">
                <a:solidFill>
                  <a:srgbClr val="94A3B8"/>
                </a:solidFill>
                <a:latin typeface="+mn-lt"/>
                <a:cs typeface="+mn-lt"/>
              </a:rPr>
              <a:t>Embedded as vector OpenXML chart spaces. Users can edit values, change themes, or modify series formatting natively inside Microsoft PowerPoint.</a:t>
            </a:r>
          </a:p>
        </p:txBody>
      </p:sp>
      <p:sp>
        <p:nvSpPr>
          <p:cNvPr id="10" name="roundRect 9"/>
          <p:cNvSpPr/>
          <p:nvPr/>
        </p:nvSpPr>
        <p:spPr>
          <a:xfrm>
            <a:off x="7589520" y="4663440"/>
            <a:ext cx="3657600" cy="1234440"/>
          </a:xfrm>
          <a:prstGeom prst="roundRect">
            <a:avLst/>
          </a:prstGeom>
          <a:solidFill>
            <a:srgbClr val="1E293B"/>
          </a:solidFill>
          <a:ln w="13716">
            <a:solidFill>
              <a:srgbClr val="6366F1"/>
            </a:solidFill>
          </a:ln>
        </p:spPr>
        <p:txBody>
          <a:bodyPr anchor="t"/>
          <a:lstStyle/>
          <a:p>
            <a:pPr algn="l"/>
            <a:r>
              <a:rPr b="1" sz="1300">
                <a:solidFill>
                  <a:srgbClr val="818CF8"/>
                </a:solidFill>
                <a:latin typeface="+mn-lt"/>
                <a:cs typeface="+mn-lt"/>
              </a:rPr>
              <a:t>🎨 Multi-Type Chart Engine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7772400" y="5074920"/>
            <a:ext cx="3291840" cy="73152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sz="1000">
                <a:solidFill>
                  <a:srgbClr val="94A3B8"/>
                </a:solidFill>
                <a:latin typeface="+mn-lt"/>
                <a:cs typeface="+mn-lt"/>
              </a:rPr>
              <a:t>Supports column, bar, line, area, and pie chart topologies with custom series coloring, categorical axes, and configurable legend alignments.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731520" y="6510528"/>
            <a:ext cx="10725912" cy="228600"/>
          </a:xfrm>
          <a:prstGeom prst="rect">
            <a:avLst/>
          </a:prstGeom>
        </p:spPr>
        <p:txBody>
          <a:bodyPr anchor="t"/>
          <a:lstStyle/>
          <a:p>
            <a:pPr algn="ctr"/>
            <a:r>
              <a:rPr i="1" sz="800">
                <a:solidFill>
                  <a:srgbClr val="64748B"/>
                </a:solidFill>
                <a:latin typeface="+mn-lt"/>
                <a:cs typeface="+mn-lt"/>
              </a:rPr>
              <a:t>* Disclaimer: All benchmark metrics, performance figures, and simulated architectures in this deck are synthetic demonstration values generated solely to showcase the authoring, formatting, and rendering capabilities of @hokkyss/pptx.</a:t>
            </a:r>
          </a:p>
        </p:txBody>
      </p:sp>
    </p:spTree>
  </p:cSld>
  <p:clrMapOvr>
    <a:masterClrMapping/>
  </p:clrMapOvr>
  <p:transition spd="med">
    <p:wheel spokes="4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914400" y="731520"/>
            <a:ext cx="10360152" cy="54864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b="1" sz="2400">
                <a:solidFill>
                  <a:srgbClr val="0F172A"/>
                </a:solidFill>
                <a:latin typeface="+mj-lt"/>
                <a:cs typeface="+mj-lt"/>
              </a:rPr>
              <a:t>Multi-Topology Chart Gallery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914400" y="1280160"/>
            <a:ext cx="10360152" cy="36576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sz="1400">
                <a:solidFill>
                  <a:srgbClr val="64748B"/>
                </a:solidFill>
                <a:latin typeface="+mn-lt"/>
                <a:cs typeface="+mn-lt"/>
              </a:rPr>
              <a:t>Smooth spline line trends, radial doughnut distributions, and horizontal bar comparisons</a:t>
            </a:r>
          </a:p>
        </p:txBody>
      </p:sp>
      <p:sp>
        <p:nvSpPr>
          <p:cNvPr id="4" name="roundRect 3"/>
          <p:cNvSpPr/>
          <p:nvPr/>
        </p:nvSpPr>
        <p:spPr>
          <a:xfrm>
            <a:off x="914400" y="1828800"/>
            <a:ext cx="3291840" cy="4114800"/>
          </a:xfrm>
          <a:prstGeom prst="roundRect">
            <a:avLst/>
          </a:prstGeom>
          <a:solidFill>
            <a:srgbClr val="FFFFFF"/>
          </a:solidFill>
          <a:ln w="13716">
            <a:solidFill>
              <a:srgbClr val="E2E8F0"/>
            </a:solidFill>
          </a:ln>
          <a:effectLst>
            <a:outerShdw blurRad="109728" dist="38100" dir="540000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Box 4"/>
          <p:cNvSpPr txBox="1"/>
          <p:nvPr/>
        </p:nvSpPr>
        <p:spPr>
          <a:xfrm>
            <a:off x="1097280" y="2011680"/>
            <a:ext cx="2926080" cy="32004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b="1" sz="1200">
                <a:solidFill>
                  <a:srgbClr val="0F172A"/>
                </a:solidFill>
                <a:latin typeface="+mn-lt"/>
                <a:cs typeface="+mn-lt"/>
              </a:rPr>
              <a:t>📈 Latency Curve vs Payload (ms)</a:t>
            </a:r>
          </a:p>
        </p:txBody>
      </p:sp>
      <p:graphicFrame>
        <p:nvGraphicFramePr>
          <p:cNvPr id="6" name="Chart 5"/>
          <p:cNvGraphicFramePr/>
          <p:nvPr/>
        </p:nvGraphicFramePr>
        <p:xfrm>
          <a:off x="1097280" y="2377440"/>
          <a:ext cx="29260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Rect 6"/>
          <p:cNvSpPr/>
          <p:nvPr/>
        </p:nvSpPr>
        <p:spPr>
          <a:xfrm>
            <a:off x="4443984" y="1828800"/>
            <a:ext cx="3291840" cy="4114800"/>
          </a:xfrm>
          <a:prstGeom prst="roundRect">
            <a:avLst/>
          </a:prstGeom>
          <a:solidFill>
            <a:srgbClr val="FFFFFF"/>
          </a:solidFill>
          <a:ln w="13716">
            <a:solidFill>
              <a:srgbClr val="E2E8F0"/>
            </a:solidFill>
          </a:ln>
          <a:effectLst>
            <a:outerShdw blurRad="109728" dist="38100" dir="540000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Box 7"/>
          <p:cNvSpPr txBox="1"/>
          <p:nvPr/>
        </p:nvSpPr>
        <p:spPr>
          <a:xfrm>
            <a:off x="4626864" y="2011680"/>
            <a:ext cx="2926080" cy="32004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b="1" sz="1200">
                <a:solidFill>
                  <a:srgbClr val="0F172A"/>
                </a:solidFill>
                <a:latin typeface="+mn-lt"/>
                <a:cs typeface="+mn-lt"/>
              </a:rPr>
              <a:t>🍩 Runtime Execution Share</a:t>
            </a:r>
          </a:p>
        </p:txBody>
      </p:sp>
      <p:graphicFrame>
        <p:nvGraphicFramePr>
          <p:cNvPr id="9" name="Chart 8"/>
          <p:cNvGraphicFramePr/>
          <p:nvPr/>
        </p:nvGraphicFramePr>
        <p:xfrm>
          <a:off x="4626864" y="2377440"/>
          <a:ext cx="29260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roundRect 9"/>
          <p:cNvSpPr/>
          <p:nvPr/>
        </p:nvSpPr>
        <p:spPr>
          <a:xfrm>
            <a:off x="7982712" y="1828800"/>
            <a:ext cx="3291840" cy="4114800"/>
          </a:xfrm>
          <a:prstGeom prst="roundRect">
            <a:avLst/>
          </a:prstGeom>
          <a:solidFill>
            <a:srgbClr val="FFFFFF"/>
          </a:solidFill>
          <a:ln w="13716">
            <a:solidFill>
              <a:srgbClr val="E2E8F0"/>
            </a:solidFill>
          </a:ln>
          <a:effectLst>
            <a:outerShdw blurRad="109728" dist="38100" dir="540000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Box 10"/>
          <p:cNvSpPr txBox="1"/>
          <p:nvPr/>
        </p:nvSpPr>
        <p:spPr>
          <a:xfrm>
            <a:off x="8165592" y="2011680"/>
            <a:ext cx="2926080" cy="32004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b="1" sz="1200">
                <a:solidFill>
                  <a:srgbClr val="0F172A"/>
                </a:solidFill>
                <a:latin typeface="+mn-lt"/>
                <a:cs typeface="+mn-lt"/>
              </a:rPr>
              <a:t>📊 Ecosystem Compression (x)</a:t>
            </a:r>
          </a:p>
        </p:txBody>
      </p:sp>
      <p:graphicFrame>
        <p:nvGraphicFramePr>
          <p:cNvPr id="12" name="Chart 11"/>
          <p:cNvGraphicFramePr/>
          <p:nvPr/>
        </p:nvGraphicFramePr>
        <p:xfrm>
          <a:off x="8165592" y="2377440"/>
          <a:ext cx="29260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Text Box 12"/>
          <p:cNvSpPr txBox="1"/>
          <p:nvPr/>
        </p:nvSpPr>
        <p:spPr>
          <a:xfrm>
            <a:off x="731520" y="6510528"/>
            <a:ext cx="10725912" cy="228600"/>
          </a:xfrm>
          <a:prstGeom prst="rect">
            <a:avLst/>
          </a:prstGeom>
        </p:spPr>
        <p:txBody>
          <a:bodyPr anchor="t"/>
          <a:lstStyle/>
          <a:p>
            <a:pPr algn="ctr"/>
            <a:r>
              <a:rPr i="1" sz="800">
                <a:solidFill>
                  <a:srgbClr val="94A3B8"/>
                </a:solidFill>
                <a:latin typeface="+mn-lt"/>
                <a:cs typeface="+mn-lt"/>
              </a:rPr>
              <a:t>* Disclaimer: All benchmark metrics, performance figures, and simulated architectures in this deck are synthetic demonstration values generated solely to showcase the authoring, formatting, and rendering capabilities of @hokkyss/pptx.</a:t>
            </a:r>
          </a:p>
        </p:txBody>
      </p:sp>
    </p:spTree>
  </p:cSld>
  <p:clrMapOvr>
    <a:masterClrMapping/>
  </p:clrMapOvr>
  <p:transition spd="fast">
    <p:blinds dir="horz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914400" y="731520"/>
            <a:ext cx="10360152" cy="54864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b="1" sz="2400">
                <a:solidFill>
                  <a:srgbClr val="38BDF8"/>
                </a:solidFill>
                <a:latin typeface="+mj-lt"/>
                <a:cs typeface="+mj-lt"/>
              </a:rPr>
              <a:t>Specialized Analytical Topologies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914400" y="1280160"/>
            <a:ext cx="10360152" cy="36576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sz="1400">
                <a:solidFill>
                  <a:srgbClr val="94A3B8"/>
                </a:solidFill>
                <a:latin typeface="+mn-lt"/>
                <a:cs typeface="+mn-lt"/>
              </a:rPr>
              <a:t>Multi-series stacked area trends, radial composition pie distributions, and multi-axis radar scorecards</a:t>
            </a:r>
          </a:p>
        </p:txBody>
      </p:sp>
      <p:sp>
        <p:nvSpPr>
          <p:cNvPr id="4" name="roundRect 3"/>
          <p:cNvSpPr/>
          <p:nvPr/>
        </p:nvSpPr>
        <p:spPr>
          <a:xfrm>
            <a:off x="914400" y="1828800"/>
            <a:ext cx="3291840" cy="4114800"/>
          </a:xfrm>
          <a:prstGeom prst="roundRect">
            <a:avLst/>
          </a:prstGeom>
          <a:solidFill>
            <a:srgbClr val="1E293B"/>
          </a:solidFill>
          <a:ln w="13716">
            <a:solidFill>
              <a:srgbClr val="334155"/>
            </a:solidFill>
          </a:ln>
          <a:effectLst>
            <a:outerShdw blurRad="109728" dist="38100" dir="540000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Box 4"/>
          <p:cNvSpPr txBox="1"/>
          <p:nvPr/>
        </p:nvSpPr>
        <p:spPr>
          <a:xfrm>
            <a:off x="1097280" y="2011680"/>
            <a:ext cx="2926080" cy="32004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b="1" sz="1200">
                <a:solidFill>
                  <a:srgbClr val="38BDF8"/>
                </a:solidFill>
                <a:latin typeface="+mn-lt"/>
                <a:cs typeface="+mn-lt"/>
              </a:rPr>
              <a:t>🌊 Stacked Area: Memory Footprint (MB)</a:t>
            </a:r>
          </a:p>
        </p:txBody>
      </p:sp>
      <p:graphicFrame>
        <p:nvGraphicFramePr>
          <p:cNvPr id="6" name="Chart 5"/>
          <p:cNvGraphicFramePr/>
          <p:nvPr/>
        </p:nvGraphicFramePr>
        <p:xfrm>
          <a:off x="1097280" y="2377440"/>
          <a:ext cx="29260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Rect 6"/>
          <p:cNvSpPr/>
          <p:nvPr/>
        </p:nvSpPr>
        <p:spPr>
          <a:xfrm>
            <a:off x="4443984" y="1828800"/>
            <a:ext cx="3291840" cy="4114800"/>
          </a:xfrm>
          <a:prstGeom prst="roundRect">
            <a:avLst/>
          </a:prstGeom>
          <a:solidFill>
            <a:srgbClr val="1E293B"/>
          </a:solidFill>
          <a:ln w="13716">
            <a:solidFill>
              <a:srgbClr val="334155"/>
            </a:solidFill>
          </a:ln>
          <a:effectLst>
            <a:outerShdw blurRad="109728" dist="38100" dir="540000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Box 7"/>
          <p:cNvSpPr txBox="1"/>
          <p:nvPr/>
        </p:nvSpPr>
        <p:spPr>
          <a:xfrm>
            <a:off x="4626864" y="2011680"/>
            <a:ext cx="2926080" cy="32004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b="1" sz="1200">
                <a:solidFill>
                  <a:srgbClr val="34D399"/>
                </a:solidFill>
                <a:latin typeface="+mn-lt"/>
                <a:cs typeface="+mn-lt"/>
              </a:rPr>
              <a:t>🥧 2D Pie: Bundle Contribution</a:t>
            </a:r>
          </a:p>
        </p:txBody>
      </p:sp>
      <p:graphicFrame>
        <p:nvGraphicFramePr>
          <p:cNvPr id="9" name="Chart 8"/>
          <p:cNvGraphicFramePr/>
          <p:nvPr/>
        </p:nvGraphicFramePr>
        <p:xfrm>
          <a:off x="4626864" y="2377440"/>
          <a:ext cx="29260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roundRect 9"/>
          <p:cNvSpPr/>
          <p:nvPr/>
        </p:nvSpPr>
        <p:spPr>
          <a:xfrm>
            <a:off x="7982712" y="1828800"/>
            <a:ext cx="3291840" cy="4114800"/>
          </a:xfrm>
          <a:prstGeom prst="roundRect">
            <a:avLst/>
          </a:prstGeom>
          <a:solidFill>
            <a:srgbClr val="1E293B"/>
          </a:solidFill>
          <a:ln w="13716">
            <a:solidFill>
              <a:srgbClr val="334155"/>
            </a:solidFill>
          </a:ln>
          <a:effectLst>
            <a:outerShdw blurRad="109728" dist="38100" dir="540000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Box 10"/>
          <p:cNvSpPr txBox="1"/>
          <p:nvPr/>
        </p:nvSpPr>
        <p:spPr>
          <a:xfrm>
            <a:off x="8165592" y="2011680"/>
            <a:ext cx="2926080" cy="32004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b="1" sz="1200">
                <a:solidFill>
                  <a:srgbClr val="818CF8"/>
                </a:solidFill>
                <a:latin typeface="+mn-lt"/>
                <a:cs typeface="+mn-lt"/>
              </a:rPr>
              <a:t>🎯 Radar: Performance Scorecard</a:t>
            </a:r>
          </a:p>
        </p:txBody>
      </p:sp>
      <p:graphicFrame>
        <p:nvGraphicFramePr>
          <p:cNvPr id="12" name="Chart 11"/>
          <p:cNvGraphicFramePr/>
          <p:nvPr/>
        </p:nvGraphicFramePr>
        <p:xfrm>
          <a:off x="8165592" y="2377440"/>
          <a:ext cx="29260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Text Box 12"/>
          <p:cNvSpPr txBox="1"/>
          <p:nvPr/>
        </p:nvSpPr>
        <p:spPr>
          <a:xfrm>
            <a:off x="731520" y="6510528"/>
            <a:ext cx="10725912" cy="228600"/>
          </a:xfrm>
          <a:prstGeom prst="rect">
            <a:avLst/>
          </a:prstGeom>
        </p:spPr>
        <p:txBody>
          <a:bodyPr anchor="t"/>
          <a:lstStyle/>
          <a:p>
            <a:pPr algn="ctr"/>
            <a:r>
              <a:rPr i="1" sz="800">
                <a:solidFill>
                  <a:srgbClr val="64748B"/>
                </a:solidFill>
                <a:latin typeface="+mn-lt"/>
                <a:cs typeface="+mn-lt"/>
              </a:rPr>
              <a:t>* Disclaimer: All benchmark metrics, performance figures, and simulated architectures in this deck are synthetic demonstration values generated solely to showcase the authoring, formatting, and rendering capabilities of @hokkyss/pptx.</a:t>
            </a:r>
          </a:p>
        </p:txBody>
      </p:sp>
    </p:spTree>
  </p:cSld>
  <p:clrMapOvr>
    <a:masterClrMapping/>
  </p:clrMapOvr>
  <p:transition spd="fast">
    <p:checker dir="vert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731520" y="731520"/>
            <a:ext cx="10725912" cy="54864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b="1" sz="2400">
                <a:solidFill>
                  <a:srgbClr val="0F172A"/>
                </a:solidFill>
                <a:latin typeface="+mj-lt"/>
                <a:cs typeface="+mj-lt"/>
              </a:rPr>
              <a:t>Native Hyperlinks &amp; Interactive Navigation System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731520" y="1280160"/>
            <a:ext cx="10725912" cy="36576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sz="1400">
                <a:solidFill>
                  <a:srgbClr val="64748B"/>
                </a:solidFill>
                <a:latin typeface="+mn-lt"/>
                <a:cs typeface="+mn-lt"/>
              </a:rPr>
              <a:t>OpenXML DrawingML &lt;a:hlinkClick&gt; external URLs, slide navigation jumps, hover ScreenTips, and presentation controls</a:t>
            </a:r>
          </a:p>
        </p:txBody>
      </p:sp>
      <p:sp>
        <p:nvSpPr>
          <p:cNvPr id="4" name="roundRect 3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FFFFFF"/>
          </a:solidFill>
          <a:ln w="13716">
            <a:solidFill>
              <a:srgbClr val="E2E8F0"/>
            </a:solidFill>
          </a:ln>
          <a:effectLst>
            <a:outerShdw blurRad="109728" dist="38100" dir="540000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Box 4"/>
          <p:cNvSpPr txBox="1"/>
          <p:nvPr/>
        </p:nvSpPr>
        <p:spPr>
          <a:xfrm>
            <a:off x="914400" y="2011680"/>
            <a:ext cx="4846320" cy="32004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b="1" sz="1300">
                <a:solidFill>
                  <a:srgbClr val="0F172A"/>
                </a:solidFill>
                <a:latin typeface="+mn-lt"/>
                <a:cs typeface="+mn-lt"/>
              </a:rPr>
              <a:t>🧭 Interactive Presentation Jump Hub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914400" y="2331720"/>
            <a:ext cx="4846320" cy="27432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sz="1050">
                <a:solidFill>
                  <a:srgbClr val="64748B"/>
                </a:solidFill>
                <a:latin typeface="+mn-lt"/>
                <a:cs typeface="+mn-lt"/>
              </a:rPr>
              <a:t>Click any card below during slide show mode to immediately jump to that section:</a:t>
            </a:r>
          </a:p>
        </p:txBody>
      </p:sp>
      <p:sp>
        <p:nvSpPr>
          <p:cNvPr id="7" name="roundRect 6">
            <a:hlinkClick r:id="rId2" tooltip="Jump directly to Slide 2" action="ppaction://hlinksldjump"/>
          </p:cNvPr>
          <p:cNvSpPr/>
          <p:nvPr/>
        </p:nvSpPr>
        <p:spPr>
          <a:xfrm>
            <a:off x="914400" y="2697480"/>
            <a:ext cx="4846320" cy="749808"/>
          </a:xfrm>
          <a:prstGeom prst="roundRect">
            <a:avLst/>
          </a:prstGeom>
          <a:solidFill>
            <a:srgbClr val="EFF6FF"/>
          </a:solidFill>
          <a:ln w="13716">
            <a:solidFill>
              <a:srgbClr val="3B82F6"/>
            </a:solidFill>
          </a:ln>
        </p:spPr>
        <p:txBody>
          <a:bodyPr anchor="t"/>
          <a:lstStyle/>
          <a:p>
            <a:pPr algn="l"/>
            <a:r>
              <a:rPr b="1" sz="1100">
                <a:solidFill>
                  <a:srgbClr val="1D4ED8"/>
                </a:solidFill>
                <a:latin typeface="+mn-lt"/>
                <a:cs typeface="+mn-lt"/>
              </a:rPr>
              <a:t>📐 Slide 2: Modular Architecture ➔</a:t>
            </a:r>
          </a:p>
          <a:p>
            <a:pPr algn="l"/>
            <a:r>
              <a:rPr sz="950">
                <a:solidFill>
                  <a:srgbClr val="64748B"/>
                </a:solidFill>
                <a:latin typeface="+mn-lt"/>
                <a:cs typeface="+mn-lt"/>
              </a:rPr>
              <a:t>3-tier modular schemas &amp; strict units</a:t>
            </a:r>
          </a:p>
        </p:txBody>
      </p:sp>
      <p:sp>
        <p:nvSpPr>
          <p:cNvPr id="8" name="roundRect 7">
            <a:hlinkClick r:id="rId3" tooltip="Jump directly to Slide 8" action="ppaction://hlinksldjump"/>
          </p:cNvPr>
          <p:cNvSpPr/>
          <p:nvPr/>
        </p:nvSpPr>
        <p:spPr>
          <a:xfrm>
            <a:off x="914400" y="3566160"/>
            <a:ext cx="4846320" cy="749808"/>
          </a:xfrm>
          <a:prstGeom prst="roundRect">
            <a:avLst/>
          </a:prstGeom>
          <a:solidFill>
            <a:srgbClr val="F0FDF4"/>
          </a:solidFill>
          <a:ln w="13716">
            <a:solidFill>
              <a:srgbClr val="22C55E"/>
            </a:solidFill>
          </a:ln>
        </p:spPr>
        <p:txBody>
          <a:bodyPr anchor="t"/>
          <a:lstStyle/>
          <a:p>
            <a:pPr algn="l"/>
            <a:r>
              <a:rPr b="1" sz="1100">
                <a:solidFill>
                  <a:srgbClr val="15803D"/>
                </a:solidFill>
                <a:latin typeface="+mn-lt"/>
                <a:cs typeface="+mn-lt"/>
              </a:rPr>
              <a:t>📑 Slide 8: Content Placeholder ➔</a:t>
            </a:r>
          </a:p>
          <a:p>
            <a:pPr algn="l"/>
            <a:r>
              <a:rPr sz="950">
                <a:solidFill>
                  <a:srgbClr val="64748B"/>
                </a:solidFill>
                <a:latin typeface="+mn-lt"/>
                <a:cs typeface="+mn-lt"/>
              </a:rPr>
              <a:t>Native &lt;p:ph idx="1"/&gt; &amp; Shift+Enter breaks</a:t>
            </a:r>
          </a:p>
        </p:txBody>
      </p:sp>
      <p:sp>
        <p:nvSpPr>
          <p:cNvPr id="9" name="roundRect 8">
            <a:hlinkClick r:id="rId4" tooltip="Jump directly to Slide 11" action="ppaction://hlinksldjump"/>
          </p:cNvPr>
          <p:cNvSpPr/>
          <p:nvPr/>
        </p:nvSpPr>
        <p:spPr>
          <a:xfrm>
            <a:off x="914400" y="4434840"/>
            <a:ext cx="4846320" cy="749808"/>
          </a:xfrm>
          <a:prstGeom prst="roundRect">
            <a:avLst/>
          </a:prstGeom>
          <a:solidFill>
            <a:srgbClr val="ECFDF5"/>
          </a:solidFill>
          <a:ln w="13716">
            <a:solidFill>
              <a:srgbClr val="10B981"/>
            </a:solidFill>
          </a:ln>
        </p:spPr>
        <p:txBody>
          <a:bodyPr anchor="t"/>
          <a:lstStyle/>
          <a:p>
            <a:pPr algn="l"/>
            <a:r>
              <a:rPr b="1" sz="1100">
                <a:solidFill>
                  <a:srgbClr val="047857"/>
                </a:solidFill>
                <a:latin typeface="+mn-lt"/>
                <a:cs typeface="+mn-lt"/>
              </a:rPr>
              <a:t>📈 Slide 11: OpenXML Charts &amp; Graphs ➔</a:t>
            </a:r>
          </a:p>
          <a:p>
            <a:pPr algn="l"/>
            <a:r>
              <a:rPr sz="950">
                <a:solidFill>
                  <a:srgbClr val="64748B"/>
                </a:solidFill>
                <a:latin typeface="+mn-lt"/>
                <a:cs typeface="+mn-lt"/>
              </a:rPr>
              <a:t>Clustered bar &amp; line dual-series analytics</a:t>
            </a:r>
          </a:p>
        </p:txBody>
      </p:sp>
      <p:sp>
        <p:nvSpPr>
          <p:cNvPr id="10" name="roundRect 9">
            <a:hlinkClick r:id="rId5" tooltip="Jump directly to Slide 16" action="ppaction://hlinksldjump"/>
          </p:cNvPr>
          <p:cNvSpPr/>
          <p:nvPr/>
        </p:nvSpPr>
        <p:spPr>
          <a:xfrm>
            <a:off x="914400" y="5303520"/>
            <a:ext cx="4846320" cy="749808"/>
          </a:xfrm>
          <a:prstGeom prst="roundRect">
            <a:avLst/>
          </a:prstGeom>
          <a:solidFill>
            <a:srgbClr val="FFFBEB"/>
          </a:solidFill>
          <a:ln w="13716">
            <a:solidFill>
              <a:srgbClr val="F59E0B"/>
            </a:solidFill>
          </a:ln>
        </p:spPr>
        <p:txBody>
          <a:bodyPr anchor="t"/>
          <a:lstStyle/>
          <a:p>
            <a:pPr algn="l"/>
            <a:r>
              <a:rPr b="1" sz="1100">
                <a:solidFill>
                  <a:srgbClr val="B45309"/>
                </a:solidFill>
                <a:latin typeface="+mn-lt"/>
                <a:cs typeface="+mn-lt"/>
              </a:rPr>
              <a:t>⚡ Slide 16: Engine Benchmark Matrix ➔</a:t>
            </a:r>
          </a:p>
          <a:p>
            <a:pPr algn="l"/>
            <a:r>
              <a:rPr sz="950">
                <a:solidFill>
                  <a:srgbClr val="64748B"/>
                </a:solidFill>
                <a:latin typeface="+mn-lt"/>
                <a:cs typeface="+mn-lt"/>
              </a:rPr>
              <a:t>Empirical throughput &amp; bundle size matrix</a:t>
            </a:r>
          </a:p>
        </p:txBody>
      </p:sp>
      <p:sp>
        <p:nvSpPr>
          <p:cNvPr id="11" name="roundRect 10"/>
          <p:cNvSpPr/>
          <p:nvPr/>
        </p:nvSpPr>
        <p:spPr>
          <a:xfrm>
            <a:off x="6217920" y="1828800"/>
            <a:ext cx="5212080" cy="2377440"/>
          </a:xfrm>
          <a:prstGeom prst="roundRect">
            <a:avLst/>
          </a:prstGeom>
          <a:solidFill>
            <a:srgbClr val="FFFFFF"/>
          </a:solidFill>
          <a:ln w="13716">
            <a:solidFill>
              <a:srgbClr val="E2E8F0"/>
            </a:solidFill>
          </a:ln>
          <a:effectLst>
            <a:outerShdw blurRad="109728" dist="38100" dir="540000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Box 11"/>
          <p:cNvSpPr txBox="1"/>
          <p:nvPr/>
        </p:nvSpPr>
        <p:spPr>
          <a:xfrm>
            <a:off x="6400800" y="2011680"/>
            <a:ext cx="4846320" cy="32004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b="1" sz="1300">
                <a:solidFill>
                  <a:srgbClr val="0F172A"/>
                </a:solidFill>
                <a:latin typeface="+mn-lt"/>
                <a:cs typeface="+mn-lt"/>
              </a:rPr>
              <a:t>🔗 External Web &amp; Ecosystem Endpoints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6400800" y="2377440"/>
            <a:ext cx="4846320" cy="1645920"/>
          </a:xfrm>
          <a:prstGeom prst="rect">
            <a:avLst/>
          </a:prstGeom>
        </p:spPr>
        <p:txBody>
          <a:bodyPr anchor="t"/>
          <a:lstStyle/>
          <a:p>
            <a:pPr algn="l" lvl="0"/>
            <a:r>
              <a:rPr>
                <a:latin typeface="+mn-lt"/>
                <a:cs typeface="+mn-lt"/>
              </a:rPr>
              <a:t>• </a:t>
            </a:r>
            <a:r>
              <a:rPr b="1" u="sng">
                <a:solidFill>
                  <a:srgbClr val="0284C7"/>
                </a:solidFill>
                <a:hlinkClick r:id="rId6" tooltip="View GitHub Repository &amp; Source Code"/>
                <a:latin typeface="+mn-lt"/>
                <a:cs typeface="+mn-lt"/>
              </a:rPr>
              <a:t>GitHub Repository (hokkyss/pptx-parser)</a:t>
            </a:r>
            <a:r>
              <a:rPr>
                <a:latin typeface="+mn-lt"/>
                <a:cs typeface="+mn-lt"/>
              </a:rPr>
              <a:t> — Star &amp; contribute.</a:t>
            </a:r>
          </a:p>
          <a:p>
            <a:pPr algn="l" lvl="0"/>
            <a:r>
              <a:rPr>
                <a:latin typeface="+mn-lt"/>
                <a:cs typeface="+mn-lt"/>
              </a:rPr>
              <a:t>• </a:t>
            </a:r>
            <a:r>
              <a:rPr b="1" u="sng">
                <a:solidFill>
                  <a:srgbClr val="6366F1"/>
                </a:solidFill>
                <a:hlinkClick r:id="rId7" tooltip="Inspect NPM Package Registry"/>
                <a:latin typeface="+mn-lt"/>
                <a:cs typeface="+mn-lt"/>
              </a:rPr>
              <a:t>NPM Package Registry (@hokkyss/pptx)</a:t>
            </a:r>
            <a:r>
              <a:rPr>
                <a:latin typeface="+mn-lt"/>
                <a:cs typeface="+mn-lt"/>
              </a:rPr>
              <a:t> — Published release.</a:t>
            </a:r>
          </a:p>
          <a:p>
            <a:pPr algn="l" lvl="0"/>
            <a:r>
              <a:rPr>
                <a:latin typeface="+mn-lt"/>
                <a:cs typeface="+mn-lt"/>
              </a:rPr>
              <a:t>• </a:t>
            </a:r>
            <a:r>
              <a:rPr b="1" u="sng">
                <a:solidFill>
                  <a:srgbClr val="10B981"/>
                </a:solidFill>
                <a:hlinkClick r:id="rId8" tooltip="View Issue Tracker &amp; Discussions"/>
                <a:latin typeface="+mn-lt"/>
                <a:cs typeface="+mn-lt"/>
              </a:rPr>
              <a:t>GitHub Issue Tracker &amp; Community</a:t>
            </a:r>
            <a:r>
              <a:rPr>
                <a:latin typeface="+mn-lt"/>
                <a:cs typeface="+mn-lt"/>
              </a:rPr>
              <a:t> — Discussions &amp; issues.</a:t>
            </a:r>
          </a:p>
        </p:txBody>
      </p:sp>
      <p:sp>
        <p:nvSpPr>
          <p:cNvPr id="14" name="roundRect 13"/>
          <p:cNvSpPr/>
          <p:nvPr/>
        </p:nvSpPr>
        <p:spPr>
          <a:xfrm>
            <a:off x="6217920" y="4389120"/>
            <a:ext cx="5212080" cy="1920240"/>
          </a:xfrm>
          <a:prstGeom prst="roundRect">
            <a:avLst/>
          </a:prstGeom>
          <a:solidFill>
            <a:srgbClr val="FFFFFF"/>
          </a:solidFill>
          <a:ln w="13716">
            <a:solidFill>
              <a:srgbClr val="E2E8F0"/>
            </a:solidFill>
          </a:ln>
          <a:effectLst>
            <a:outerShdw blurRad="109728" dist="38100" dir="540000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Box 14"/>
          <p:cNvSpPr txBox="1"/>
          <p:nvPr/>
        </p:nvSpPr>
        <p:spPr>
          <a:xfrm>
            <a:off x="6400800" y="4572000"/>
            <a:ext cx="4846320" cy="32004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b="1" sz="1300">
                <a:solidFill>
                  <a:srgbClr val="0F172A"/>
                </a:solidFill>
                <a:latin typeface="+mn-lt"/>
                <a:cs typeface="+mn-lt"/>
              </a:rPr>
              <a:t>🎮 Native Slide Show Action Controls</a:t>
            </a:r>
          </a:p>
        </p:txBody>
      </p:sp>
      <p:sp>
        <p:nvSpPr>
          <p:cNvPr id="16" name="Text Box 15"/>
          <p:cNvSpPr txBox="1"/>
          <p:nvPr/>
        </p:nvSpPr>
        <p:spPr>
          <a:xfrm>
            <a:off x="6400800" y="4892040"/>
            <a:ext cx="4846320" cy="27432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sz="1000">
                <a:solidFill>
                  <a:srgbClr val="64748B"/>
                </a:solidFill>
                <a:latin typeface="+mn-lt"/>
                <a:cs typeface="+mn-lt"/>
              </a:rPr>
              <a:t>OpenXML action jump commands executed directly inside PowerPoint Presentation Mode:</a:t>
            </a:r>
          </a:p>
        </p:txBody>
      </p:sp>
      <p:sp>
        <p:nvSpPr>
          <p:cNvPr id="17" name="roundRect 16">
            <a:hlinkClick tooltip="Jump to Slide 1" action="ppaction://hlinkshowjump?jump=firstslide"/>
          </p:cNvPr>
          <p:cNvSpPr/>
          <p:nvPr/>
        </p:nvSpPr>
        <p:spPr>
          <a:xfrm>
            <a:off x="6400800" y="5440680"/>
            <a:ext cx="1097280" cy="594360"/>
          </a:xfrm>
          <a:prstGeom prst="roundRect">
            <a:avLst/>
          </a:prstGeom>
          <a:solidFill>
            <a:srgbClr val="0F172A"/>
          </a:solidFill>
        </p:spPr>
        <p:txBody>
          <a:bodyPr anchor="t"/>
          <a:lstStyle/>
          <a:p>
            <a:pPr algn="ctr"/>
            <a:r>
              <a:rPr b="1" sz="1050">
                <a:solidFill>
                  <a:srgbClr val="FFFFFF"/>
                </a:solidFill>
                <a:latin typeface="+mn-lt"/>
                <a:cs typeface="+mn-lt"/>
              </a:rPr>
              <a:t>⏮ First</a:t>
            </a:r>
          </a:p>
        </p:txBody>
      </p:sp>
      <p:sp>
        <p:nvSpPr>
          <p:cNvPr id="18" name="roundRect 17">
            <a:hlinkClick tooltip="Jump to Slide 13" action="ppaction://hlinkshowjump?jump=previousslide"/>
          </p:cNvPr>
          <p:cNvSpPr/>
          <p:nvPr/>
        </p:nvSpPr>
        <p:spPr>
          <a:xfrm>
            <a:off x="7635240" y="5440680"/>
            <a:ext cx="1097280" cy="594360"/>
          </a:xfrm>
          <a:prstGeom prst="roundRect">
            <a:avLst/>
          </a:prstGeom>
          <a:solidFill>
            <a:srgbClr val="475569"/>
          </a:solidFill>
        </p:spPr>
        <p:txBody>
          <a:bodyPr anchor="t"/>
          <a:lstStyle/>
          <a:p>
            <a:pPr algn="ctr"/>
            <a:r>
              <a:rPr b="1" sz="1050">
                <a:solidFill>
                  <a:srgbClr val="FFFFFF"/>
                </a:solidFill>
                <a:latin typeface="+mn-lt"/>
                <a:cs typeface="+mn-lt"/>
              </a:rPr>
              <a:t>◀ Prev</a:t>
            </a:r>
          </a:p>
        </p:txBody>
      </p:sp>
      <p:sp>
        <p:nvSpPr>
          <p:cNvPr id="19" name="roundRect 18">
            <a:hlinkClick tooltip="Jump to Slide 15" action="ppaction://hlinkshowjump?jump=nextslide"/>
          </p:cNvPr>
          <p:cNvSpPr/>
          <p:nvPr/>
        </p:nvSpPr>
        <p:spPr>
          <a:xfrm>
            <a:off x="8869680" y="5440680"/>
            <a:ext cx="1097280" cy="594360"/>
          </a:xfrm>
          <a:prstGeom prst="roundRect">
            <a:avLst/>
          </a:prstGeom>
          <a:solidFill>
            <a:srgbClr val="0284C7"/>
          </a:solidFill>
        </p:spPr>
        <p:txBody>
          <a:bodyPr anchor="t"/>
          <a:lstStyle/>
          <a:p>
            <a:pPr algn="ctr"/>
            <a:r>
              <a:rPr b="1" sz="1050">
                <a:solidFill>
                  <a:srgbClr val="FFFFFF"/>
                </a:solidFill>
                <a:latin typeface="+mn-lt"/>
                <a:cs typeface="+mn-lt"/>
              </a:rPr>
              <a:t>Next ▶</a:t>
            </a:r>
          </a:p>
        </p:txBody>
      </p:sp>
      <p:sp>
        <p:nvSpPr>
          <p:cNvPr id="20" name="roundRect 19">
            <a:hlinkClick tooltip="End Slide Show" action="ppaction://hlinkshowjump?jump=endshow"/>
          </p:cNvPr>
          <p:cNvSpPr/>
          <p:nvPr/>
        </p:nvSpPr>
        <p:spPr>
          <a:xfrm>
            <a:off x="10104120" y="5440680"/>
            <a:ext cx="1097280" cy="594360"/>
          </a:xfrm>
          <a:prstGeom prst="roundRect">
            <a:avLst/>
          </a:prstGeom>
          <a:solidFill>
            <a:srgbClr val="EF4444"/>
          </a:solidFill>
        </p:spPr>
        <p:txBody>
          <a:bodyPr anchor="t"/>
          <a:lstStyle/>
          <a:p>
            <a:pPr algn="ctr"/>
            <a:r>
              <a:rPr b="1" sz="1050">
                <a:solidFill>
                  <a:srgbClr val="FFFFFF"/>
                </a:solidFill>
                <a:latin typeface="+mn-lt"/>
                <a:cs typeface="+mn-lt"/>
              </a:rPr>
              <a:t>⏹ End</a:t>
            </a:r>
          </a:p>
        </p:txBody>
      </p:sp>
      <p:sp>
        <p:nvSpPr>
          <p:cNvPr id="21" name="Text Box 20"/>
          <p:cNvSpPr txBox="1"/>
          <p:nvPr/>
        </p:nvSpPr>
        <p:spPr>
          <a:xfrm>
            <a:off x="731520" y="6510528"/>
            <a:ext cx="10725912" cy="228600"/>
          </a:xfrm>
          <a:prstGeom prst="rect">
            <a:avLst/>
          </a:prstGeom>
        </p:spPr>
        <p:txBody>
          <a:bodyPr anchor="t"/>
          <a:lstStyle/>
          <a:p>
            <a:pPr algn="ctr"/>
            <a:r>
              <a:rPr i="1" sz="800">
                <a:solidFill>
                  <a:srgbClr val="94A3B8"/>
                </a:solidFill>
                <a:latin typeface="+mn-lt"/>
                <a:cs typeface="+mn-lt"/>
              </a:rPr>
              <a:t>* Disclaimer: All benchmark metrics, performance figures, and simulated architectures in this deck are synthetic demonstration values generated solely to showcase the authoring, formatting, and rendering capabilities of @hokkyss/pptx.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>
          <a:gsLst>
            <a:gs pos="0">
              <a:srgbClr val="090D16"/>
            </a:gs>
            <a:gs pos="50000">
              <a:srgbClr val="0F172A"/>
            </a:gs>
            <a:gs pos="100000">
              <a:srgbClr val="1E293B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731520" y="731520"/>
            <a:ext cx="10725912" cy="54864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b="1" sz="2400">
                <a:solidFill>
                  <a:srgbClr val="FFFFFF"/>
                </a:solidFill>
                <a:latin typeface="+mj-lt"/>
                <a:cs typeface="+mj-lt"/>
              </a:rPr>
              <a:t>Native OpenXML DrawingML Gradient Engine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731520" y="1280160"/>
            <a:ext cx="10725912" cy="36576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sz="1400">
                <a:solidFill>
                  <a:srgbClr val="94A3B8"/>
                </a:solidFill>
                <a:latin typeface="+mn-lt"/>
                <a:cs typeface="+mn-lt"/>
              </a:rPr>
              <a:t>Linear, radial, multi-stop vector meshes, alpha transparency, and angle rotation</a:t>
            </a:r>
          </a:p>
        </p:txBody>
      </p:sp>
      <p:sp>
        <p:nvSpPr>
          <p:cNvPr id="4" name="roundRect 3">
            <a:hlinkClick r:id="rId2" tooltip="Return to Hyperlinks Hub (Slide 14)" action="ppaction://hlinksldjump"/>
          </p:cNvPr>
          <p:cNvSpPr/>
          <p:nvPr/>
        </p:nvSpPr>
        <p:spPr>
          <a:xfrm>
            <a:off x="7315200" y="731520"/>
            <a:ext cx="2011680" cy="411480"/>
          </a:xfrm>
          <a:prstGeom prst="roundRect">
            <a:avLst/>
          </a:prstGeom>
          <a:solidFill>
            <a:srgbClr val="0284C7"/>
          </a:solidFill>
          <a:ln w="13716">
            <a:solidFill>
              <a:srgbClr val="38BDF8"/>
            </a:solidFill>
          </a:ln>
          <a:effectLst>
            <a:outerShdw blurRad="109728" dist="38100" dir="5400000">
              <a:srgbClr val="0284C7">
                <a:alpha val="30000"/>
              </a:srgbClr>
            </a:outerShdw>
          </a:effectLst>
        </p:spPr>
        <p:txBody>
          <a:bodyPr anchor="t"/>
          <a:lstStyle/>
          <a:p>
            <a:pPr algn="ctr"/>
            <a:r>
              <a:rPr b="1" sz="1000">
                <a:solidFill>
                  <a:srgbClr val="FFFFFF"/>
                </a:solidFill>
                <a:latin typeface="+mn-lt"/>
                <a:cs typeface="+mn-lt"/>
              </a:rPr>
              <a:t>⬅ Back to Nav Hub</a:t>
            </a:r>
          </a:p>
        </p:txBody>
      </p:sp>
      <p:sp>
        <p:nvSpPr>
          <p:cNvPr id="5" name="roundRect 4">
            <a:hlinkClick r:id="rId3" tooltip="Advance to Live Benchmarks (Slide 16)" action="ppaction://hlinksldjump"/>
          </p:cNvPr>
          <p:cNvSpPr/>
          <p:nvPr/>
        </p:nvSpPr>
        <p:spPr>
          <a:xfrm>
            <a:off x="9509760" y="731520"/>
            <a:ext cx="1828800" cy="411480"/>
          </a:xfrm>
          <a:prstGeom prst="roundRect">
            <a:avLst/>
          </a:prstGeom>
          <a:gradFill>
            <a:gsLst>
              <a:gs pos="0">
                <a:srgbClr val="10B981"/>
              </a:gs>
              <a:gs pos="100000">
                <a:srgbClr val="059669"/>
              </a:gs>
            </a:gsLst>
            <a:lin ang="5400000" scaled="1"/>
          </a:gradFill>
          <a:ln w="13716">
            <a:solidFill>
              <a:srgbClr val="34D399"/>
            </a:solidFill>
          </a:ln>
          <a:effectLst>
            <a:outerShdw blurRad="109728" dist="38100" dir="5400000">
              <a:srgbClr val="10B981">
                <a:alpha val="30000"/>
              </a:srgbClr>
            </a:outerShdw>
          </a:effectLst>
        </p:spPr>
        <p:txBody>
          <a:bodyPr anchor="t"/>
          <a:lstStyle/>
          <a:p>
            <a:pPr algn="ctr"/>
            <a:r>
              <a:rPr b="1" sz="1000">
                <a:solidFill>
                  <a:srgbClr val="FFFFFF"/>
                </a:solidFill>
                <a:latin typeface="+mn-lt"/>
                <a:cs typeface="+mn-lt"/>
              </a:rPr>
              <a:t>Benchmarks ➔</a:t>
            </a:r>
          </a:p>
        </p:txBody>
      </p:sp>
      <p:sp>
        <p:nvSpPr>
          <p:cNvPr id="6" name="roundRect 5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0F172A"/>
          </a:solidFill>
          <a:ln w="13716">
            <a:solidFill>
              <a:srgbClr val="334155"/>
            </a:solidFill>
          </a:ln>
          <a:effectLst>
            <a:outerShdw blurRad="109728" dist="38100" dir="540000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Box 6"/>
          <p:cNvSpPr txBox="1"/>
          <p:nvPr/>
        </p:nvSpPr>
        <p:spPr>
          <a:xfrm>
            <a:off x="914400" y="2011680"/>
            <a:ext cx="4846320" cy="32004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b="1" sz="1300">
                <a:solidFill>
                  <a:srgbClr val="FFFFFF"/>
                </a:solidFill>
                <a:latin typeface="+mn-lt"/>
                <a:cs typeface="+mn-lt"/>
              </a:rPr>
              <a:t>🌈 Multi-Angle Linear Gradient Topologies</a:t>
            </a:r>
          </a:p>
        </p:txBody>
      </p:sp>
      <p:sp>
        <p:nvSpPr>
          <p:cNvPr id="8" name="roundRect 7"/>
          <p:cNvSpPr/>
          <p:nvPr/>
        </p:nvSpPr>
        <p:spPr>
          <a:xfrm>
            <a:off x="914400" y="2423160"/>
            <a:ext cx="4846320" cy="960120"/>
          </a:xfrm>
          <a:prstGeom prst="roundRect">
            <a:avLst/>
          </a:prstGeom>
          <a:gradFill>
            <a:gsLst>
              <a:gs pos="0">
                <a:srgbClr val="0284C7"/>
              </a:gs>
              <a:gs pos="50000">
                <a:srgbClr val="38BDF8"/>
              </a:gs>
              <a:gs pos="100000">
                <a:srgbClr val="818CF8"/>
              </a:gs>
            </a:gsLst>
            <a:lin ang="2700000" scaled="1"/>
          </a:gradFill>
          <a:ln w="9144">
            <a:solidFill>
              <a:srgbClr val="FFFFFF"/>
            </a:solidFill>
          </a:ln>
          <a:effectLst>
            <a:outerShdw blurRad="91440" dist="38100" dir="5400000">
              <a:srgbClr val="0284C7">
                <a:alpha val="35000"/>
              </a:srgbClr>
            </a:outerShdw>
          </a:effectLst>
        </p:spPr>
        <p:txBody>
          <a:bodyPr anchor="t"/>
          <a:lstStyle/>
          <a:p>
            <a:pPr algn="l"/>
            <a:r>
              <a:rPr b="1" sz="1200">
                <a:solidFill>
                  <a:srgbClr val="FFFFFF"/>
                </a:solidFill>
                <a:latin typeface="+mn-lt"/>
                <a:cs typeface="+mn-lt"/>
              </a:rPr>
              <a:t>Oceanic Aurora Mesh</a:t>
            </a:r>
          </a:p>
          <a:p>
            <a:pPr algn="l"/>
            <a:r>
              <a:rPr sz="950">
                <a:solidFill>
                  <a:srgbClr val="F1F5F9"/>
                </a:solidFill>
                <a:latin typeface="+mn-lt"/>
                <a:cs typeface="+mn-lt"/>
              </a:rPr>
              <a:t>45° Diagonal • Sky to Indigo Vector Fusion</a:t>
            </a:r>
          </a:p>
        </p:txBody>
      </p:sp>
      <p:sp>
        <p:nvSpPr>
          <p:cNvPr id="9" name="roundRect 8"/>
          <p:cNvSpPr/>
          <p:nvPr/>
        </p:nvSpPr>
        <p:spPr>
          <a:xfrm>
            <a:off x="914400" y="3520440"/>
            <a:ext cx="4846320" cy="960120"/>
          </a:xfrm>
          <a:prstGeom prst="roundRect">
            <a:avLst/>
          </a:prstGeom>
          <a:gradFill>
            <a:gsLst>
              <a:gs pos="0">
                <a:srgbClr val="F59E0B"/>
              </a:gs>
              <a:gs pos="50000">
                <a:srgbClr val="EF4444"/>
              </a:gs>
              <a:gs pos="100000">
                <a:srgbClr val="EC4899"/>
              </a:gs>
            </a:gsLst>
            <a:lin ang="5400000" scaled="1"/>
          </a:gradFill>
          <a:ln w="9144">
            <a:solidFill>
              <a:srgbClr val="FFFFFF"/>
            </a:solidFill>
          </a:ln>
          <a:effectLst>
            <a:outerShdw blurRad="91440" dist="38100" dir="5400000">
              <a:srgbClr val="F59E0B">
                <a:alpha val="35000"/>
              </a:srgbClr>
            </a:outerShdw>
          </a:effectLst>
        </p:spPr>
        <p:txBody>
          <a:bodyPr anchor="t"/>
          <a:lstStyle/>
          <a:p>
            <a:pPr algn="l"/>
            <a:r>
              <a:rPr b="1" sz="1200">
                <a:solidFill>
                  <a:srgbClr val="FFFFFF"/>
                </a:solidFill>
                <a:latin typeface="+mn-lt"/>
                <a:cs typeface="+mn-lt"/>
              </a:rPr>
              <a:t>Sunset Ember Gradient</a:t>
            </a:r>
          </a:p>
          <a:p>
            <a:pPr algn="l"/>
            <a:r>
              <a:rPr sz="950">
                <a:solidFill>
                  <a:srgbClr val="F1F5F9"/>
                </a:solidFill>
                <a:latin typeface="+mn-lt"/>
                <a:cs typeface="+mn-lt"/>
              </a:rPr>
              <a:t>90° Vertical • Amber to Crimson Sunset</a:t>
            </a:r>
          </a:p>
        </p:txBody>
      </p:sp>
      <p:sp>
        <p:nvSpPr>
          <p:cNvPr id="10" name="roundRect 9"/>
          <p:cNvSpPr/>
          <p:nvPr/>
        </p:nvSpPr>
        <p:spPr>
          <a:xfrm>
            <a:off x="914400" y="4617720"/>
            <a:ext cx="4846320" cy="960120"/>
          </a:xfrm>
          <a:prstGeom prst="roundRect">
            <a:avLst/>
          </a:prstGeom>
          <a:gradFill>
            <a:gsLst>
              <a:gs pos="0">
                <a:srgbClr val="059669"/>
              </a:gs>
              <a:gs pos="50000">
                <a:srgbClr val="10B981"/>
              </a:gs>
              <a:gs pos="100000">
                <a:srgbClr val="34D399"/>
              </a:gs>
            </a:gsLst>
            <a:lin ang="8100000" scaled="1"/>
          </a:gradFill>
          <a:ln w="9144">
            <a:solidFill>
              <a:srgbClr val="FFFFFF"/>
            </a:solidFill>
          </a:ln>
          <a:effectLst>
            <a:outerShdw blurRad="91440" dist="38100" dir="5400000">
              <a:srgbClr val="059669">
                <a:alpha val="35000"/>
              </a:srgbClr>
            </a:outerShdw>
          </a:effectLst>
        </p:spPr>
        <p:txBody>
          <a:bodyPr anchor="t"/>
          <a:lstStyle/>
          <a:p>
            <a:pPr algn="l"/>
            <a:r>
              <a:rPr b="1" sz="1200">
                <a:solidFill>
                  <a:srgbClr val="FFFFFF"/>
                </a:solidFill>
                <a:latin typeface="+mn-lt"/>
                <a:cs typeface="+mn-lt"/>
              </a:rPr>
              <a:t>Emerald Surge Vector</a:t>
            </a:r>
          </a:p>
          <a:p>
            <a:pPr algn="l"/>
            <a:r>
              <a:rPr sz="950">
                <a:solidFill>
                  <a:srgbClr val="F1F5F9"/>
                </a:solidFill>
                <a:latin typeface="+mn-lt"/>
                <a:cs typeface="+mn-lt"/>
              </a:rPr>
              <a:t>135° Diagonal • Forest to Emerald Glow</a:t>
            </a:r>
          </a:p>
        </p:txBody>
      </p:sp>
      <p:sp>
        <p:nvSpPr>
          <p:cNvPr id="11" name="roundRect 10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0F172A"/>
          </a:solidFill>
          <a:ln w="13716">
            <a:solidFill>
              <a:srgbClr val="334155"/>
            </a:solidFill>
          </a:ln>
          <a:effectLst>
            <a:outerShdw blurRad="109728" dist="38100" dir="540000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Box 11"/>
          <p:cNvSpPr txBox="1"/>
          <p:nvPr/>
        </p:nvSpPr>
        <p:spPr>
          <a:xfrm>
            <a:off x="6400800" y="2011680"/>
            <a:ext cx="4846320" cy="32004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b="1" sz="1300">
                <a:solidFill>
                  <a:srgbClr val="FFFFFF"/>
                </a:solidFill>
                <a:latin typeface="+mn-lt"/>
                <a:cs typeface="+mn-lt"/>
              </a:rPr>
              <a:t>🔮 Radial Glow &amp; Alpha Opacity Transparency</a:t>
            </a:r>
          </a:p>
        </p:txBody>
      </p:sp>
      <p:sp>
        <p:nvSpPr>
          <p:cNvPr id="13" name="ellipse 12"/>
          <p:cNvSpPr/>
          <p:nvPr/>
        </p:nvSpPr>
        <p:spPr>
          <a:xfrm>
            <a:off x="6492240" y="2423160"/>
            <a:ext cx="1463040" cy="1463040"/>
          </a:xfrm>
          <a:prstGeom prst="ellipse">
            <a:avLst/>
          </a:prstGeom>
          <a:gradFill>
            <a:gsLst>
              <a:gs pos="0">
                <a:srgbClr val="38BDF8"/>
              </a:gs>
              <a:gs pos="50000">
                <a:srgbClr val="0284C7"/>
              </a:gs>
              <a:gs pos="100000">
                <a:srgbClr val="0F172A"/>
              </a:gs>
            </a:gsLst>
            <a:path path="circle">
              <a:fillToRect b="50000" l="50000" r="50000" t="50000"/>
            </a:path>
          </a:gradFill>
          <a:ln w="13716">
            <a:solidFill>
              <a:srgbClr val="38BDF8"/>
            </a:solidFill>
          </a:ln>
          <a:effectLst>
            <a:outerShdw blurRad="182880" dist="38100" dir="5400000">
              <a:srgbClr val="38BDF8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Box 13"/>
          <p:cNvSpPr txBox="1"/>
          <p:nvPr/>
        </p:nvSpPr>
        <p:spPr>
          <a:xfrm>
            <a:off x="8138160" y="2514600"/>
            <a:ext cx="3200400" cy="128016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sz="1000">
                <a:solidFill>
                  <a:srgbClr val="E2E8F0"/>
                </a:solidFill>
                <a:latin typeface="+mn-lt"/>
                <a:cs typeface="+mn-lt"/>
              </a:rPr>
              <a:t>Radial Orb Focus</a:t>
            </a:r>
          </a:p>
          <a:p>
            <a:pPr algn="l"/>
            <a:r>
              <a:rPr sz="1000">
                <a:solidFill>
                  <a:srgbClr val="E2E8F0"/>
                </a:solidFill>
                <a:latin typeface="+mn-lt"/>
                <a:cs typeface="+mn-lt"/>
              </a:rPr>
              <a:t>3-Stop Centered Radial Gradient (&lt;a:path path="circle"&gt;) with automatic edge falloff</a:t>
            </a:r>
          </a:p>
        </p:txBody>
      </p:sp>
      <p:sp>
        <p:nvSpPr>
          <p:cNvPr id="15" name="roundRect 14"/>
          <p:cNvSpPr/>
          <p:nvPr/>
        </p:nvSpPr>
        <p:spPr>
          <a:xfrm>
            <a:off x="6400800" y="4023360"/>
            <a:ext cx="4846320" cy="960120"/>
          </a:xfrm>
          <a:prstGeom prst="roundRect">
            <a:avLst/>
          </a:prstGeom>
          <a:gradFill>
            <a:gsLst>
              <a:gs pos="0">
                <a:srgbClr val="FFFFFF">
                  <a:alpha val="25000"/>
                </a:srgbClr>
              </a:gs>
              <a:gs pos="50000">
                <a:srgbClr val="6366F1">
                  <a:alpha val="15000"/>
                </a:srgbClr>
              </a:gs>
              <a:gs pos="100000">
                <a:srgbClr val="0F172A">
                  <a:alpha val="40000"/>
                </a:srgbClr>
              </a:gs>
            </a:gsLst>
            <a:lin ang="8100000" scaled="1"/>
          </a:gradFill>
          <a:ln w="13716">
            <a:solidFill>
              <a:srgbClr val="818CF8"/>
            </a:solidFill>
          </a:ln>
          <a:effectLst>
            <a:outerShdw blurRad="109728" dist="38100" dir="5400000">
              <a:srgbClr val="6366F1">
                <a:alpha val="25000"/>
              </a:srgbClr>
            </a:outerShdw>
          </a:effectLst>
        </p:spPr>
        <p:txBody>
          <a:bodyPr anchor="t"/>
          <a:lstStyle/>
          <a:p>
            <a:pPr algn="l"/>
            <a:r>
              <a:rPr b="1" sz="1100">
                <a:solidFill>
                  <a:srgbClr val="FFFFFF"/>
                </a:solidFill>
                <a:latin typeface="+mn-lt"/>
                <a:cs typeface="+mn-lt"/>
              </a:rPr>
              <a:t>🪟 Alpha Transparency &amp; Frosted Glass</a:t>
            </a:r>
          </a:p>
          <a:p>
            <a:pPr algn="l"/>
            <a:r>
              <a:rPr sz="950">
                <a:solidFill>
                  <a:srgbClr val="CBD5E1"/>
                </a:solidFill>
                <a:latin typeface="+mn-lt"/>
                <a:cs typeface="+mn-lt"/>
              </a:rPr>
              <a:t>Multi-stop alpha stops (10% to 80% opacity) for glassmorphic card overlays</a:t>
            </a:r>
          </a:p>
        </p:txBody>
      </p:sp>
      <p:sp>
        <p:nvSpPr>
          <p:cNvPr id="16" name="roundRect 15"/>
          <p:cNvSpPr/>
          <p:nvPr/>
        </p:nvSpPr>
        <p:spPr>
          <a:xfrm>
            <a:off x="6400800" y="5074920"/>
            <a:ext cx="4846320" cy="1051560"/>
          </a:xfrm>
          <a:prstGeom prst="roundRect">
            <a:avLst/>
          </a:prstGeom>
          <a:solidFill>
            <a:srgbClr val="020617"/>
          </a:solidFill>
          <a:ln w="13716">
            <a:solidFill>
              <a:srgbClr val="1E293B"/>
            </a:solidFill>
          </a:ln>
        </p:spPr>
        <p:txBody>
          <a:bodyPr anchor="t"/>
          <a:lstStyle/>
          <a:p>
            <a:pPr algn="l"/>
            <a:r>
              <a:rPr b="1" sz="900">
                <a:solidFill>
                  <a:srgbClr val="38BDF8"/>
                </a:solidFill>
                <a:latin typeface="+mn-lt"/>
                <a:cs typeface="+mn-lt"/>
              </a:rPr>
              <a:t>// 3-Line Fluent Gradient Fill</a:t>
            </a:r>
          </a:p>
          <a:p>
            <a:pPr algn="l"/>
            <a:r>
              <a:rPr sz="900">
                <a:solidFill>
                  <a:srgbClr val="E2E8F0"/>
                </a:solidFill>
                <a:latin typeface="+mn-lt"/>
                <a:cs typeface="+mn-lt"/>
              </a:rPr>
              <a:t>slide.addShape('roundRect', {</a:t>
            </a:r>
          </a:p>
          <a:p>
            <a:pPr algn="l"/>
            <a:r>
              <a:rPr sz="900">
                <a:solidFill>
                  <a:srgbClr val="E2E8F0"/>
                </a:solidFill>
                <a:latin typeface="+mn-lt"/>
                <a:cs typeface="+mn-lt"/>
              </a:rPr>
              <a:t>  fill: { type: 'linear', angle: degrees(135), stops: ['#0284C7', '#6366F1'] }</a:t>
            </a:r>
          </a:p>
          <a:p>
            <a:pPr algn="l"/>
            <a:r>
              <a:rPr sz="900">
                <a:solidFill>
                  <a:srgbClr val="E2E8F0"/>
                </a:solidFill>
                <a:latin typeface="+mn-lt"/>
                <a:cs typeface="+mn-lt"/>
              </a:rPr>
              <a:t>});</a:t>
            </a:r>
          </a:p>
        </p:txBody>
      </p:sp>
      <p:sp>
        <p:nvSpPr>
          <p:cNvPr id="17" name="Text Box 16"/>
          <p:cNvSpPr txBox="1"/>
          <p:nvPr/>
        </p:nvSpPr>
        <p:spPr>
          <a:xfrm>
            <a:off x="731520" y="6510528"/>
            <a:ext cx="10725912" cy="228600"/>
          </a:xfrm>
          <a:prstGeom prst="rect">
            <a:avLst/>
          </a:prstGeom>
        </p:spPr>
        <p:txBody>
          <a:bodyPr anchor="t"/>
          <a:lstStyle/>
          <a:p>
            <a:pPr algn="ctr"/>
            <a:r>
              <a:rPr i="1" sz="800">
                <a:solidFill>
                  <a:srgbClr val="64748B"/>
                </a:solidFill>
                <a:latin typeface="+mn-lt"/>
                <a:cs typeface="+mn-lt"/>
              </a:rPr>
              <a:t>* Disclaimer: All benchmark metrics, performance figures, and simulated architectures in this deck are synthetic demonstration values generated solely to showcase the authoring, formatting, and rendering capabilities of @hokkyss/pptx.</a:t>
            </a:r>
          </a:p>
        </p:txBody>
      </p:sp>
    </p:spTree>
  </p:cSld>
  <p:clrMapOvr>
    <a:masterClrMapping/>
  </p:clrMapOvr>
  <p:transition spd="fast">
    <p:wipe dir="r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731520" y="731520"/>
            <a:ext cx="10725912" cy="54864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b="1" sz="2400">
                <a:solidFill>
                  <a:srgbClr val="FFFFFF"/>
                </a:solidFill>
                <a:latin typeface="+mj-lt"/>
                <a:cs typeface="+mj-lt"/>
              </a:rPr>
              <a:t>Engine Performance &amp; Bundle Size Matrix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731520" y="1280160"/>
            <a:ext cx="10725912" cy="36576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sz="1400">
                <a:solidFill>
                  <a:srgbClr val="94A3B8"/>
                </a:solidFill>
                <a:latin typeface="+mn-lt"/>
                <a:cs typeface="+mn-lt"/>
              </a:rPr>
              <a:t>Empirical microsecond throughput benchmarks and ultra-lean tree-shakeable bundle budgets</a:t>
            </a:r>
          </a:p>
        </p:txBody>
      </p:sp>
      <p:sp>
        <p:nvSpPr>
          <p:cNvPr id="4" name="roundRect 3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3716">
            <a:solidFill>
              <a:srgbClr val="334155"/>
            </a:solidFill>
          </a:ln>
          <a:effectLst>
            <a:outerShdw blurRad="109728" dist="38100" dir="540000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Box 4"/>
          <p:cNvSpPr txBox="1"/>
          <p:nvPr/>
        </p:nvSpPr>
        <p:spPr>
          <a:xfrm>
            <a:off x="914400" y="2011680"/>
            <a:ext cx="4846320" cy="32004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b="1" sz="1300">
                <a:solidFill>
                  <a:srgbClr val="FFFFFF"/>
                </a:solidFill>
                <a:latin typeface="+mn-lt"/>
                <a:cs typeface="+mn-lt"/>
              </a:rPr>
              <a:t>⚡ Throughput &amp; Latency Benchmarks (Vitest)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423160"/>
          <a:ext cx="4754880" cy="2743200"/>
        </p:xfrm>
        <a:graphic>
          <a:graphicData uri="http://schemas.openxmlformats.org/drawingml/2006/table">
            <a:tbl>
              <a:tblPr/>
              <a:tblGrid>
                <a:gridCol w="1920240"/>
                <a:gridCol w="1005840"/>
                <a:gridCol w="914400"/>
                <a:gridCol w="914400"/>
              </a:tblGrid>
              <a:tr h="347472">
                <a:tc>
                  <a:txBody>
                    <a:bodyPr anchor="ctr"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+mn-lt"/>
                          <a:cs typeface="+mn-lt"/>
                        </a:rPr>
                        <a:t>Workload Scenario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b="1" sz="1000">
                          <a:solidFill>
                            <a:srgbClr val="FFFFFF"/>
                          </a:solidFill>
                          <a:latin typeface="+mn-lt"/>
                          <a:cs typeface="+mn-lt"/>
                        </a:rPr>
                        <a:t>Ops / Sec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b="1" sz="1000">
                          <a:solidFill>
                            <a:srgbClr val="FFFFFF"/>
                          </a:solidFill>
                          <a:latin typeface="+mn-lt"/>
                          <a:cs typeface="+mn-lt"/>
                        </a:rPr>
                        <a:t>Avg Latency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+mn-lt"/>
                          <a:cs typeface="+mn-lt"/>
                        </a:rPr>
                        <a:t>Category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</a:tr>
              <a:tr h="658368">
                <a:tc>
                  <a:txBody>
                    <a:bodyPr anchor="ctr"/>
                    <a:lstStyle/>
                    <a:p>
                      <a:pPr algn="l"/>
                      <a:r>
                        <a:rPr b="1" sz="950">
                          <a:solidFill>
                            <a:srgbClr val="FFFFFF"/>
                          </a:solidFill>
                          <a:latin typeface="+mn-lt"/>
                          <a:cs typeface="+mn-lt"/>
                        </a:rPr>
                        <a:t>Single Slide Emit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b="1" sz="950">
                          <a:solidFill>
                            <a:srgbClr val="38BDF8"/>
                          </a:solidFill>
                          <a:latin typeface="+mn-lt"/>
                          <a:cs typeface="+mn-lt"/>
                        </a:rPr>
                        <a:t>1,820 ops/s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b="1" sz="950">
                          <a:solidFill>
                            <a:srgbClr val="10B981"/>
                          </a:solidFill>
                          <a:latin typeface="+mn-lt"/>
                          <a:cs typeface="+mn-lt"/>
                        </a:rPr>
                        <a:t>0.55 ms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b="1" sz="900">
                          <a:solidFill>
                            <a:srgbClr val="94A3B8"/>
                          </a:solidFill>
                          <a:latin typeface="+mn-lt"/>
                          <a:cs typeface="+mn-lt"/>
                        </a:rPr>
                        <a:t>Sub-ms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29184">
                <a:tc>
                  <a:txBody>
                    <a:bodyPr anchor="ctr"/>
                    <a:lstStyle/>
                    <a:p>
                      <a:pPr algn="l"/>
                      <a:r>
                        <a:rPr b="1" sz="950">
                          <a:solidFill>
                            <a:srgbClr val="FFFFFF"/>
                          </a:solidFill>
                          <a:latin typeface="+mn-lt"/>
                          <a:cs typeface="+mn-lt"/>
                        </a:rPr>
                        <a:t>DrawingML Chart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b="1" sz="950">
                          <a:solidFill>
                            <a:srgbClr val="38BDF8"/>
                          </a:solidFill>
                          <a:latin typeface="+mn-lt"/>
                          <a:cs typeface="+mn-lt"/>
                        </a:rPr>
                        <a:t>1,243 ops/s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b="1" sz="950">
                          <a:solidFill>
                            <a:srgbClr val="10B981"/>
                          </a:solidFill>
                          <a:latin typeface="+mn-lt"/>
                          <a:cs typeface="+mn-lt"/>
                        </a:rPr>
                        <a:t>0.80 ms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b="1" sz="900">
                          <a:solidFill>
                            <a:srgbClr val="94A3B8"/>
                          </a:solidFill>
                          <a:latin typeface="+mn-lt"/>
                          <a:cs typeface="+mn-lt"/>
                        </a:rPr>
                        <a:t>Charts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658368">
                <a:tc>
                  <a:txBody>
                    <a:bodyPr anchor="ctr"/>
                    <a:lstStyle/>
                    <a:p>
                      <a:pPr algn="l"/>
                      <a:r>
                        <a:rPr b="1" sz="950">
                          <a:solidFill>
                            <a:srgbClr val="FFFFFF"/>
                          </a:solidFill>
                          <a:latin typeface="+mn-lt"/>
                          <a:cs typeface="+mn-lt"/>
                        </a:rPr>
                        <a:t>Data Table (5x10)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b="1" sz="950">
                          <a:solidFill>
                            <a:srgbClr val="38BDF8"/>
                          </a:solidFill>
                          <a:latin typeface="+mn-lt"/>
                          <a:cs typeface="+mn-lt"/>
                        </a:rPr>
                        <a:t>1,270 ops/s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b="1" sz="950">
                          <a:solidFill>
                            <a:srgbClr val="10B981"/>
                          </a:solidFill>
                          <a:latin typeface="+mn-lt"/>
                          <a:cs typeface="+mn-lt"/>
                        </a:rPr>
                        <a:t>0.79 ms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b="1" sz="900">
                          <a:solidFill>
                            <a:srgbClr val="94A3B8"/>
                          </a:solidFill>
                          <a:latin typeface="+mn-lt"/>
                          <a:cs typeface="+mn-lt"/>
                        </a:rPr>
                        <a:t>Tables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29184">
                <a:tc>
                  <a:txBody>
                    <a:bodyPr anchor="ctr"/>
                    <a:lstStyle/>
                    <a:p>
                      <a:pPr algn="l"/>
                      <a:r>
                        <a:rPr b="1" sz="950">
                          <a:solidFill>
                            <a:srgbClr val="FFFFFF"/>
                          </a:solidFill>
                          <a:latin typeface="+mn-lt"/>
                          <a:cs typeface="+mn-lt"/>
                        </a:rPr>
                        <a:t>10-Slide Full Deck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b="1" sz="950">
                          <a:solidFill>
                            <a:srgbClr val="38BDF8"/>
                          </a:solidFill>
                          <a:latin typeface="+mn-lt"/>
                          <a:cs typeface="+mn-lt"/>
                        </a:rPr>
                        <a:t>358 ops/s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b="1" sz="950">
                          <a:solidFill>
                            <a:srgbClr val="10B981"/>
                          </a:solidFill>
                          <a:latin typeface="+mn-lt"/>
                          <a:cs typeface="+mn-lt"/>
                        </a:rPr>
                        <a:t>2.80 ms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b="1" sz="900">
                          <a:solidFill>
                            <a:srgbClr val="94A3B8"/>
                          </a:solidFill>
                          <a:latin typeface="+mn-lt"/>
                          <a:cs typeface="+mn-lt"/>
                        </a:rPr>
                        <a:t>Decks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658368">
                <a:tc>
                  <a:txBody>
                    <a:bodyPr anchor="ctr"/>
                    <a:lstStyle/>
                    <a:p>
                      <a:pPr algn="l"/>
                      <a:r>
                        <a:rPr b="1" sz="950">
                          <a:solidFill>
                            <a:srgbClr val="FFFFFF"/>
                          </a:solidFill>
                          <a:latin typeface="+mn-lt"/>
                          <a:cs typeface="+mn-lt"/>
                        </a:rPr>
                        <a:t>50-Slide High Batch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b="1" sz="950">
                          <a:solidFill>
                            <a:srgbClr val="38BDF8"/>
                          </a:solidFill>
                          <a:latin typeface="+mn-lt"/>
                          <a:cs typeface="+mn-lt"/>
                        </a:rPr>
                        <a:t>165 ops/s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b="1" sz="950">
                          <a:solidFill>
                            <a:srgbClr val="10B981"/>
                          </a:solidFill>
                          <a:latin typeface="+mn-lt"/>
                          <a:cs typeface="+mn-lt"/>
                        </a:rPr>
                        <a:t>6.07 ms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b="1" sz="900">
                          <a:solidFill>
                            <a:srgbClr val="94A3B8"/>
                          </a:solidFill>
                          <a:latin typeface="+mn-lt"/>
                          <a:cs typeface="+mn-lt"/>
                        </a:rPr>
                        <a:t>Batch Scale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29184">
                <a:tc>
                  <a:txBody>
                    <a:bodyPr anchor="ctr"/>
                    <a:lstStyle/>
                    <a:p>
                      <a:pPr algn="l"/>
                      <a:r>
                        <a:rPr b="1" sz="950">
                          <a:solidFill>
                            <a:srgbClr val="FFFFFF"/>
                          </a:solidFill>
                          <a:latin typeface="+mn-lt"/>
                          <a:cs typeface="+mn-lt"/>
                        </a:rPr>
                        <a:t>Shape Serialization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b="1" sz="950">
                          <a:solidFill>
                            <a:srgbClr val="38BDF8"/>
                          </a:solidFill>
                          <a:latin typeface="+mn-lt"/>
                          <a:cs typeface="+mn-lt"/>
                        </a:rPr>
                        <a:t>5.07M ops/s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b="1" sz="950">
                          <a:solidFill>
                            <a:srgbClr val="10B981"/>
                          </a:solidFill>
                          <a:latin typeface="+mn-lt"/>
                          <a:cs typeface="+mn-lt"/>
                        </a:rPr>
                        <a:t>0.0002 ms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b="1" sz="900">
                          <a:solidFill>
                            <a:srgbClr val="94A3B8"/>
                          </a:solidFill>
                          <a:latin typeface="+mn-lt"/>
                          <a:cs typeface="+mn-lt"/>
                        </a:rPr>
                        <a:t>Microsecond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7" name="roundRect 6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3716">
            <a:solidFill>
              <a:srgbClr val="334155"/>
            </a:solidFill>
          </a:ln>
          <a:effectLst>
            <a:outerShdw blurRad="109728" dist="38100" dir="540000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Box 7"/>
          <p:cNvSpPr txBox="1"/>
          <p:nvPr/>
        </p:nvSpPr>
        <p:spPr>
          <a:xfrm>
            <a:off x="6400800" y="2011680"/>
            <a:ext cx="4846320" cy="32004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b="1" sz="1300">
                <a:solidFill>
                  <a:srgbClr val="FFFFFF"/>
                </a:solidFill>
                <a:latin typeface="+mn-lt"/>
                <a:cs typeface="+mn-lt"/>
              </a:rPr>
              <a:t>📦 Monorepo Gzip &amp; Brotli Footprint (Bundlephobia-Aligned)</a:t>
            </a:r>
          </a:p>
        </p:txBody>
      </p:sp>
      <p:graphicFrame>
        <p:nvGraphicFramePr>
          <p:cNvPr id="9" name="Chart 8"/>
          <p:cNvGraphicFramePr/>
          <p:nvPr/>
        </p:nvGraphicFramePr>
        <p:xfrm>
          <a:off x="6400800" y="2423160"/>
          <a:ext cx="48463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roundRect 9">
            <a:hlinkClick r:id="rId3" tooltip="Return to Hyperlinks Hub (Slide 14)" action="ppaction://hlinksldjump"/>
          </p:cNvPr>
          <p:cNvSpPr/>
          <p:nvPr/>
        </p:nvSpPr>
        <p:spPr>
          <a:xfrm>
            <a:off x="9144000" y="731520"/>
            <a:ext cx="2194560" cy="411480"/>
          </a:xfrm>
          <a:prstGeom prst="roundRect">
            <a:avLst/>
          </a:prstGeom>
          <a:solidFill>
            <a:srgbClr val="0284C7"/>
          </a:solidFill>
          <a:ln w="13716">
            <a:solidFill>
              <a:srgbClr val="38BDF8"/>
            </a:solidFill>
          </a:ln>
          <a:effectLst>
            <a:outerShdw blurRad="137160" dist="27432" dir="5400000">
              <a:srgbClr val="0284C7">
                <a:alpha val="30000"/>
              </a:srgbClr>
            </a:outerShdw>
          </a:effectLst>
        </p:spPr>
        <p:txBody>
          <a:bodyPr anchor="t"/>
          <a:lstStyle/>
          <a:p>
            <a:pPr algn="ctr"/>
            <a:r>
              <a:rPr b="1" sz="1000">
                <a:solidFill>
                  <a:srgbClr val="FFFFFF"/>
                </a:solidFill>
                <a:latin typeface="+mn-lt"/>
                <a:cs typeface="+mn-lt"/>
              </a:rPr>
              <a:t>⬅ Back to Nav Hub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731520" y="6510528"/>
            <a:ext cx="10725912" cy="228600"/>
          </a:xfrm>
          <a:prstGeom prst="rect">
            <a:avLst/>
          </a:prstGeom>
        </p:spPr>
        <p:txBody>
          <a:bodyPr anchor="t"/>
          <a:lstStyle/>
          <a:p>
            <a:pPr algn="ctr"/>
            <a:r>
              <a:rPr i="1" sz="800">
                <a:solidFill>
                  <a:srgbClr val="64748B"/>
                </a:solidFill>
                <a:latin typeface="+mn-lt"/>
                <a:cs typeface="+mn-lt"/>
              </a:rPr>
              <a:t>* Disclaimer: All benchmark metrics, performance figures, and simulated architectures in this deck are synthetic demonstration values generated solely to showcase the authoring, formatting, and rendering capabilities of @hokkyss/pptx.</a:t>
            </a:r>
          </a:p>
        </p:txBody>
      </p:sp>
    </p:spTree>
  </p:cSld>
  <p:clrMapOvr>
    <a:masterClrMapping/>
  </p:clrMapOvr>
  <p:transition spd="med">
    <p:zoom dir="in"/>
  </p:transition>
</p:sld>
</file>

<file path=ppt/theme/theme1.xml><?xml version="1.0" encoding="utf-8"?>
<a:theme xmlns:a="http://schemas.openxmlformats.org/drawingml/2006/main" name="Enterprise Cobalt Theme">
  <a:themeElements>
    <a:clrScheme name="Enterprise Cobalt Theme">
      <a:dk1>
        <a:srgbClr val="0F172A"/>
      </a:dk1>
      <a:lt1>
        <a:srgbClr val="FFFFFF"/>
      </a:lt1>
      <a:dk2>
        <a:srgbClr val="1E293B"/>
      </a:dk2>
      <a:lt2>
        <a:srgbClr val="F8FAFC"/>
      </a:lt2>
      <a:accent1>
        <a:srgbClr val="0284C7"/>
      </a:accent1>
      <a:accent2>
        <a:srgbClr val="6366F1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6D28D9"/>
      </a:folHlink>
    </a:clrScheme>
    <a:fontScheme name="Modern Clean Sans">
      <a:majorFont>
        <a:latin typeface="Inter"/>
        <a:ea typeface=""/>
        <a:cs typeface="Inter"/>
      </a:majorFont>
      <a:minorFont>
        <a:latin typeface="Roboto"/>
        <a:ea typeface=""/>
        <a:cs typeface="Robot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220000"/>
              </a:schemeClr>
            </a:gs>
            <a:gs pos="100000">
              <a:schemeClr val="phClr">
                <a:tint val="15000"/>
                <a:satMod val="13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</a:schemeClr>
            </a:gs>
            <a:gs pos="100000">
              <a:schemeClr val="phClr">
                <a:shade val="98000"/>
                <a:satMod val="130000"/>
              </a:schemeClr>
            </a:gs>
          </a:gsLst>
          <a:lin ang="16200000" scaled="0"/>
        </a:gradFill>
      </a:bgFillStyleLst>
    </a:fmtScheme>
  </a:themeElements>
  <a:objectDefaults/>
  <a:extraClrSchemeLst>
    <a:extraClrScheme>
      <a:clrScheme name="Enterprise Cobalt Theme">
        <a:dk1>
          <a:srgbClr val="0F172A"/>
        </a:dk1>
        <a:lt1>
          <a:srgbClr val="FFFFFF"/>
        </a:lt1>
        <a:dk2>
          <a:srgbClr val="1E293B"/>
        </a:dk2>
        <a:lt2>
          <a:srgbClr val="F8FAFC"/>
        </a:lt2>
        <a:accent1>
          <a:srgbClr val="0284C7"/>
        </a:accent1>
        <a:accent2>
          <a:srgbClr val="6366F1"/>
        </a:accent2>
        <a:accent3>
          <a:srgbClr val="10B981"/>
        </a:accent3>
        <a:accent4>
          <a:srgbClr val="F59E0B"/>
        </a:accent4>
        <a:accent5>
          <a:srgbClr val="EF4444"/>
        </a:accent5>
        <a:accent6>
          <a:srgbClr val="8B5CF6"/>
        </a:accent6>
        <a:hlink>
          <a:srgbClr val="2563EB"/>
        </a:hlink>
        <a:folHlink>
          <a:srgbClr val="6D28D9"/>
        </a:folHlink>
      </a:clrScheme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220000"/>
              </a:schemeClr>
            </a:gs>
            <a:gs pos="100000">
              <a:schemeClr val="phClr">
                <a:tint val="15000"/>
                <a:satMod val="13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</a:schemeClr>
            </a:gs>
            <a:gs pos="100000">
              <a:schemeClr val="phClr">
                <a:shade val="98000"/>
                <a:satMod val="130000"/>
              </a:schemeClr>
            </a:gs>
          </a:gsLst>
          <a:lin ang="162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AppVersion>16.0000</AppVersion>
  <Company/>
  <HeadingPairs>
    <vt:vector baseType="variant" size="2">
      <vt:variant>
        <vt:lpstr>Theme</vt:lpstr>
      </vt:variant>
      <vt:variant>
        <vt:i4>1</vt:i4>
      </vt:variant>
    </vt:vector>
  </HeadingPairs>
  <HiddenSlides>0</HiddenSlides>
  <HyperlinksChanged>false</HyperlinksChanged>
  <LinksUpToDate>false</LinksUpToDate>
  <MMClips>0</MMClips>
  <Notes>0</Notes>
  <Paragraphs>0</Paragraphs>
  <PresentationFormat>Widescreen</PresentationFormat>
  <ScaleCrop>false</ScaleCrop>
  <SharedDoc>false</SharedDoc>
  <Slides>16</Slides>
  <TitlesOfParts>
    <vt:vector baseType="lpstr" size="1">
      <vt:lpstr>Office Theme</vt:lpstr>
    </vt:vector>
  </TitlesOfParts>
  <TotalTime>0</TotalTime>
  <Words>0</Words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cp:lastModifiedBy>Hokkyss Core Team</cp:lastModifiedBy>
  <cp:revision>1</cp:revision>
  <dc:creator>Hokkyss Core Team</dc:creator>
  <dc:title>Hokkyss PPTX — The Modern Presentation Engine</dc:title>
  <dcterms:created xsi:type="dcterms:W3CDTF">2026-09-12T10:50:33.041Z</dcterms:created>
  <dcterms:modified xsi:type="dcterms:W3CDTF">2026-09-12T10:50:33.041Z</dcterms:modified>
</cp:coreProperties>
</file>