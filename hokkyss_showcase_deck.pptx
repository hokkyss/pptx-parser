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drawingml.chart+xml" PartName="/ppt/charts/chart8.xml"/>
  <Override ContentType="application/vnd.openxmlformats-officedocument.presentationml.notesSlide+xml" PartName="/ppt/notesSlides/notesSlide10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notesMasters/notesMaster1.xml" Type="http://schemas.openxmlformats.org/officeDocument/2006/relationships/notesMaster"/><Relationship Id="rId17" Target="presProps.xml" Type="http://schemas.openxmlformats.org/officeDocument/2006/relationships/presProps"/><Relationship Id="rId18" Target="viewProps.xml" Type="http://schemas.openxmlformats.org/officeDocument/2006/relationships/viewProps"/><Relationship Id="rId19" Target="theme/theme1.xml" Type="http://schemas.openxmlformats.org/officeDocument/2006/relationships/theme"/><Relationship Id="rId20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9.xml" Type="http://schemas.openxmlformats.org/officeDocument/2006/relationships/slide"/><Relationship Id="rId4" Target="slide13.xml" Type="http://schemas.openxmlformats.org/officeDocument/2006/relationships/slide"/><Relationship Id="rId5" Target="slide14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2.xml" Type="http://schemas.openxmlformats.org/officeDocument/2006/relationships/slide"/><Relationship Id="rId3" Target="slide14.xml" Type="http://schemas.openxmlformats.org/officeDocument/2006/relationships/slide"/><Relationship Id="rId4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2.xml" Type="http://schemas.openxmlformats.org/officeDocument/2006/relationships/slide"/><Relationship Id="rId4" Target="../notesSlides/notesSlide10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4" name="Stage 1 Card"/>
          <p:cNvSpPr/>
          <p:nvPr/>
        </p:nvSpPr>
        <p:spPr>
          <a:xfrm>
            <a:off x="914400" y="2011680"/>
            <a:ext cx="2926080" cy="32004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0284C7"/>
            </a:solidFill>
          </a:ln>
          <a:effectLst>
            <a:outerShdw blurRad="109728" dist="3810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286000"/>
            <a:ext cx="2377440" cy="365760"/>
          </a:xfrm>
          <a:prstGeom prst="roundRect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STEP 1: INGESTION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926080"/>
            <a:ext cx="2377440" cy="182880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ZIP decompression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XML DOM part resolution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Extract relationships map</a:t>
            </a:r>
          </a:p>
        </p:txBody>
      </p:sp>
      <p:sp>
        <p:nvSpPr>
          <p:cNvPr id="7" name="Stage 2 Card"/>
          <p:cNvSpPr/>
          <p:nvPr/>
        </p:nvSpPr>
        <p:spPr>
          <a:xfrm>
            <a:off x="4572000" y="2011680"/>
            <a:ext cx="2926080" cy="32004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6366F1"/>
            </a:solidFill>
          </a:ln>
          <a:effectLst>
            <a:outerShdw blurRad="109728" dist="3810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roundRect 7"/>
          <p:cNvSpPr/>
          <p:nvPr/>
        </p:nvSpPr>
        <p:spPr>
          <a:xfrm>
            <a:off x="4846320" y="2286000"/>
            <a:ext cx="2377440" cy="365760"/>
          </a:xfrm>
          <a:prstGeom prst="roundRect">
            <a:avLst/>
          </a:prstGeom>
          <a:solidFill>
            <a:srgbClr val="6366F1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STEP 2: MODELING</a:t>
            </a:r>
          </a:p>
        </p:txBody>
      </p:sp>
      <p:sp>
        <p:nvSpPr>
          <p:cNvPr id="9" name="Text Box 8"/>
          <p:cNvSpPr/>
          <p:nvPr/>
        </p:nvSpPr>
        <p:spPr>
          <a:xfrm>
            <a:off x="4846320" y="2926080"/>
            <a:ext cx="2377440" cy="182880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Type-safe AST generation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Layer &amp; placeholder cascade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Fluent mutations &amp; styling</a:t>
            </a:r>
          </a:p>
        </p:txBody>
      </p:sp>
      <p:sp>
        <p:nvSpPr>
          <p:cNvPr id="10" name="Stage 3 Card"/>
          <p:cNvSpPr/>
          <p:nvPr/>
        </p:nvSpPr>
        <p:spPr>
          <a:xfrm>
            <a:off x="8229600" y="2011680"/>
            <a:ext cx="2926080" cy="32004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10B981"/>
            </a:solidFill>
          </a:ln>
          <a:effectLst>
            <a:outerShdw blurRad="109728" dist="3810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roundRect 10"/>
          <p:cNvSpPr/>
          <p:nvPr/>
        </p:nvSpPr>
        <p:spPr>
          <a:xfrm>
            <a:off x="8503920" y="2286000"/>
            <a:ext cx="2377440" cy="365760"/>
          </a:xfrm>
          <a:prstGeom prst="roundRect">
            <a:avLst/>
          </a:prstGeom>
          <a:solidFill>
            <a:srgbClr val="10B981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STEP 3: COMPILATION</a:t>
            </a:r>
          </a:p>
        </p:txBody>
      </p:sp>
      <p:sp>
        <p:nvSpPr>
          <p:cNvPr id="12" name="Text Box 11"/>
          <p:cNvSpPr/>
          <p:nvPr/>
        </p:nvSpPr>
        <p:spPr>
          <a:xfrm>
            <a:off x="8503920" y="2926080"/>
            <a:ext cx="2377440" cy="182880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Deterministic XML emission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fflate compression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ECMA-376 compliant PPTX</a:t>
            </a:r>
          </a:p>
        </p:txBody>
      </p:sp>
      <p:sp>
        <p:nvSpPr>
          <p:cNvPr id="16" name="Text Box 15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17" name="Text Box 16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cxnSp>
        <p:nvCxnSpPr>
          <p:cNvPr id="13" name="Connector 12"/>
          <p:cNvCxnSpPr>
            <a:cxnSpLocks/>
            <a:stCxn id="4" idx="3"/>
            <a:endCxn id="7" idx="1"/>
          </p:cNvCxnSpPr>
          <p:nvPr/>
        </p:nvCxnSpPr>
        <p:spPr>
          <a:xfrm>
            <a:off x="3840480" y="3611880"/>
            <a:ext cx="731520" cy="0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4" name="Connector 13"/>
          <p:cNvCxnSpPr>
            <a:cxnSpLocks/>
            <a:stCxn id="7" idx="3"/>
            <a:endCxn id="10" idx="1"/>
          </p:cNvCxnSpPr>
          <p:nvPr/>
        </p:nvCxnSpPr>
        <p:spPr>
          <a:xfrm>
            <a:off x="7498080" y="3611880"/>
            <a:ext cx="731520" cy="0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5" name="Connector 14"/>
          <p:cNvCxnSpPr>
            <a:cxnSpLocks/>
          </p:cNvCxnSpPr>
          <p:nvPr/>
        </p:nvCxnSpPr>
        <p:spPr>
          <a:xfrm>
            <a:off x="914400" y="5669280"/>
            <a:ext cx="10241280" cy="0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</p:spTree>
  </p:cSld>
  <p:clrMapOvr>
    <a:masterClrMapping/>
  </p:clrMapOvr>
  <p:transition spd="fast">
    <p:pull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9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9: OpenXML Charts &amp; Graphs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9" name="roundRect 8">
            <a:hlinkClick r:id="rId4" tooltip="Jump directly to Slide 13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F5F3FF"/>
          </a:solidFill>
          <a:ln w="13716">
            <a:solidFill>
              <a:srgbClr val="8B5C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6D28D9"/>
                </a:solidFill>
                <a:latin typeface="+mn-lt"/>
                <a:cs typeface="+mn-lt"/>
              </a:rPr>
              <a:t>🎨 Slide 13: DrawingML Gradient Engine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Linear, radial, alpha &amp; multi-stop mesh cards</a:t>
            </a:r>
          </a:p>
        </p:txBody>
      </p:sp>
      <p:sp>
        <p:nvSpPr>
          <p:cNvPr id="10" name="roundRect 9">
            <a:hlinkClick r:id="rId5" tooltip="Jump directly to Slide 14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14: Engine Benchmark Matrix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1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3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2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4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pPr algn="l"/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r:id="rId3" tooltip="Return to Hyperlinks Hub (Slide 12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14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2026-08-18T13:53:25.330Z</dcterms:created>
  <dcterms:modified xsi:type="dcterms:W3CDTF">2026-08-18T13:53:25.330Z</dcterms:modified>
</cp:coreProperties>
</file>