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drawingml.chart+xml" PartName="/ppt/charts/chart1.xml"/>
  <Override ContentType="application/vnd.openxmlformats-officedocument.presentationml.notesSlide+xml" PartName="/ppt/notesSlides/notesSlide5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6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7.xml"/>
  <Override ContentType="application/vnd.openxmlformats-officedocument.drawingml.chart+xml" PartName="/ppt/charts/chart8.xml"/>
  <Override ContentType="application/vnd.openxmlformats-officedocument.presentationml.notesSlide+xml" PartName="/ppt/notesSlides/notesSlide8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notesMasters/notesMaster1.xml" Type="http://schemas.openxmlformats.org/officeDocument/2006/relationships/notesMaster"/><Relationship Id="rId15" Target="presProps.xml" Type="http://schemas.openxmlformats.org/officeDocument/2006/relationships/presProps"/><Relationship Id="rId16" Target="viewProps.xml" Type="http://schemas.openxmlformats.org/officeDocument/2006/relationships/viewProps"/><Relationship Id="rId17" Target="theme/theme1.xml" Type="http://schemas.openxmlformats.org/officeDocument/2006/relationships/theme"/><Relationship Id="rId18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0284C7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334155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334155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pPr algn="l" lvl="0"/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 algn="l" lvl="0" marL="152400" indent="-152400"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 algn="l" lvl="0" marL="203200" indent="-203200"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 u="sng">
                <a:latin typeface="+mn-lt"/>
                <a:cs typeface="+mn-lt"/>
              </a:rPr>
              <a:t>Presenter Notes — Multi-Level Hierarchy Details: 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Explain how levels 0 through 3 compute distinct left margins and hanging indents.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0: 0.166" bullet gap, 0" margin</a:t>
            </a:r>
          </a:p>
          <a:p>
            <a:pPr algn="l" lvl="1" marL="381000" indent="-152400">
              <a:buChar char="•"/>
            </a:pPr>
            <a:r>
              <a:rPr>
                <a:latin typeface="+mn-lt"/>
                <a:cs typeface="+mn-lt"/>
              </a:rPr>
              <a:t>Level 1: 0.166" bullet gap, 0.25" margin</a:t>
            </a:r>
          </a:p>
          <a:p>
            <a:pPr algn="l" lvl="2" marL="609600" indent="-152400">
              <a:buChar char="•"/>
            </a:pPr>
            <a:r>
              <a:rPr>
                <a:latin typeface="+mn-lt"/>
                <a:cs typeface="+mn-lt"/>
              </a:rPr>
              <a:t>Level 2: 0.166" bullet gap, 0.50" margin</a:t>
            </a:r>
          </a:p>
          <a:p>
            <a:pPr algn="l" lvl="3" marL="838200" indent="-152400">
              <a:buChar char="•"/>
            </a:pPr>
            <a:r>
              <a:rPr>
                <a:latin typeface="+mn-lt"/>
                <a:cs typeface="+mn-lt"/>
              </a:rPr>
              <a:t>Level 3: 0.166" bullet gap, 0.75" margin</a:t>
            </a:r>
          </a:p>
          <a:p>
            <a:pPr algn="l" lvl="0" marL="203200" indent="-203200">
              <a:buAutoNum type="arabicPeriod"/>
            </a:pPr>
            <a:r>
              <a:rPr>
                <a:latin typeface="+mn-lt"/>
                <a:cs typeface="+mn-lt"/>
              </a:rPr>
              <a:t>Emphasize that number lists automatically use 0.222" clearance for digits.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anchor="t"/>
          <a:lstStyle/>
          <a:p>
            <a:pPr algn="l" lvl="0"/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 algn="l" lvl="0" marL="152400" indent="-152400"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fontAlgn="ctr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algn="l" defTabSz="914400" rtl="0" eaLnBrk="1" fontAlgn="ctr" latinLnBrk="0" hangingPunct="1">
        <a:spcBef>
          <a:spcPts val="20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sz="1800">
          <a:solidFill>
            <a:schemeClr val="tx1"/>
          </a:solidFill>
          <a:latin typeface="+mn-lt"/>
          <a:ea typeface="+mn-ea"/>
          <a:cs typeface="+mn-cs"/>
        </a:defRPr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../notesSlides/notesSlide8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 anchor="t"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b="1" sz="4400">
                <a:solidFill>
                  <a:srgbClr val="FFFFFF"/>
                </a:solidFill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 </a:t>
            </a:r>
          </a:p>
          <a:p>
            <a:pPr algn="l" lvl="0"/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 </a:t>
            </a:r>
          </a:p>
          <a:p>
            <a:pPr algn="l" lvl="0"/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/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 </a:t>
            </a:r>
          </a:p>
          <a:p>
            <a:pPr algn="l" lvl="0"/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/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 </a:t>
            </a:r>
          </a:p>
          <a:p>
            <a:pPr algn="l" lvl="0"/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/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 anchor="t"/>
          <a:lstStyle/>
          <a:p>
            <a:pPr algn="l" lvl="0"/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 </a:t>
            </a:r>
          </a:p>
          <a:p>
            <a:pPr algn="l" lvl="0"/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 anchor="t"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 anchor="t"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pPr algn="l"/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 algn="l" lvl="0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algn="l" lvl="1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algn="l" lvl="2"/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 anchor="t"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 anchor="t"/>
          <a:lstStyle/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pPr algn="l" lvl="0"/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 algn="l" lvl="0" marL="152400" indent="-152400"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Hierarchy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Demonstrating 4 levels of hierarchical indentation, mixed bullet glyphs, auto-numbering, and paragraph spacing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System Topology Outlining</a:t>
            </a:r>
          </a:p>
        </p:txBody>
      </p:sp>
      <p:sp>
        <p:nvSpPr>
          <p:cNvPr id="6" name="Text Box 5"/>
          <p:cNvSpPr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1524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TLS 1.3 Handshake Termination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Zero-RTT session resumption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DDoS mitigation heuristic filters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Geo-Distributed Compute Mesh</a:t>
            </a:r>
          </a:p>
          <a:p>
            <a:pPr algn="l" lvl="3" marL="8382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Sub-millisecond V8 isolate provisioning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D1 Relational Database SQLite Replicas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KV Cache (Read-heavy eventual consistency)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Pipeline Lifecycle</a:t>
            </a:r>
          </a:p>
        </p:txBody>
      </p:sp>
      <p:sp>
        <p:nvSpPr>
          <p:cNvPr id="9" name="Text Box 8"/>
          <p:cNvSpPr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 anchor="t"/>
          <a:lstStyle/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Decompress OpenXML container with fflate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Stream XML parts directly to DOM parser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Extract theme, slideMaster, and slideLayouts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Apply shape geometries, tables, and drop shadows</a:t>
            </a:r>
          </a:p>
          <a:p>
            <a:pPr algn="l" lvl="2" marL="6096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Calculate type-safe EMU, points, and inches</a:t>
            </a:r>
          </a:p>
          <a:p>
            <a:pPr algn="l" lvl="0" marL="203200" indent="-203200">
              <a:buAutoNum type="arabicPeriod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Emit deterministic XML parts and relationship files</a:t>
            </a:r>
          </a:p>
          <a:p>
            <a:pPr algn="l" lvl="1" marL="381000" indent="-152400">
              <a:buChar char="•"/>
            </a:pPr>
            <a:r>
              <a:rPr sz="1100">
                <a:solidFill>
                  <a:srgbClr val="CBD5E1"/>
                </a:solidFill>
                <a:latin typeface="+mn-lt"/>
                <a:cs typeface="+mn-lt"/>
              </a:rPr>
              <a:t>Generate zero-copy ArrayBuffer presentation binary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9"/>
          <p:cNvSpPr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0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roundRect 1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2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3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9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10" name="roundRect 1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roundRect 2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2" name="Text Box 3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4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5" name="roundRect 1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roundRect 2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 anchor="t"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7" name="Text Box 3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 anchor="t"/>
            <a:lstStyle/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 algn="l" lvl="0" marL="152400" indent="-152400"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8" name="Connector 4"/>
          <p:cNvCxnSpPr/>
          <p:nvPr/>
        </p:nvCxnSpPr>
        <p:spPr>
          <a:xfrm>
            <a:off x="3840480" y="3611880"/>
            <a:ext cx="731520" cy="1"/>
          </a:xfrm>
          <a:prstGeom prst="line">
            <a:avLst/>
          </a:prstGeom>
          <a:ln w="27432">
            <a:solidFill>
              <a:srgbClr val="0284C7"/>
            </a:solidFill>
            <a:prstDash val="solid"/>
          </a:ln>
        </p:spPr>
      </p:cxnSp>
      <p:cxnSp>
        <p:nvCxnSpPr>
          <p:cNvPr id="13" name="Connector 6"/>
          <p:cNvCxnSpPr/>
          <p:nvPr/>
        </p:nvCxnSpPr>
        <p:spPr>
          <a:xfrm>
            <a:off x="7498080" y="3611880"/>
            <a:ext cx="731520" cy="1"/>
          </a:xfrm>
          <a:prstGeom prst="line">
            <a:avLst/>
          </a:prstGeom>
          <a:ln w="27432">
            <a:solidFill>
              <a:srgbClr val="6366F1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914400" y="5669280"/>
            <a:ext cx="10241280" cy="1"/>
          </a:xfrm>
          <a:prstGeom prst="line">
            <a:avLst/>
          </a:prstGeom>
          <a:ln w="13716">
            <a:solidFill>
              <a:srgbClr val="94A3B8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 anchor="t"/>
          <a:lstStyle/>
          <a:p>
            <a:pPr algn="l"/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 anchor="t"/>
          <a:lstStyle/>
          <a:p>
            <a:pPr algn="l"/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Text Box 9"/>
          <p:cNvSpPr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 anchor="t"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pPr algn="l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pPr algn="l"/>
                      <a:r>
                        <a:rPr b="1" sz="950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64748B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12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2026-08-16T06:15:23.335Z</dcterms:created>
  <dcterms:modified xsi:type="dcterms:W3CDTF">2026-08-16T06:15:23.335Z</dcterms:modified>
</cp:coreProperties>
</file>