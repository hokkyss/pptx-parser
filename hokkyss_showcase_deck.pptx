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drawingml.chart+xml" PartName="/ppt/charts/chart1.xml"/>
  <Override ContentType="application/vnd.openxmlformats-officedocument.presentationml.notesSlide+xml" PartName="/ppt/notesSlides/notesSlide7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8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drawingml.chart+xml" PartName="/ppt/charts/chart8.xml"/>
  <Override ContentType="application/vnd.openxmlformats-officedocument.presentationml.notesSlide+xml" PartName="/ppt/notesSlides/notesSlide12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cs typeface="+mn-cs"/>
        <a:ea typeface="+mn-ea"/>
        <a:latin typeface="+mn-lt"/>
        <a:solidFill>
          <a:schemeClr val="tx1"/>
        </a:solidFill>
      </a:defRPr>
    </a:lvl1pPr>
    <a:lvl2pPr algn="l" defTabSz="914400" eaLnBrk="1" hangingPunct="1" latinLnBrk="0" marL="457200" rtl="0">
      <a:defRPr kern="1200" sz="1800">
        <a:cs typeface="+mn-cs"/>
        <a:ea typeface="+mn-ea"/>
        <a:latin typeface="+mn-lt"/>
        <a:solidFill>
          <a:schemeClr val="tx1"/>
        </a:solidFill>
      </a:defRPr>
    </a:lvl2pPr>
    <a:lvl3pPr algn="l" defTabSz="914400" eaLnBrk="1" hangingPunct="1" latinLnBrk="0" marL="914400" rtl="0">
      <a:defRPr kern="1200" sz="1800">
        <a:cs typeface="+mn-cs"/>
        <a:ea typeface="+mn-ea"/>
        <a:latin typeface="+mn-lt"/>
        <a:solidFill>
          <a:schemeClr val="tx1"/>
        </a:solidFill>
      </a:defRPr>
    </a:lvl3pPr>
    <a:lvl4pPr algn="l" defTabSz="914400" eaLnBrk="1" hangingPunct="1" latinLnBrk="0" marL="1371600" rtl="0">
      <a:defRPr kern="1200" sz="1800">
        <a:cs typeface="+mn-cs"/>
        <a:ea typeface="+mn-ea"/>
        <a:latin typeface="+mn-lt"/>
        <a:solidFill>
          <a:schemeClr val="tx1"/>
        </a:solidFill>
      </a:defRPr>
    </a:lvl4pPr>
    <a:lvl5pPr algn="l" defTabSz="914400" eaLnBrk="1" hangingPunct="1" latinLnBrk="0" marL="1828800" rtl="0">
      <a:defRPr kern="1200" sz="1800">
        <a:cs typeface="+mn-cs"/>
        <a:ea typeface="+mn-ea"/>
        <a:latin typeface="+mn-lt"/>
        <a:solidFill>
          <a:schemeClr val="tx1"/>
        </a:solidFill>
      </a:defRPr>
    </a:lvl5pPr>
    <a:lvl6pPr algn="l" defTabSz="914400" eaLnBrk="1" hangingPunct="1" latinLnBrk="0" marL="2286000" rtl="0">
      <a:defRPr kern="1200" sz="1800">
        <a:cs typeface="+mn-cs"/>
        <a:ea typeface="+mn-ea"/>
        <a:latin typeface="+mn-lt"/>
        <a:solidFill>
          <a:schemeClr val="tx1"/>
        </a:solidFill>
      </a:defRPr>
    </a:lvl6pPr>
    <a:lvl7pPr algn="l" defTabSz="914400" eaLnBrk="1" hangingPunct="1" latinLnBrk="0" marL="2743200" rtl="0">
      <a:defRPr kern="1200" sz="1800">
        <a:cs typeface="+mn-cs"/>
        <a:ea typeface="+mn-ea"/>
        <a:latin typeface="+mn-lt"/>
        <a:solidFill>
          <a:schemeClr val="tx1"/>
        </a:solidFill>
      </a:defRPr>
    </a:lvl7pPr>
    <a:lvl8pPr algn="l" defTabSz="914400" eaLnBrk="1" hangingPunct="1" latinLnBrk="0" marL="3200400" rtl="0">
      <a:defRPr kern="1200" sz="1800">
        <a:cs typeface="+mn-cs"/>
        <a:ea typeface="+mn-ea"/>
        <a:latin typeface="+mn-lt"/>
        <a:solidFill>
          <a:schemeClr val="tx1"/>
        </a:solidFill>
      </a:defRPr>
    </a:lvl8pPr>
    <a:lvl9pPr algn="l" defTabSz="914400" eaLnBrk="1" hangingPunct="1" latinLnBrk="0" marL="3657600" rtl="0">
      <a:defRPr kern="1200" sz="1800">
        <a:cs typeface="+mn-cs"/>
        <a:ea typeface="+mn-ea"/>
        <a:latin typeface="+mn-lt"/>
        <a:solidFill>
          <a:schemeClr val="tx1"/>
        </a:solidFill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slides/slide13.xml" Type="http://schemas.openxmlformats.org/officeDocument/2006/relationships/slide"/><Relationship Id="rId15" Target="slides/slide14.xml" Type="http://schemas.openxmlformats.org/officeDocument/2006/relationships/slide"/><Relationship Id="rId16" Target="slides/slide15.xml" Type="http://schemas.openxmlformats.org/officeDocument/2006/relationships/slide"/><Relationship Id="rId17" Target="slides/slide16.xml" Type="http://schemas.openxmlformats.org/officeDocument/2006/relationships/slide"/><Relationship Id="rId18" Target="notesMasters/notesMaster1.xml" Type="http://schemas.openxmlformats.org/officeDocument/2006/relationships/notesMaster"/><Relationship Id="rId19" Target="presProps.xml" Type="http://schemas.openxmlformats.org/officeDocument/2006/relationships/presProps"/><Relationship Id="rId20" Target="viewProps.xml" Type="http://schemas.openxmlformats.org/officeDocument/2006/relationships/viewProps"/><Relationship Id="rId21" Target="theme/theme1.xml" Type="http://schemas.openxmlformats.org/officeDocument/2006/relationships/theme"/><Relationship Id="rId22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CBD5E1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6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>
              <a:buFont typeface="Arial" panose="020B0604020202020204" pitchFamily="34" charset="0"/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u="sng">
                <a:latin typeface="+mn-lt"/>
                <a:cs typeface="+mn-lt"/>
              </a:rPr>
              <a:t>Presenter Notes — Multi-Level Hierarchy &amp; PowerPoint Parity: 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Shift+Enter behavior: serialized as &lt;a:br&gt; within same &lt;a:p&gt;, preserving bullet alignment on multi-line text.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Tab / Shift+Tab levels (0-3): hierarchical indentation matching PowerPoint desktop behavior.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Level 0: root indent (0" margin)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Level 1: 0.25" margin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Level 2: 0.50" margin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Level 3: 0.75" margin</a:t>
            </a:r>
          </a:p>
          <a:p>
            <a:pPr>
              <a:buAutoNum type="arabicPeriod"/>
            </a:pPr>
            <a:r>
              <a:rPr>
                <a:latin typeface="+mn-lt"/>
                <a:cs typeface="+mn-lt"/>
              </a:rPr>
              <a:t>Clean slide master inheritance: when bullet is not overridden, marL/indent are not auto-injected, allowing theme inheritance.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u="sng">
                <a:latin typeface="+mn-lt"/>
                <a:cs typeface="+mn-lt"/>
              </a:rPr>
              <a:t>Presenter Notes — Native Content Placeholder: 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This element is serialized as &lt;p:nvPr&gt;&lt;p:ph idx="1"/&gt;&lt;/p:nvPr&gt; — a real PowerPoint Content Placeholder.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Unlike a normal shape or floating textbox, PowerPoint desktop recognizes this as the primary content box.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Shift+Enter breaks (&lt;a:br&gt;) allow multiple sentences per bullet point with perfect visual alignment.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Levels 0 through 3 cleanly follow Master &lt;p:bodyStyle&gt; formatting.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u="sng">
                <a:latin typeface="+mn-lt"/>
                <a:cs typeface="+mn-lt"/>
              </a:rPr>
              <a:t>Presenter Notes — Non-Bulleted Hierarchical Indentation: 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Demonstrates { level: N, bullet: false } which emits &lt;a:buNone/&gt; with &lt;a:pPr lvl="N"&gt;.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Enables block quotes, explanatory notes, and code blocks that indent hierarchically under bullets without rendering a dot.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Tab and Shift+Tab continue to promote and demote indentation depth seamlessly.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Hyperlinks &amp; Slide Navigation Keynote: </a:t>
            </a:r>
            <a:r>
              <a:rPr u="sng">
                <a:latin typeface="+mn-lt"/>
                <a:cs typeface="+mn-lt"/>
              </a:rPr>
              <a:t>Interactive OpenXML Actions &amp; Relationships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Full support for external web links, custom URLs, and hover tooltips.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Internal slide jumping using strongly typed slideIndex referencing.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Built-in slide show control actions: firstSlide, lastSlide, nextSlide, previousSlide, endShow.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DrawingML Gradient Engine Keynote: </a:t>
            </a:r>
            <a:r>
              <a:rPr u="sng">
                <a:latin typeface="+mn-lt"/>
                <a:cs typeface="+mn-lt"/>
              </a:rPr>
              <a:t>Full Vector Fidelity &amp; Transparency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Native &lt;a:gradFill&gt; support with linear, radial, and path gradients.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Full alpha transparency channel support across all color stops.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Seamless integration with shapes, cards, outlines, and slide backgrounds.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" Type="http://schemas.openxmlformats.org/officeDocument/2006/relationships/hyperlink" TargetMode="External"/><Relationship Id="rId3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/tree/main/packages/pptx-core" Type="http://schemas.openxmlformats.org/officeDocument/2006/relationships/hyperlink" TargetMode="External"/><Relationship Id="rId3" Target="https://github.com/hokkyss/pptx-parser/tree/main/packages/pptx-reader" Type="http://schemas.openxmlformats.org/officeDocument/2006/relationships/hyperlink" TargetMode="External"/><Relationship Id="rId4" Target="https://github.com/hokkyss/pptx-parser/tree/main/packages/pptx-writer" Type="http://schemas.openxmlformats.org/officeDocument/2006/relationships/hyperlink" TargetMode="External"/><Relationship Id="rId5" Target="https://github.com/hokkyss/pptx-parser/tree/main/packages/pptx" Type="http://schemas.openxmlformats.org/officeDocument/2006/relationships/hyperlink" TargetMode="External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8.xml" Type="http://schemas.openxmlformats.org/officeDocument/2006/relationships/notesSlide"/></Relationships>
</file>

<file path=ppt/slides/_rels/slide1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9.xml" Type="http://schemas.openxmlformats.org/officeDocument/2006/relationships/notesSlide"/></Relationships>
</file>

<file path=ppt/slides/_rels/slide1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2.xml" Type="http://schemas.openxmlformats.org/officeDocument/2006/relationships/slide"/><Relationship Id="rId3" Target="slide8.xml" Type="http://schemas.openxmlformats.org/officeDocument/2006/relationships/slide"/><Relationship Id="rId4" Target="slide11.xml" Type="http://schemas.openxmlformats.org/officeDocument/2006/relationships/slide"/><Relationship Id="rId5" Target="slide16.xml" Type="http://schemas.openxmlformats.org/officeDocument/2006/relationships/slide"/><Relationship Id="rId6" Target="https://github.com/hokkyss/pptx-parser" Type="http://schemas.openxmlformats.org/officeDocument/2006/relationships/hyperlink" TargetMode="External"/><Relationship Id="rId7" Target="https://www.npmjs.com/package/@hokkyss/pptx" Type="http://schemas.openxmlformats.org/officeDocument/2006/relationships/hyperlink" TargetMode="External"/><Relationship Id="rId8" Target="https://github.com/hokkyss/pptx-parser/issues" Type="http://schemas.openxmlformats.org/officeDocument/2006/relationships/hyperlink" TargetMode="External"/><Relationship Id="rId9" Target="../notesSlides/notesSlide10.xml" Type="http://schemas.openxmlformats.org/officeDocument/2006/relationships/notesSlide"/></Relationships>
</file>

<file path=ppt/slides/_rels/slide1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14.xml" Type="http://schemas.openxmlformats.org/officeDocument/2006/relationships/slide"/><Relationship Id="rId3" Target="slide16.xml" Type="http://schemas.openxmlformats.org/officeDocument/2006/relationships/slide"/><Relationship Id="rId4" Target="../notesSlides/notesSlide11.xml" Type="http://schemas.openxmlformats.org/officeDocument/2006/relationships/notesSlide"/></Relationships>
</file>

<file path=ppt/slides/_rels/slide1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slide14.xml" Type="http://schemas.openxmlformats.org/officeDocument/2006/relationships/slide"/><Relationship Id="rId4" Target="../notesSlides/notesSlide12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>
            <a:hlinkClick r:id="rId2" tooltip="GitHub Repository: @hokkyss/pptx"/>
          </p:cNvPr>
          <p:cNvSpPr txBox="1"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/>
          <a:lstStyle/>
          <a:p>
            <a:pPr algn="ctr"/>
            <a:r>
              <a:rPr b="1" sz="4400">
                <a:solidFill>
                  <a:srgbClr val="FFFFFF"/>
                </a:solidFill>
                <a:hlinkClick r:id="rId2" tooltip="GitHub Repository: @hokkyss/pptx"/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/>
          <a:lstStyle/>
          <a:p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</a:t>
            </a:r>
          </a:p>
          <a:p>
            <a:endParaRPr/>
          </a:p>
          <a:p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/>
          <a:lstStyle/>
          <a:p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</a:t>
            </a:r>
          </a:p>
          <a:p>
            <a:endParaRPr/>
          </a:p>
          <a:p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/>
          <a:lstStyle/>
          <a:p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</a:t>
            </a:r>
          </a:p>
          <a:p>
            <a:endParaRPr/>
          </a:p>
          <a:p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>
            <a:hlinkClick r:id="rId2" tooltip="View @hokkyss/pptx-core on GitHub"/>
          </p:cNvPr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/>
          <a:lstStyle/>
          <a:p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</a:t>
            </a:r>
          </a:p>
          <a:p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>
            <a:hlinkClick r:id="rId3" tooltip="View @hokkyss/pptx-reader on GitHub"/>
          </p:cNvPr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</a:t>
            </a:r>
          </a:p>
          <a:p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>
            <a:hlinkClick r:id="rId4" tooltip="View @hokkyss/pptx-writer on GitHub"/>
          </p:cNvPr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</a:t>
            </a:r>
          </a:p>
          <a:p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>
            <a:hlinkClick r:id="rId5" tooltip="View @hokkyss/pptx on GitHub"/>
          </p:cNvPr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</a:t>
            </a:r>
          </a:p>
          <a:p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sp>
        <p:nvSpPr>
          <p:cNvPr id="5" name="Text Box 4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split dir="in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/>
          <a:lstStyle/>
          <a:p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/>
          <a:lstStyle/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/>
          <a:lstStyle/>
          <a:p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 txBox="1"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/>
          <a:lstStyle/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 txBox="1"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/>
          <a:lstStyle/>
          <a:p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 txBox="1"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/>
          <a:lstStyle/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over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Box 5"/>
          <p:cNvSpPr txBox="1"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/>
          <a:lstStyle/>
          <a:p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/>
          <a:lstStyle/>
          <a:p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 txBox="1"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/>
          <a:lstStyle/>
          <a:p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 txBox="1"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>
              <a:buFont typeface="Arial" panose="020B0604020202020204" pitchFamily="34" charset="0"/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>
              <a:buFont typeface="Arial" panose="020B0604020202020204" pitchFamily="34" charset="0"/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PowerPoint Parity Matrix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300">
                <a:solidFill>
                  <a:srgbClr val="94A3B8"/>
                </a:solidFill>
                <a:latin typeface="+mn-lt"/>
                <a:cs typeface="+mn-lt"/>
              </a:rPr>
              <a:t>Demonstrating Shift + Enter soft breaks (&lt;a:br&gt;), Tab / Shift + Tab hierarchical levels (0-3), and master styling inheritance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/>
          <a:lstStyle/>
          <a:p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PowerPoint Parity: Shift+Enter &amp; Tab Levels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Shift+Enter: soft break continuation under same bullet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</a:p>
          <a:p>
            <a:pPr lvl="1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Tab indent: sub-ms global route resolution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</a:p>
          <a:p>
            <a:pPr lvl="2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TLS 1.3 Security Envelope</a:t>
            </a: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Tab Tab: 0-RTT session resumption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</a:p>
          <a:p>
            <a:pPr lvl="3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DDoS heuristic anomaly mitigation filter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Shift+Tab: returns to level 0 root bullet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</a:p>
          <a:p>
            <a:pPr lvl="1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D1 SQLite Replicas + KV Cache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/>
          <a:lstStyle/>
          <a:p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Lifecycle with Soft Breaks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/>
          <a:lstStyle/>
          <a:p>
            <a:pPr>
              <a:buAutoNum type="arabicPeriod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Decompresses container with fflate &amp; streams XML parts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</a:p>
          <a:p>
            <a:pPr lvl="1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Extract theme, slideMaster, and layout hierarchies</a:t>
            </a:r>
          </a:p>
          <a:p>
            <a:pPr>
              <a:buAutoNum type="arabicPeriod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Applies shapes, tables, shadows, gradients, and formulas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</a:p>
          <a:p>
            <a:pPr lvl="1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Computes nominal dimensional types (EMU, pt, in)</a:t>
            </a:r>
          </a:p>
          <a:p>
            <a:pPr>
              <a:buAutoNum type="arabicPeriod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Emits deterministic OpenXML parts and compiles binary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</a:p>
          <a:p>
            <a:pPr lvl="1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Generates zero-copy Uint8Array presentation buffer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:title"/>
          <p:cNvSpPr/>
          <p:nvPr>
            <p:ph type="title"/>
          </p:nvPr>
        </p:nvSpPr>
        <p:spPr>
          <a:xfrm>
            <a:off x="914400" y="731520"/>
            <a:ext cx="10360152" cy="73152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Content Placeholder (&lt;p:ph idx="1"/&gt;) &amp; Master Inheritance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37160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300">
                <a:solidFill>
                  <a:srgbClr val="94A3B8"/>
                </a:solidFill>
                <a:latin typeface="+mn-lt"/>
                <a:cs typeface="+mn-lt"/>
              </a:rPr>
              <a:t>This slide demonstrates a genuine OpenXML Content Placeholder box bound to the Slide Master body styles (&lt;p:bodyStyle&gt;) with native multi-level indentation and Shift+Enter line breaks</a:t>
            </a:r>
          </a:p>
        </p:txBody>
      </p:sp>
      <p:sp>
        <p:nvSpPr>
          <p:cNvPr id="4" name="placeholder:1"/>
          <p:cNvSpPr/>
          <p:nvPr/>
        </p:nvSpPr>
        <p:spPr>
          <a:xfrm>
            <a:off x="914400" y="1920240"/>
            <a:ext cx="10360152" cy="4389120"/>
          </a:xfrm>
          <a:prstGeom prst="rect">
            <a:avLst/>
          </a:prstGeo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A1: High Availability &amp; Multi-Region Fleet (Level 0 Root Bullet)</a:t>
            </a: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Shift+Enter: multi-line statement cleanly indented beneath the same bullet point without spawning an extra glyph.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</a:p>
          <a:p>
            <a:pPr lvl="1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B1: Anycast Edge Routing Layer with 300+ Global PoPs (Level 1 / Tab)</a:t>
            </a: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Automatically inherits level 1 margin and hanging indent directly from the Slide Master without inline overrides.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</a:p>
          <a:p>
            <a:pPr lvl="2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C1: Zero-RTT TLS 1.3 Handshake &amp; Heuristic DDoS Protection (Level 2 / Tab Tab)</a:t>
            </a: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P99 latency SLA: &lt; 1.2ms across all geographic regions with zero cold starts.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</a:p>
          <a:p>
            <a:pPr lvl="3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D1: Kernel-level eBPF packet inspection and anomaly heuristics (Level 3 / Tab Tab Tab)</a:t>
            </a:r>
          </a:p>
          <a:p>
            <a:pPr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A2: Automated State &amp; Cache Synchronization (Level 0 / Shift+Tab)</a:t>
            </a: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Shift+Tab returns seamlessly to the root bullet level, matching PowerPoint desktop editing behavior.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</a:p>
          <a:p>
            <a:pPr lvl="1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B2: D1 Relational SQLite Replicas + Globally Distributed KV Cache Layer</a:t>
            </a:r>
          </a:p>
        </p:txBody>
      </p:sp>
      <p:sp>
        <p:nvSpPr>
          <p:cNvPr id="5" name="Text Box 4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73152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Hierarchical Block Indentation (bullet: false) &amp; Code Outlines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37160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300">
                <a:solidFill>
                  <a:srgbClr val="94A3B8"/>
                </a:solidFill>
                <a:latin typeface="+mn-lt"/>
                <a:cs typeface="+mn-lt"/>
              </a:rPr>
              <a:t>Demonstrating { level: N, bullet: false } (&lt;a:buNone/&gt;) — suppresses bullet glyphs while preserving precise margin indentation, soft breaks, and Tab / Shift+Tab cycling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097280" y="2011680"/>
            <a:ext cx="4572000" cy="365760"/>
          </a:xfrm>
          <a:prstGeom prst="rect">
            <a:avLst/>
          </a:prstGeom>
        </p:spPr>
        <p:txBody>
          <a:bodyPr/>
          <a:lstStyle/>
          <a:p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📋 Architectural Block Outlining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1097280" y="2423160"/>
            <a:ext cx="4572000" cy="3749040"/>
          </a:xfrm>
          <a:prstGeom prst="rect">
            <a:avLst/>
          </a:prstGeo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b="1" sz="1050">
                <a:solidFill>
                  <a:srgbClr val="E2E8F0"/>
                </a:solidFill>
                <a:latin typeface="+mn-lt"/>
                <a:cs typeface="+mn-lt"/>
              </a:rPr>
              <a:t>1. Primary Storage Engine (Raft Consensus)</a:t>
            </a:r>
          </a:p>
          <a:p>
            <a:pPr lvl="1">
              <a:buNone/>
            </a:pP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level: 1, bullet: false — Block explanation indented under Level 0</a:t>
            </a:r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Maintains strict linearizable consistency across all state machine nodes.</a:t>
            </a:r>
            <a:br>
              <a:rPr sz="1050">
                <a:solidFill>
                  <a:srgbClr val="E2E8F0"/>
                </a:solidFill>
                <a:latin typeface="+mn-lt"/>
                <a:cs typeface="+mn-lt"/>
              </a:rPr>
            </a:br>
          </a:p>
          <a:p>
            <a:pPr lvl="2">
              <a:buNone/>
            </a:pPr>
            <a:r>
              <a:rPr sz="1050">
                <a:solidFill>
                  <a:srgbClr val="38BDF8"/>
                </a:solidFill>
                <a:latin typeface="+mn-lt"/>
                <a:cs typeface="+mn-lt"/>
              </a:rPr>
              <a:t>• Technical SLA: </a:t>
            </a: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P99 commit latency &lt; 0.85ms over NVMe WAL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b="1" sz="1050">
                <a:solidFill>
                  <a:srgbClr val="E2E8F0"/>
                </a:solidFill>
                <a:latin typeface="+mn-lt"/>
                <a:cs typeface="+mn-lt"/>
              </a:rPr>
              <a:t>2. Multi-Region Active Replication</a:t>
            </a:r>
          </a:p>
          <a:p>
            <a:pPr lvl="1">
              <a:buNone/>
            </a:pP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level: 1, bullet: false — Block commentary (no bullet glyph)</a:t>
            </a:r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Automatic failover orchestration with zero operational downtime.</a:t>
            </a:r>
            <a:br>
              <a:rPr sz="1050">
                <a:solidFill>
                  <a:srgbClr val="E2E8F0"/>
                </a:solidFill>
                <a:latin typeface="+mn-lt"/>
                <a:cs typeface="+mn-lt"/>
              </a:rPr>
            </a:br>
          </a:p>
          <a:p>
            <a:pPr lvl="2">
              <a:buNone/>
            </a:pPr>
            <a:r>
              <a:rPr sz="1050">
                <a:solidFill>
                  <a:srgbClr val="10B981"/>
                </a:solidFill>
                <a:latin typeface="+mn-lt"/>
                <a:cs typeface="+mn-lt"/>
              </a:rPr>
              <a:t>• Health Heartbeat: </a:t>
            </a: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Sub-50ms peer gossip discovery with eBPF probes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493776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6400800" y="2011680"/>
            <a:ext cx="4572000" cy="365760"/>
          </a:xfrm>
          <a:prstGeom prst="rect">
            <a:avLst/>
          </a:prstGeom>
        </p:spPr>
        <p:txBody>
          <a:bodyPr/>
          <a:lstStyle/>
          <a:p>
            <a:r>
              <a:rPr b="1" sz="1400">
                <a:solidFill>
                  <a:srgbClr val="818CF8"/>
                </a:solidFill>
                <a:latin typeface="+mn-lt"/>
                <a:cs typeface="+mn-lt"/>
              </a:rPr>
              <a:t>💻 Code &amp; Config Indentation Simulation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6400800" y="2423160"/>
            <a:ext cx="4572000" cy="3749040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rPr sz="1100">
                <a:solidFill>
                  <a:srgbClr val="F43F5E"/>
                </a:solidFill>
                <a:latin typeface="Courier New"/>
                <a:cs typeface="Courier New"/>
              </a:rPr>
              <a:t>export interface </a:t>
            </a:r>
            <a:r>
              <a:rPr b="1" sz="1100">
                <a:solidFill>
                  <a:srgbClr val="38BDF8"/>
                </a:solidFill>
                <a:latin typeface="Courier New"/>
                <a:cs typeface="Courier New"/>
              </a:rPr>
              <a:t>PresentationConfig 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{</a:t>
            </a:r>
          </a:p>
          <a:p>
            <a:pPr lvl="1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author: </a:t>
            </a:r>
            <a:r>
              <a:rPr sz="1100">
                <a:solidFill>
                  <a:srgbClr val="10B981"/>
                </a:solidFill>
                <a:latin typeface="Courier New"/>
                <a:cs typeface="Courier New"/>
              </a:rPr>
              <a:t>'Hokkyss Core Team'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;</a:t>
            </a:r>
          </a:p>
          <a:p>
            <a:pPr lvl="1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dimensions: 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{</a:t>
            </a:r>
          </a:p>
          <a:p>
            <a:pPr lvl="2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width: </a:t>
            </a:r>
            <a:r>
              <a:rPr sz="1100">
                <a:solidFill>
                  <a:srgbClr val="F59E0B"/>
                </a:solidFill>
                <a:latin typeface="Courier New"/>
                <a:cs typeface="Courier New"/>
              </a:rPr>
              <a:t>inches(13.33)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;</a:t>
            </a:r>
          </a:p>
          <a:p>
            <a:pPr lvl="2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height: </a:t>
            </a:r>
            <a:r>
              <a:rPr sz="1100">
                <a:solidFill>
                  <a:srgbClr val="F59E0B"/>
                </a:solidFill>
                <a:latin typeface="Courier New"/>
                <a:cs typeface="Courier New"/>
              </a:rPr>
              <a:t>inches(7.5)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;</a:t>
            </a:r>
          </a:p>
          <a:p>
            <a:pPr lvl="1">
              <a:buNone/>
            </a:pP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};</a:t>
            </a:r>
          </a:p>
          <a:p>
            <a:pPr lvl="1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bulletFormatting: 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{</a:t>
            </a:r>
          </a:p>
          <a:p>
            <a:pPr lvl="2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type: </a:t>
            </a:r>
            <a:r>
              <a:rPr sz="1100">
                <a:solidFill>
                  <a:srgbClr val="10B981"/>
                </a:solidFill>
                <a:latin typeface="Courier New"/>
                <a:cs typeface="Courier New"/>
              </a:rPr>
              <a:t>'none'</a:t>
            </a:r>
            <a:r>
              <a:rPr i="1" sz="1100">
                <a:solidFill>
                  <a:srgbClr val="64748B"/>
                </a:solidFill>
                <a:latin typeface="Courier New"/>
                <a:cs typeface="Courier New"/>
              </a:rPr>
              <a:t> // &lt;a:buNone/&gt; suppresses glyph</a:t>
            </a:r>
          </a:p>
          <a:p>
            <a:pPr lvl="1">
              <a:buNone/>
            </a:pP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};</a:t>
            </a:r>
          </a:p>
          <a:p>
            <a:pPr>
              <a:buNone/>
            </a:pP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}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sp>
        <p:nvSpPr>
          <p:cNvPr id="19" name="Text Box 18"/>
          <p:cNvSpPr txBox="1"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20" name="Text Box 19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pSp>
        <p:nvGrpSpPr>
          <p:cNvPr id="4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5" name="Stage 1 Background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roundRect 5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7" name="Text Box 6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/>
            <a:lstStyle/>
            <a:p>
              <a:pPr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8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9" name="Stage 2 Background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0" name="roundRect 9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11" name="Text Box 10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/>
            <a:lstStyle/>
            <a:p>
              <a:pPr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12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3" name="Stage 3 Background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4" name="roundRect 13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5" name="Text Box 14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/>
            <a:lstStyle/>
            <a:p>
              <a:pPr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16" name="Connector 15"/>
          <p:cNvCxnSpPr>
            <a:cxnSpLocks/>
            <a:stCxn id="5" idx="3"/>
            <a:endCxn id="9" idx="1"/>
          </p:cNvCxnSpPr>
          <p:nvPr/>
        </p:nvCxnSpPr>
        <p:spPr>
          <a:xfrm>
            <a:off x="3840480" y="3611880"/>
            <a:ext cx="731520" cy="0"/>
          </a:xfrm>
          <a:prstGeom prst="line">
            <a:avLst/>
          </a:prstGeom>
          <a:ln w="27432">
            <a:solidFill>
              <a:srgbClr val="0284C7"/>
            </a:solidFill>
            <a:prstDash val="solid"/>
            <a:headEnd type="triangle" w="lg" len="lg"/>
          </a:ln>
        </p:spPr>
      </p:cxnSp>
      <p:cxnSp>
        <p:nvCxnSpPr>
          <p:cNvPr id="17" name="Connector 16"/>
          <p:cNvCxnSpPr>
            <a:cxnSpLocks/>
            <a:stCxn id="9" idx="3"/>
            <a:endCxn id="13" idx="1"/>
          </p:cNvCxnSpPr>
          <p:nvPr/>
        </p:nvCxnSpPr>
        <p:spPr>
          <a:xfrm>
            <a:off x="7498080" y="3611880"/>
            <a:ext cx="731520" cy="0"/>
          </a:xfrm>
          <a:prstGeom prst="line">
            <a:avLst/>
          </a:prstGeom>
          <a:ln w="27432">
            <a:solidFill>
              <a:srgbClr val="6366F1"/>
            </a:solidFill>
            <a:prstDash val="solid"/>
            <a:headEnd type="stealth" w="lg" len="lg"/>
          </a:ln>
        </p:spPr>
      </p:cxnSp>
      <p:cxnSp>
        <p:nvCxnSpPr>
          <p:cNvPr id="18" name="Connector 17"/>
          <p:cNvCxnSpPr>
            <a:cxnSpLocks/>
          </p:cNvCxnSpPr>
          <p:nvPr/>
        </p:nvCxnSpPr>
        <p:spPr>
          <a:xfrm>
            <a:off x="914400" y="5669280"/>
            <a:ext cx="10241280" cy="0"/>
          </a:xfrm>
          <a:prstGeom prst="line">
            <a:avLst/>
          </a:prstGeom>
          <a:ln w="18288">
            <a:solidFill>
              <a:srgbClr val="94A3B8"/>
            </a:solidFill>
            <a:prstDash val="dash"/>
            <a:headEnd type="triangle"/>
            <a:tailEnd type="oval"/>
          </a:ln>
        </p:spPr>
      </p:cxnSp>
    </p:spTree>
  </p:cSld>
  <p:clrMapOvr>
    <a:masterClrMapping/>
  </p:clrMapOvr>
  <p:transition spd="fast">
    <p:pull dir="r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/>
          <a:lstStyle/>
          <a:p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/>
          <a:lstStyle/>
          <a:p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/>
          <a:lstStyle/>
          <a:p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/>
          <a:lstStyle/>
          <a:p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/>
          <a:lstStyle/>
          <a:p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 txBox="1"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/>
          <a:lstStyle/>
          <a:p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wheel spokes="4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 txBox="1"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blinds dir="horz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 txBox="1"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checker dir="vert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Hyperlinks &amp; Interactive Navigation System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&lt;a:hlinkClick&gt; external URLs, slide navigation jumps, hover ScreenTips, and presentation controls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🧭 Interactive Presentation Jump Hub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914400" y="2331720"/>
            <a:ext cx="4846320" cy="274320"/>
          </a:xfrm>
          <a:prstGeom prst="rect">
            <a:avLst/>
          </a:prstGeom>
        </p:spPr>
        <p:txBody>
          <a:bodyPr/>
          <a:lstStyle/>
          <a:p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Click any card below during slide show mode to immediately jump to that section:</a:t>
            </a:r>
          </a:p>
        </p:txBody>
      </p:sp>
      <p:sp>
        <p:nvSpPr>
          <p:cNvPr id="7" name="roundRect 6">
            <a:hlinkClick r:id="rId2" tooltip="Jump directly to Slide 2" action="ppaction://hlinksldjump"/>
          </p:cNvPr>
          <p:cNvSpPr/>
          <p:nvPr/>
        </p:nvSpPr>
        <p:spPr>
          <a:xfrm>
            <a:off x="914400" y="2697480"/>
            <a:ext cx="4846320" cy="749808"/>
          </a:xfrm>
          <a:prstGeom prst="roundRect">
            <a:avLst/>
          </a:prstGeom>
          <a:solidFill>
            <a:srgbClr val="EFF6FF"/>
          </a:solidFill>
          <a:ln w="13716">
            <a:solidFill>
              <a:srgbClr val="3B82F6"/>
            </a:solidFill>
          </a:ln>
        </p:spPr>
        <p:txBody>
          <a:bodyPr/>
          <a:lstStyle/>
          <a:p>
            <a:r>
              <a:rPr b="1" sz="1100">
                <a:solidFill>
                  <a:srgbClr val="1D4ED8"/>
                </a:solidFill>
                <a:latin typeface="+mn-lt"/>
                <a:cs typeface="+mn-lt"/>
              </a:rPr>
              <a:t>📐 Slide 2: Modular Architecture ➔</a:t>
            </a:r>
          </a:p>
          <a:p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3-tier modular schemas &amp; strict units</a:t>
            </a:r>
          </a:p>
        </p:txBody>
      </p:sp>
      <p:sp>
        <p:nvSpPr>
          <p:cNvPr id="8" name="roundRect 7">
            <a:hlinkClick r:id="rId3" tooltip="Jump directly to Slide 8" action="ppaction://hlinksldjump"/>
          </p:cNvPr>
          <p:cNvSpPr/>
          <p:nvPr/>
        </p:nvSpPr>
        <p:spPr>
          <a:xfrm>
            <a:off x="914400" y="3566160"/>
            <a:ext cx="4846320" cy="749808"/>
          </a:xfrm>
          <a:prstGeom prst="roundRect">
            <a:avLst/>
          </a:prstGeom>
          <a:solidFill>
            <a:srgbClr val="F0FDF4"/>
          </a:solidFill>
          <a:ln w="13716">
            <a:solidFill>
              <a:srgbClr val="22C55E"/>
            </a:solidFill>
          </a:ln>
        </p:spPr>
        <p:txBody>
          <a:bodyPr/>
          <a:lstStyle/>
          <a:p>
            <a:r>
              <a:rPr b="1" sz="1100">
                <a:solidFill>
                  <a:srgbClr val="15803D"/>
                </a:solidFill>
                <a:latin typeface="+mn-lt"/>
                <a:cs typeface="+mn-lt"/>
              </a:rPr>
              <a:t>📑 Slide 8: Content Placeholder ➔</a:t>
            </a:r>
          </a:p>
          <a:p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Native &lt;p:ph idx="1"/&gt; &amp; Shift+Enter breaks</a:t>
            </a:r>
          </a:p>
        </p:txBody>
      </p:sp>
      <p:sp>
        <p:nvSpPr>
          <p:cNvPr id="9" name="roundRect 8">
            <a:hlinkClick r:id="rId4" tooltip="Jump directly to Slide 11" action="ppaction://hlinksldjump"/>
          </p:cNvPr>
          <p:cNvSpPr/>
          <p:nvPr/>
        </p:nvSpPr>
        <p:spPr>
          <a:xfrm>
            <a:off x="914400" y="4434840"/>
            <a:ext cx="4846320" cy="749808"/>
          </a:xfrm>
          <a:prstGeom prst="roundRect">
            <a:avLst/>
          </a:prstGeom>
          <a:solidFill>
            <a:srgbClr val="ECFDF5"/>
          </a:solidFill>
          <a:ln w="13716">
            <a:solidFill>
              <a:srgbClr val="10B981"/>
            </a:solidFill>
          </a:ln>
        </p:spPr>
        <p:txBody>
          <a:bodyPr/>
          <a:lstStyle/>
          <a:p>
            <a:r>
              <a:rPr b="1" sz="1100">
                <a:solidFill>
                  <a:srgbClr val="047857"/>
                </a:solidFill>
                <a:latin typeface="+mn-lt"/>
                <a:cs typeface="+mn-lt"/>
              </a:rPr>
              <a:t>📈 Slide 11: OpenXML Charts &amp; Graphs ➔</a:t>
            </a:r>
          </a:p>
          <a:p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Clustered bar &amp; line dual-series analytics</a:t>
            </a:r>
          </a:p>
        </p:txBody>
      </p:sp>
      <p:sp>
        <p:nvSpPr>
          <p:cNvPr id="10" name="roundRect 9">
            <a:hlinkClick r:id="rId5" tooltip="Jump directly to Slide 16" action="ppaction://hlinksldjump"/>
          </p:cNvPr>
          <p:cNvSpPr/>
          <p:nvPr/>
        </p:nvSpPr>
        <p:spPr>
          <a:xfrm>
            <a:off x="914400" y="5303520"/>
            <a:ext cx="4846320" cy="749808"/>
          </a:xfrm>
          <a:prstGeom prst="roundRect">
            <a:avLst/>
          </a:prstGeom>
          <a:solidFill>
            <a:srgbClr val="FFFBEB"/>
          </a:solidFill>
          <a:ln w="13716">
            <a:solidFill>
              <a:srgbClr val="F59E0B"/>
            </a:solidFill>
          </a:ln>
        </p:spPr>
        <p:txBody>
          <a:bodyPr/>
          <a:lstStyle/>
          <a:p>
            <a:r>
              <a:rPr b="1" sz="1100">
                <a:solidFill>
                  <a:srgbClr val="B45309"/>
                </a:solidFill>
                <a:latin typeface="+mn-lt"/>
                <a:cs typeface="+mn-lt"/>
              </a:rPr>
              <a:t>⚡ Slide 16: Engine Benchmark Matrix ➔</a:t>
            </a:r>
          </a:p>
          <a:p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Empirical throughput &amp; bundle size matrix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23774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 txBox="1"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🔗 External Web &amp; Ecosystem Endpoints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6400800" y="2377440"/>
            <a:ext cx="4846320" cy="1645920"/>
          </a:xfrm>
          <a:prstGeom prst="rect">
            <a:avLst/>
          </a:prstGeom>
        </p:spPr>
        <p:txBody>
          <a:bodyPr/>
          <a:lstStyle/>
          <a:p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0284C7"/>
                </a:solidFill>
                <a:hlinkClick r:id="rId6" tooltip="View GitHub Repository &amp; Source Code"/>
                <a:latin typeface="+mn-lt"/>
                <a:cs typeface="+mn-lt"/>
              </a:rPr>
              <a:t>GitHub Repository (hokkyss/pptx-parser)</a:t>
            </a:r>
            <a:r>
              <a:rPr>
                <a:latin typeface="+mn-lt"/>
                <a:cs typeface="+mn-lt"/>
              </a:rPr>
              <a:t> — Star &amp; contribute.</a:t>
            </a:r>
          </a:p>
          <a:p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6366F1"/>
                </a:solidFill>
                <a:hlinkClick r:id="rId7" tooltip="Inspect NPM Package Registry"/>
                <a:latin typeface="+mn-lt"/>
                <a:cs typeface="+mn-lt"/>
              </a:rPr>
              <a:t>NPM Package Registry (@hokkyss/pptx)</a:t>
            </a:r>
            <a:r>
              <a:rPr>
                <a:latin typeface="+mn-lt"/>
                <a:cs typeface="+mn-lt"/>
              </a:rPr>
              <a:t> — Published release.</a:t>
            </a:r>
          </a:p>
          <a:p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10B981"/>
                </a:solidFill>
                <a:hlinkClick r:id="rId8" tooltip="View Issue Tracker &amp; Discussions"/>
                <a:latin typeface="+mn-lt"/>
                <a:cs typeface="+mn-lt"/>
              </a:rPr>
              <a:t>GitHub Issue Tracker &amp; Community</a:t>
            </a:r>
            <a:r>
              <a:rPr>
                <a:latin typeface="+mn-lt"/>
                <a:cs typeface="+mn-lt"/>
              </a:rPr>
              <a:t> — Discussions &amp; issues.</a:t>
            </a:r>
          </a:p>
        </p:txBody>
      </p:sp>
      <p:sp>
        <p:nvSpPr>
          <p:cNvPr id="14" name="roundRect 13"/>
          <p:cNvSpPr/>
          <p:nvPr/>
        </p:nvSpPr>
        <p:spPr>
          <a:xfrm>
            <a:off x="6217920" y="4389120"/>
            <a:ext cx="5212080" cy="19202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Box 14"/>
          <p:cNvSpPr txBox="1"/>
          <p:nvPr/>
        </p:nvSpPr>
        <p:spPr>
          <a:xfrm>
            <a:off x="6400800" y="457200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🎮 Native Slide Show Action Controls</a:t>
            </a:r>
          </a:p>
        </p:txBody>
      </p:sp>
      <p:sp>
        <p:nvSpPr>
          <p:cNvPr id="16" name="Text Box 15"/>
          <p:cNvSpPr txBox="1"/>
          <p:nvPr/>
        </p:nvSpPr>
        <p:spPr>
          <a:xfrm>
            <a:off x="6400800" y="4892040"/>
            <a:ext cx="4846320" cy="274320"/>
          </a:xfrm>
          <a:prstGeom prst="rect">
            <a:avLst/>
          </a:prstGeom>
        </p:spPr>
        <p:txBody>
          <a:bodyPr/>
          <a:lstStyle/>
          <a:p>
            <a:r>
              <a:rPr sz="1000">
                <a:solidFill>
                  <a:srgbClr val="64748B"/>
                </a:solidFill>
                <a:latin typeface="+mn-lt"/>
                <a:cs typeface="+mn-lt"/>
              </a:rPr>
              <a:t>OpenXML action jump commands executed directly inside PowerPoint Presentation Mode:</a:t>
            </a:r>
          </a:p>
        </p:txBody>
      </p:sp>
      <p:sp>
        <p:nvSpPr>
          <p:cNvPr id="17" name="roundRect 16">
            <a:hlinkClick tooltip="Jump to Slide 1" action="ppaction://hlinkshowjump?jump=firstslide"/>
          </p:cNvPr>
          <p:cNvSpPr/>
          <p:nvPr/>
        </p:nvSpPr>
        <p:spPr>
          <a:xfrm>
            <a:off x="6400800" y="5440680"/>
            <a:ext cx="1097280" cy="59436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⏮ First</a:t>
            </a:r>
          </a:p>
        </p:txBody>
      </p:sp>
      <p:sp>
        <p:nvSpPr>
          <p:cNvPr id="18" name="roundRect 17">
            <a:hlinkClick tooltip="Jump to Slide 13" action="ppaction://hlinkshowjump?jump=previousslide"/>
          </p:cNvPr>
          <p:cNvSpPr/>
          <p:nvPr/>
        </p:nvSpPr>
        <p:spPr>
          <a:xfrm>
            <a:off x="7635240" y="5440680"/>
            <a:ext cx="1097280" cy="594360"/>
          </a:xfrm>
          <a:prstGeom prst="roundRect">
            <a:avLst/>
          </a:prstGeom>
          <a:solidFill>
            <a:srgbClr val="475569"/>
          </a:solidFill>
        </p:spPr>
        <p:txBody>
          <a:bodyPr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◀ Prev</a:t>
            </a:r>
          </a:p>
        </p:txBody>
      </p:sp>
      <p:sp>
        <p:nvSpPr>
          <p:cNvPr id="19" name="roundRect 18">
            <a:hlinkClick tooltip="Jump to Slide 15" action="ppaction://hlinkshowjump?jump=nextslide"/>
          </p:cNvPr>
          <p:cNvSpPr/>
          <p:nvPr/>
        </p:nvSpPr>
        <p:spPr>
          <a:xfrm>
            <a:off x="8869680" y="5440680"/>
            <a:ext cx="1097280" cy="594360"/>
          </a:xfrm>
          <a:prstGeom prst="roundRect">
            <a:avLst/>
          </a:prstGeom>
          <a:solidFill>
            <a:srgbClr val="0284C7"/>
          </a:solidFill>
        </p:spPr>
        <p:txBody>
          <a:bodyPr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Next ▶</a:t>
            </a:r>
          </a:p>
        </p:txBody>
      </p:sp>
      <p:sp>
        <p:nvSpPr>
          <p:cNvPr id="20" name="roundRect 19">
            <a:hlinkClick tooltip="End Slide Show" action="ppaction://hlinkshowjump?jump=endshow"/>
          </p:cNvPr>
          <p:cNvSpPr/>
          <p:nvPr/>
        </p:nvSpPr>
        <p:spPr>
          <a:xfrm>
            <a:off x="10104120" y="5440680"/>
            <a:ext cx="1097280" cy="594360"/>
          </a:xfrm>
          <a:prstGeom prst="roundRect">
            <a:avLst/>
          </a:prstGeom>
          <a:solidFill>
            <a:srgbClr val="EF4444"/>
          </a:solidFill>
        </p:spPr>
        <p:txBody>
          <a:bodyPr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⏹ End</a:t>
            </a:r>
          </a:p>
        </p:txBody>
      </p:sp>
      <p:sp>
        <p:nvSpPr>
          <p:cNvPr id="21" name="Text Box 20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90D16"/>
            </a:gs>
            <a:gs pos="50000">
              <a:srgbClr val="0F172A"/>
            </a:gs>
            <a:gs pos="100000">
              <a:srgbClr val="1E293B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Native OpenXML DrawingML Gradient Engine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Linear, radial, multi-stop vector meshes, alpha transparency, and angle rotation</a:t>
            </a:r>
          </a:p>
        </p:txBody>
      </p:sp>
      <p:sp>
        <p:nvSpPr>
          <p:cNvPr id="4" name="roundRect 3">
            <a:hlinkClick r:id="rId2" tooltip="Return to Hyperlinks Hub (Slide 14)" action="ppaction://hlinksldjump"/>
          </p:cNvPr>
          <p:cNvSpPr/>
          <p:nvPr/>
        </p:nvSpPr>
        <p:spPr>
          <a:xfrm>
            <a:off x="7315200" y="731520"/>
            <a:ext cx="201168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09728" dist="38100" dir="5400000">
              <a:srgbClr val="0284C7">
                <a:alpha val="30000"/>
              </a:srgbClr>
            </a:outerShdw>
          </a:effectLst>
        </p:spPr>
        <p:txBody>
          <a:bodyPr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5" name="roundRect 4">
            <a:hlinkClick r:id="rId3" tooltip="Advance to Live Benchmarks (Slide 16)" action="ppaction://hlinksldjump"/>
          </p:cNvPr>
          <p:cNvSpPr/>
          <p:nvPr/>
        </p:nvSpPr>
        <p:spPr>
          <a:xfrm>
            <a:off x="9509760" y="731520"/>
            <a:ext cx="1828800" cy="411480"/>
          </a:xfrm>
          <a:prstGeom prst="roundRect">
            <a:avLst/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5400000" scaled="1"/>
          </a:gradFill>
          <a:ln w="13716">
            <a:solidFill>
              <a:srgbClr val="34D399"/>
            </a:solidFill>
          </a:ln>
          <a:effectLst>
            <a:outerShdw blurRad="109728" dist="38100" dir="5400000">
              <a:srgbClr val="10B981">
                <a:alpha val="30000"/>
              </a:srgbClr>
            </a:outerShdw>
          </a:effectLst>
        </p:spPr>
        <p:txBody>
          <a:bodyPr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Benchmarks ➔</a:t>
            </a:r>
          </a:p>
        </p:txBody>
      </p:sp>
      <p:sp>
        <p:nvSpPr>
          <p:cNvPr id="6" name="roundRect 5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Box 6"/>
          <p:cNvSpPr txBox="1"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🌈 Multi-Angle Linear Gradient Topologies</a:t>
            </a:r>
          </a:p>
        </p:txBody>
      </p:sp>
      <p:sp>
        <p:nvSpPr>
          <p:cNvPr id="8" name="roundRect 7"/>
          <p:cNvSpPr/>
          <p:nvPr/>
        </p:nvSpPr>
        <p:spPr>
          <a:xfrm>
            <a:off x="914400" y="2423160"/>
            <a:ext cx="4846320" cy="960120"/>
          </a:xfrm>
          <a:prstGeom prst="roundRect">
            <a:avLst/>
          </a:prstGeom>
          <a:gradFill>
            <a:gsLst>
              <a:gs pos="0">
                <a:srgbClr val="0284C7"/>
              </a:gs>
              <a:gs pos="50000">
                <a:srgbClr val="38BDF8"/>
              </a:gs>
              <a:gs pos="100000">
                <a:srgbClr val="818CF8"/>
              </a:gs>
            </a:gsLst>
            <a:lin ang="27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284C7">
                <a:alpha val="35000"/>
              </a:srgbClr>
            </a:outerShdw>
          </a:effectLst>
        </p:spPr>
        <p:txBody>
          <a:bodyPr/>
          <a:lstStyle/>
          <a:p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Oceanic Aurora Mesh</a:t>
            </a:r>
          </a:p>
          <a:p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45° Diagonal • Sky to Indigo Vector Fusion</a:t>
            </a:r>
          </a:p>
        </p:txBody>
      </p:sp>
      <p:sp>
        <p:nvSpPr>
          <p:cNvPr id="9" name="roundRect 8"/>
          <p:cNvSpPr/>
          <p:nvPr/>
        </p:nvSpPr>
        <p:spPr>
          <a:xfrm>
            <a:off x="914400" y="3520440"/>
            <a:ext cx="4846320" cy="960120"/>
          </a:xfrm>
          <a:prstGeom prst="roundRect">
            <a:avLst/>
          </a:prstGeom>
          <a:gradFill>
            <a:gsLst>
              <a:gs pos="0">
                <a:srgbClr val="F59E0B"/>
              </a:gs>
              <a:gs pos="50000">
                <a:srgbClr val="EF4444"/>
              </a:gs>
              <a:gs pos="100000">
                <a:srgbClr val="EC4899"/>
              </a:gs>
            </a:gsLst>
            <a:lin ang="54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F59E0B">
                <a:alpha val="35000"/>
              </a:srgbClr>
            </a:outerShdw>
          </a:effectLst>
        </p:spPr>
        <p:txBody>
          <a:bodyPr/>
          <a:lstStyle/>
          <a:p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Sunset Ember Gradient</a:t>
            </a:r>
          </a:p>
          <a:p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90° Vertical • Amber to Crimson Sunset</a:t>
            </a:r>
          </a:p>
        </p:txBody>
      </p:sp>
      <p:sp>
        <p:nvSpPr>
          <p:cNvPr id="10" name="roundRect 9"/>
          <p:cNvSpPr/>
          <p:nvPr/>
        </p:nvSpPr>
        <p:spPr>
          <a:xfrm>
            <a:off x="914400" y="4617720"/>
            <a:ext cx="4846320" cy="960120"/>
          </a:xfrm>
          <a:prstGeom prst="roundRect">
            <a:avLst/>
          </a:prstGeom>
          <a:gradFill>
            <a:gsLst>
              <a:gs pos="0">
                <a:srgbClr val="059669"/>
              </a:gs>
              <a:gs pos="50000">
                <a:srgbClr val="10B981"/>
              </a:gs>
              <a:gs pos="100000">
                <a:srgbClr val="34D399"/>
              </a:gs>
            </a:gsLst>
            <a:lin ang="81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59669">
                <a:alpha val="35000"/>
              </a:srgbClr>
            </a:outerShdw>
          </a:effectLst>
        </p:spPr>
        <p:txBody>
          <a:bodyPr/>
          <a:lstStyle/>
          <a:p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Emerald Surge Vector</a:t>
            </a:r>
          </a:p>
          <a:p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135° Diagonal • Forest to Emerald Glow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 txBox="1"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🔮 Radial Glow &amp; Alpha Opacity Transparency</a:t>
            </a:r>
          </a:p>
        </p:txBody>
      </p:sp>
      <p:sp>
        <p:nvSpPr>
          <p:cNvPr id="13" name="ellipse 12"/>
          <p:cNvSpPr/>
          <p:nvPr/>
        </p:nvSpPr>
        <p:spPr>
          <a:xfrm>
            <a:off x="6492240" y="2423160"/>
            <a:ext cx="1463040" cy="1463040"/>
          </a:xfrm>
          <a:prstGeom prst="ellipse">
            <a:avLst/>
          </a:prstGeom>
          <a:gradFill>
            <a:gsLst>
              <a:gs pos="0">
                <a:srgbClr val="38BDF8"/>
              </a:gs>
              <a:gs pos="50000">
                <a:srgbClr val="0284C7"/>
              </a:gs>
              <a:gs pos="100000">
                <a:srgbClr val="0F172A"/>
              </a:gs>
            </a:gsLst>
            <a:path path="circle">
              <a:fillToRect b="50000" l="50000" r="50000" t="50000"/>
            </a:path>
          </a:gradFill>
          <a:ln w="13716">
            <a:solidFill>
              <a:srgbClr val="38BDF8"/>
            </a:solidFill>
          </a:ln>
          <a:effectLst>
            <a:outerShdw blurRad="182880" dist="38100" dir="5400000">
              <a:srgbClr val="38BDF8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Box 13"/>
          <p:cNvSpPr txBox="1"/>
          <p:nvPr/>
        </p:nvSpPr>
        <p:spPr>
          <a:xfrm>
            <a:off x="8138160" y="2514600"/>
            <a:ext cx="3200400" cy="1280160"/>
          </a:xfrm>
          <a:prstGeom prst="rect">
            <a:avLst/>
          </a:prstGeom>
        </p:spPr>
        <p:txBody>
          <a:bodyPr/>
          <a:lstStyle/>
          <a:p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Radial Orb Focus</a:t>
            </a:r>
          </a:p>
          <a:p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3-Stop Centered Radial Gradient (&lt;a:path path="circle"&gt;) with automatic edge falloff</a:t>
            </a:r>
          </a:p>
        </p:txBody>
      </p:sp>
      <p:sp>
        <p:nvSpPr>
          <p:cNvPr id="15" name="roundRect 14"/>
          <p:cNvSpPr/>
          <p:nvPr/>
        </p:nvSpPr>
        <p:spPr>
          <a:xfrm>
            <a:off x="6400800" y="4023360"/>
            <a:ext cx="4846320" cy="960120"/>
          </a:xfrm>
          <a:prstGeom prst="roundRect">
            <a:avLst/>
          </a:prstGeom>
          <a:gradFill>
            <a:gsLst>
              <a:gs pos="0">
                <a:srgbClr val="FFFFFF">
                  <a:alpha val="25000"/>
                </a:srgbClr>
              </a:gs>
              <a:gs pos="50000">
                <a:srgbClr val="6366F1">
                  <a:alpha val="15000"/>
                </a:srgbClr>
              </a:gs>
              <a:gs pos="100000">
                <a:srgbClr val="0F172A">
                  <a:alpha val="40000"/>
                </a:srgbClr>
              </a:gs>
            </a:gsLst>
            <a:lin ang="8100000" scaled="1"/>
          </a:gradFill>
          <a:ln w="13716">
            <a:solidFill>
              <a:srgbClr val="818CF8"/>
            </a:solidFill>
          </a:ln>
          <a:effectLst>
            <a:outerShdw blurRad="109728" dist="38100" dir="5400000">
              <a:srgbClr val="6366F1">
                <a:alpha val="25000"/>
              </a:srgbClr>
            </a:outerShdw>
          </a:effectLst>
        </p:spPr>
        <p:txBody>
          <a:bodyPr/>
          <a:lstStyle/>
          <a:p>
            <a:r>
              <a:rPr b="1" sz="1100">
                <a:solidFill>
                  <a:srgbClr val="FFFFFF"/>
                </a:solidFill>
                <a:latin typeface="+mn-lt"/>
                <a:cs typeface="+mn-lt"/>
              </a:rPr>
              <a:t>🪟 Alpha Transparency &amp; Frosted Glass</a:t>
            </a:r>
          </a:p>
          <a:p>
            <a:r>
              <a:rPr sz="950">
                <a:solidFill>
                  <a:srgbClr val="CBD5E1"/>
                </a:solidFill>
                <a:latin typeface="+mn-lt"/>
                <a:cs typeface="+mn-lt"/>
              </a:rPr>
              <a:t>Multi-stop alpha stops (10% to 80% opacity) for glassmorphic card overlays</a:t>
            </a:r>
          </a:p>
        </p:txBody>
      </p:sp>
      <p:sp>
        <p:nvSpPr>
          <p:cNvPr id="16" name="roundRect 15"/>
          <p:cNvSpPr/>
          <p:nvPr/>
        </p:nvSpPr>
        <p:spPr>
          <a:xfrm>
            <a:off x="6400800" y="5074920"/>
            <a:ext cx="4846320" cy="1051560"/>
          </a:xfrm>
          <a:prstGeom prst="roundRect">
            <a:avLst/>
          </a:prstGeom>
          <a:solidFill>
            <a:srgbClr val="020617"/>
          </a:solidFill>
          <a:ln w="13716">
            <a:solidFill>
              <a:srgbClr val="1E293B"/>
            </a:solidFill>
          </a:ln>
        </p:spPr>
        <p:txBody>
          <a:bodyPr/>
          <a:lstStyle/>
          <a:p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3-Line Fluent Gradient Fill</a:t>
            </a:r>
          </a:p>
          <a:p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slide.addShape('roundRect', {</a:t>
            </a:r>
          </a:p>
          <a:p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  fill: { type: 'linear', angle: degrees(135), stops: ['#0284C7', '#6366F1'] }</a:t>
            </a:r>
          </a:p>
          <a:p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17" name="Text Box 16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sp>
        <p:nvSpPr>
          <p:cNvPr id="10" name="roundRect 9">
            <a:hlinkClick r:id="rId3" tooltip="Return to Hyperlinks Hub (Slide 14)" action="ppaction://hlinksldjump"/>
          </p:cNvPr>
          <p:cNvSpPr/>
          <p:nvPr/>
        </p:nvSpPr>
        <p:spPr>
          <a:xfrm>
            <a:off x="9144000" y="731520"/>
            <a:ext cx="219456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37160" dist="27432" dir="5400000">
              <a:srgbClr val="0284C7">
                <a:alpha val="30000"/>
              </a:srgbClr>
            </a:outerShdw>
          </a:effectLst>
        </p:spPr>
        <p:txBody>
          <a:bodyPr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11" name="Text Box 10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16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2026-09-11T12:43:02.496Z</dcterms:created>
  <dcterms:modified xsi:type="dcterms:W3CDTF">2026-09-11T12:43:02.496Z</dcterms:modified>
</cp:coreProperties>
</file>